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航站楼护卫项目汇报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航站楼护卫项目汇报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航站楼护卫项目汇报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航站楼护卫项目汇报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航站楼护卫项目汇报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航站楼护卫项目汇报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航站楼护卫项目汇报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航站楼护卫项目汇报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航站楼护卫项目汇报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航站楼护卫项目汇报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航站楼护卫项目汇报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航站楼护卫项目汇报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2370" y="658368"/>
            <a:ext cx="54865" cy="5138928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2370" y="658368"/>
            <a:ext cx="1405925" cy="109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69661" y="658368"/>
            <a:ext cx="1303052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B6472"/>
                </a:solidFill>
                <a:latin typeface="Aptos Mono"/>
              </a:rPr>
              <a:t>01 /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70" y="6199632"/>
            <a:ext cx="8024060" cy="109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70" y="822960"/>
            <a:ext cx="4252066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5B9BD5"/>
                </a:solidFill>
                <a:latin typeface="Aptos Mono"/>
              </a:rPr>
              <a:t>专项工作汇报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1353312"/>
            <a:ext cx="4423520" cy="1600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4000" b="1">
                <a:solidFill>
                  <a:srgbClr val="263238"/>
                </a:solidFill>
                <a:latin typeface="Aptos"/>
              </a:rPr>
              <a:t>航站楼护卫岗位外包项目汇报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944" y="3182112"/>
            <a:ext cx="4183484" cy="7315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5B6472"/>
                </a:solidFill>
                <a:latin typeface="Aptos"/>
              </a:rPr>
              <a:t>面向管理层的方案审议材料</a:t>
            </a:r>
          </a:p>
        </p:txBody>
      </p:sp>
      <p:sp>
        <p:nvSpPr>
          <p:cNvPr id="9" name="Rectangle 8"/>
          <p:cNvSpPr/>
          <p:nvPr/>
        </p:nvSpPr>
        <p:spPr>
          <a:xfrm>
            <a:off x="582944" y="5175504"/>
            <a:ext cx="960144" cy="4572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944" y="5321808"/>
            <a:ext cx="3154758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0479D"/>
                </a:solidFill>
                <a:latin typeface="Aptos Mono"/>
              </a:rPr>
              <a:t>内部资料 / INTERNAL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9802" y="960120"/>
            <a:ext cx="82298" cy="4160520"/>
          </a:xfrm>
          <a:prstGeom prst="rect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45" y="1097280"/>
            <a:ext cx="2194614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D7E8FB"/>
                </a:solidFill>
                <a:latin typeface="Aptos Mono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413" y="1874519"/>
            <a:ext cx="7063916" cy="1051559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背景与范围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45" y="3337560"/>
            <a:ext cx="5966609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D7E8FB"/>
                </a:solidFill>
                <a:latin typeface="Aptos"/>
              </a:rPr>
              <a:t>从岗位边界、运行压力和配置原则建立共同判断。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2370" y="411480"/>
            <a:ext cx="754398" cy="4572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57917" y="411480"/>
            <a:ext cx="288043" cy="45720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69195" y="347472"/>
            <a:ext cx="493788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1E4E79"/>
                </a:solidFill>
                <a:latin typeface="Aptos Mono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70" y="6199632"/>
            <a:ext cx="8024060" cy="10972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70" y="6309360"/>
            <a:ext cx="2880432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70" y="530351"/>
            <a:ext cx="3017595" cy="219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E4E79"/>
                </a:solidFill>
                <a:latin typeface="Aptos Mono"/>
              </a:rPr>
              <a:t>核心判断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70" y="804672"/>
            <a:ext cx="7475406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岗位配置必须随风险与客流动态调整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802" y="1444752"/>
            <a:ext cx="7543988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先统一判断，再进入方案细节。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35" y="2148840"/>
            <a:ext cx="68581" cy="224028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5853" y="2148840"/>
            <a:ext cx="6103772" cy="1325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263238"/>
                </a:solidFill>
                <a:latin typeface="Aptos"/>
              </a:rPr>
              <a:t>统一岗位口径、交接标准和复盘机制，是外包服务稳定运行的前提。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27" y="3886200"/>
            <a:ext cx="6378099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5B6472"/>
                </a:solidFill>
                <a:latin typeface="Aptos"/>
              </a:rPr>
              <a:t>职责边界可核验 · 高峰调度有依据 · 异常处置可追溯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70" y="5596128"/>
            <a:ext cx="41149" cy="420624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33" y="5605272"/>
            <a:ext cx="7475406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先统一判断，再进入方案细节。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2370" y="411480"/>
            <a:ext cx="754398" cy="45720"/>
          </a:xfrm>
          <a:prstGeom prst="rect">
            <a:avLst/>
          </a:prstGeom>
          <a:solidFill>
            <a:srgbClr val="135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57917" y="411480"/>
            <a:ext cx="288043" cy="45720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69195" y="347472"/>
            <a:ext cx="493788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135A86"/>
                </a:solidFill>
                <a:latin typeface="Aptos Mono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70" y="6199632"/>
            <a:ext cx="8024060" cy="10972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70" y="6309360"/>
            <a:ext cx="2880432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70" y="530351"/>
            <a:ext cx="3017595" cy="219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35A86"/>
                </a:solidFill>
                <a:latin typeface="Aptos Mono"/>
              </a:rPr>
              <a:t>配置原则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70" y="804672"/>
            <a:ext cx="7475406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四项原则共同约束岗位方案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802" y="1444752"/>
            <a:ext cx="7543988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方案不是简单增加人数，而是建立运行机制。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802" y="2240280"/>
            <a:ext cx="1841419" cy="2651760"/>
          </a:xfrm>
          <a:prstGeom prst="rect">
            <a:avLst/>
          </a:prstGeom>
          <a:solidFill>
            <a:srgbClr val="135A86"/>
          </a:solidFill>
          <a:ln w="10160">
            <a:solidFill>
              <a:srgbClr val="135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98" y="2468880"/>
            <a:ext cx="1512226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84B4D1"/>
                </a:solidFill>
                <a:latin typeface="Apto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98" y="2907792"/>
            <a:ext cx="1512226" cy="1325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按区域风险分层配置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82101" y="2240280"/>
            <a:ext cx="1841419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84B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82101" y="2240280"/>
            <a:ext cx="1841419" cy="73152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6697" y="2468880"/>
            <a:ext cx="1512226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35A86"/>
                </a:solidFill>
                <a:latin typeface="Aptos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6697" y="2907792"/>
            <a:ext cx="1512226" cy="1325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263238"/>
                </a:solidFill>
                <a:latin typeface="Aptos"/>
              </a:rPr>
              <a:t>按客流峰谷动态调度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4400" y="2240280"/>
            <a:ext cx="1841419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84B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4400" y="2240280"/>
            <a:ext cx="1841419" cy="73152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996" y="2468880"/>
            <a:ext cx="1512226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35A86"/>
                </a:solidFill>
                <a:latin typeface="Apto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8996" y="2907792"/>
            <a:ext cx="1512226" cy="1325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263238"/>
                </a:solidFill>
                <a:latin typeface="Aptos"/>
              </a:rPr>
              <a:t>按统一标准完成交接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66699" y="2240280"/>
            <a:ext cx="1841419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84B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66699" y="2240280"/>
            <a:ext cx="1841419" cy="73152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1295" y="2468880"/>
            <a:ext cx="1512226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35A86"/>
                </a:solidFill>
                <a:latin typeface="Aptos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1295" y="2907792"/>
            <a:ext cx="1512226" cy="1325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263238"/>
                </a:solidFill>
                <a:latin typeface="Aptos"/>
              </a:rPr>
              <a:t>按月复盘异常记录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2370" y="5596128"/>
            <a:ext cx="41149" cy="420624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33" y="5605272"/>
            <a:ext cx="7475406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方案不是简单增加人数，而是建立运行机制。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7881" y="54864"/>
            <a:ext cx="507504" cy="676656"/>
          </a:xfrm>
          <a:prstGeom prst="ellipse">
            <a:avLst/>
          </a:prstGeom>
          <a:solidFill>
            <a:srgbClr val="00479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7881" y="173736"/>
            <a:ext cx="507504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Mono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010344" y="164592"/>
            <a:ext cx="233177" cy="14630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98387" y="164592"/>
            <a:ext cx="342908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2370" y="6199632"/>
            <a:ext cx="8024060" cy="109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70" y="6309360"/>
            <a:ext cx="2880432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8259" y="146304"/>
            <a:ext cx="2537523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D7E8FB"/>
                </a:solidFill>
                <a:latin typeface="Aptos Mono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8259" y="347472"/>
            <a:ext cx="5589409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交接检查覆盖率需要形成硬约束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19" y="1024128"/>
            <a:ext cx="7681152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指标用于约束执行，不用于装饰页面。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2944" y="2212848"/>
            <a:ext cx="2228905" cy="2423160"/>
          </a:xfrm>
          <a:prstGeom prst="roundRect">
            <a:avLst/>
          </a:prstGeom>
          <a:solidFill>
            <a:srgbClr val="00479D"/>
          </a:solidFill>
          <a:ln w="1016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64" y="2514600"/>
            <a:ext cx="1748833" cy="8686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"/>
              </a:rPr>
              <a:t>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689" y="3547872"/>
            <a:ext cx="1783124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目标覆盖率</a:t>
            </a:r>
          </a:p>
        </p:txBody>
      </p:sp>
      <p:sp>
        <p:nvSpPr>
          <p:cNvPr id="15" name="Oval 14"/>
          <p:cNvSpPr/>
          <p:nvPr/>
        </p:nvSpPr>
        <p:spPr>
          <a:xfrm>
            <a:off x="3237056" y="2423160"/>
            <a:ext cx="116588" cy="15544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7667" y="2331720"/>
            <a:ext cx="4663556" cy="4754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263238"/>
                </a:solidFill>
                <a:latin typeface="Aptos"/>
              </a:rPr>
              <a:t>纳入班前确认</a:t>
            </a:r>
          </a:p>
        </p:txBody>
      </p:sp>
      <p:sp>
        <p:nvSpPr>
          <p:cNvPr id="17" name="Oval 16"/>
          <p:cNvSpPr/>
          <p:nvPr/>
        </p:nvSpPr>
        <p:spPr>
          <a:xfrm>
            <a:off x="3237056" y="3264408"/>
            <a:ext cx="116588" cy="15544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7667" y="3172968"/>
            <a:ext cx="4663556" cy="4754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263238"/>
                </a:solidFill>
                <a:latin typeface="Aptos"/>
              </a:rPr>
              <a:t>异常记录统一归档</a:t>
            </a:r>
          </a:p>
        </p:txBody>
      </p:sp>
      <p:sp>
        <p:nvSpPr>
          <p:cNvPr id="19" name="Oval 18"/>
          <p:cNvSpPr/>
          <p:nvPr/>
        </p:nvSpPr>
        <p:spPr>
          <a:xfrm>
            <a:off x="3237056" y="4105655"/>
            <a:ext cx="116588" cy="15544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7667" y="4014215"/>
            <a:ext cx="4663556" cy="4754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263238"/>
                </a:solidFill>
                <a:latin typeface="Aptos"/>
              </a:rPr>
              <a:t>月度抽查闭环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70" y="5596128"/>
            <a:ext cx="41149" cy="42062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33" y="5605272"/>
            <a:ext cx="7475406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指标用于约束执行，不用于装饰页面。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B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1023" y="54864"/>
            <a:ext cx="521221" cy="676656"/>
          </a:xfrm>
          <a:prstGeom prst="rect">
            <a:avLst/>
          </a:prstGeom>
          <a:solidFill>
            <a:srgbClr val="78A8C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1023" y="173736"/>
            <a:ext cx="521221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Mono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8010344" y="164592"/>
            <a:ext cx="192028" cy="146304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43522" y="164592"/>
            <a:ext cx="397773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2370" y="6199632"/>
            <a:ext cx="8024060" cy="10972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70" y="6309360"/>
            <a:ext cx="2880432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8259" y="146304"/>
            <a:ext cx="2537523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D7E8FB"/>
                </a:solidFill>
                <a:latin typeface="Aptos Mono"/>
              </a:rPr>
              <a:t>岗位测算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8259" y="347472"/>
            <a:ext cx="5589409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不同区域的岗位需求存在明显差异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19" y="1024128"/>
            <a:ext cx="7681152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类别比较使用柱状图，数据保持同一口径。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64" y="5386044"/>
            <a:ext cx="7262803" cy="10972"/>
          </a:xfrm>
          <a:prstGeom prst="rect">
            <a:avLst/>
          </a:prstGeom>
          <a:solidFill>
            <a:srgbClr val="5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64" y="5397017"/>
            <a:ext cx="7262803" cy="7315"/>
          </a:xfrm>
          <a:prstGeom prst="rect">
            <a:avLst/>
          </a:prstGeom>
          <a:solidFill>
            <a:srgbClr val="5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64" y="4362373"/>
            <a:ext cx="7262803" cy="7315"/>
          </a:xfrm>
          <a:prstGeom prst="rect">
            <a:avLst/>
          </a:prstGeom>
          <a:solidFill>
            <a:srgbClr val="5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64" y="3327730"/>
            <a:ext cx="7262803" cy="7315"/>
          </a:xfrm>
          <a:prstGeom prst="rect">
            <a:avLst/>
          </a:prstGeom>
          <a:solidFill>
            <a:srgbClr val="5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64" y="2293086"/>
            <a:ext cx="7262803" cy="7315"/>
          </a:xfrm>
          <a:prstGeom prst="rect">
            <a:avLst/>
          </a:prstGeom>
          <a:solidFill>
            <a:srgbClr val="5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866794" y="2293086"/>
            <a:ext cx="493788" cy="2719882"/>
          </a:xfrm>
          <a:prstGeom prst="roundRect">
            <a:avLst/>
          </a:prstGeom>
          <a:solidFill>
            <a:srgbClr val="0B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15914" y="2293086"/>
            <a:ext cx="795547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63238"/>
                </a:solidFill>
                <a:latin typeface="Aptos Mono"/>
              </a:rPr>
              <a:t>120人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8751" y="5012969"/>
            <a:ext cx="1069874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5B6472"/>
                </a:solidFill>
                <a:latin typeface="Aptos"/>
              </a:rPr>
              <a:t>航站楼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8112" y="3018388"/>
            <a:ext cx="493788" cy="1994580"/>
          </a:xfrm>
          <a:prstGeom prst="round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67232" y="2789788"/>
            <a:ext cx="795547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63238"/>
                </a:solidFill>
                <a:latin typeface="Aptos Mono"/>
              </a:rPr>
              <a:t>88人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0069" y="5012969"/>
            <a:ext cx="1069874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5B6472"/>
                </a:solidFill>
                <a:latin typeface="Aptos"/>
              </a:rPr>
              <a:t>交通中心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69431" y="3562365"/>
            <a:ext cx="493788" cy="1450604"/>
          </a:xfrm>
          <a:prstGeom prst="roundRect">
            <a:avLst/>
          </a:prstGeom>
          <a:solidFill>
            <a:srgbClr val="0B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8551" y="3333765"/>
            <a:ext cx="795547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63238"/>
                </a:solidFill>
                <a:latin typeface="Aptos Mono"/>
              </a:rPr>
              <a:t>64人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387" y="5012969"/>
            <a:ext cx="1069874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5B6472"/>
                </a:solidFill>
                <a:latin typeface="Aptos"/>
              </a:rPr>
              <a:t>外围区域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20749" y="4061010"/>
            <a:ext cx="493788" cy="951958"/>
          </a:xfrm>
          <a:prstGeom prst="round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9869" y="3832410"/>
            <a:ext cx="795547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63238"/>
                </a:solidFill>
                <a:latin typeface="Aptos Mono"/>
              </a:rPr>
              <a:t>42人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2706" y="5012969"/>
            <a:ext cx="1069874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5B6472"/>
                </a:solidFill>
                <a:latin typeface="Aptos"/>
              </a:rPr>
              <a:t>机坪通道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370" y="5596128"/>
            <a:ext cx="41149" cy="420624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33" y="5605272"/>
            <a:ext cx="7475406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类别比较使用柱状图，数据保持同一口径。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2370" y="411480"/>
            <a:ext cx="754398" cy="4572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57917" y="411480"/>
            <a:ext cx="288043" cy="45720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69195" y="347472"/>
            <a:ext cx="493788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1E4E79"/>
                </a:solidFill>
                <a:latin typeface="Aptos Mono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70" y="6199632"/>
            <a:ext cx="8024060" cy="10972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70" y="6309360"/>
            <a:ext cx="2880432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70" y="530351"/>
            <a:ext cx="3017595" cy="219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E4E79"/>
                </a:solidFill>
                <a:latin typeface="Aptos Mono"/>
              </a:rPr>
              <a:t>方案对比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70" y="804672"/>
            <a:ext cx="7475406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从经验调度转向规则化配置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802" y="1444752"/>
            <a:ext cx="7543988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变化重点是机制，而不是增加视觉包装。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802" y="2240280"/>
            <a:ext cx="3737703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802" y="2240280"/>
            <a:ext cx="54865" cy="288036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80" y="2532888"/>
            <a:ext cx="3223340" cy="40233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263238"/>
                </a:solidFill>
                <a:latin typeface="Aptos"/>
              </a:rPr>
              <a:t>现状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96" y="3264408"/>
            <a:ext cx="82298" cy="109728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42" y="3127248"/>
            <a:ext cx="3017595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岗位边界不够清晰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96" y="3703320"/>
            <a:ext cx="82298" cy="109728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42" y="3566160"/>
            <a:ext cx="3017595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高峰期依赖个人经验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96" y="4142232"/>
            <a:ext cx="82298" cy="109728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42" y="4005072"/>
            <a:ext cx="3017595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记录分散难以追溯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77272" y="2240280"/>
            <a:ext cx="3737703" cy="2880360"/>
          </a:xfrm>
          <a:prstGeom prst="rect">
            <a:avLst/>
          </a:prstGeom>
          <a:solidFill>
            <a:srgbClr val="EAF3FA"/>
          </a:solidFill>
          <a:ln w="10160">
            <a:solidFill>
              <a:srgbClr val="6C9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77272" y="2240280"/>
            <a:ext cx="54865" cy="2880360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450" y="2532888"/>
            <a:ext cx="3223340" cy="40233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263238"/>
                </a:solidFill>
                <a:latin typeface="Aptos"/>
              </a:rPr>
              <a:t>目标方案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24167" y="3264408"/>
            <a:ext cx="82298" cy="109728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9912" y="3127248"/>
            <a:ext cx="3017595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按区域风险分层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24167" y="3703320"/>
            <a:ext cx="82298" cy="109728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9912" y="3566160"/>
            <a:ext cx="3017595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建立统一交接检查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24167" y="4142232"/>
            <a:ext cx="82298" cy="109728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9912" y="4005072"/>
            <a:ext cx="3017595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月度指标复盘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2370" y="5596128"/>
            <a:ext cx="41149" cy="420624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33" y="5605272"/>
            <a:ext cx="7475406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变化重点是机制，而不是增加视觉包装。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2370" y="411480"/>
            <a:ext cx="754398" cy="45720"/>
          </a:xfrm>
          <a:prstGeom prst="rect">
            <a:avLst/>
          </a:prstGeom>
          <a:solidFill>
            <a:srgbClr val="135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57917" y="411480"/>
            <a:ext cx="288043" cy="45720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69195" y="347472"/>
            <a:ext cx="493788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135A86"/>
                </a:solidFill>
                <a:latin typeface="Aptos Mono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70" y="6199632"/>
            <a:ext cx="8024060" cy="10972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70" y="6309360"/>
            <a:ext cx="2880432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70" y="530351"/>
            <a:ext cx="3017595" cy="219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35A86"/>
                </a:solidFill>
                <a:latin typeface="Aptos Mono"/>
              </a:rPr>
              <a:t>实施路径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70" y="804672"/>
            <a:ext cx="7475406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项目按三个阶段稳步切换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802" y="1444752"/>
            <a:ext cx="7543988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每一阶段都设置明确交付物。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98" y="3172968"/>
            <a:ext cx="7372534" cy="54864"/>
          </a:xfrm>
          <a:prstGeom prst="rect">
            <a:avLst/>
          </a:prstGeom>
          <a:solidFill>
            <a:srgbClr val="5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51" y="2916936"/>
            <a:ext cx="411490" cy="548640"/>
          </a:xfrm>
          <a:prstGeom prst="ellipse">
            <a:avLst/>
          </a:prstGeom>
          <a:solidFill>
            <a:srgbClr val="135A86"/>
          </a:solidFill>
          <a:ln w="10160">
            <a:solidFill>
              <a:srgbClr val="135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51" y="2999232"/>
            <a:ext cx="41149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Mon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915" y="3730752"/>
            <a:ext cx="891562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启动准备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588" y="4160520"/>
            <a:ext cx="1440216" cy="5943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岗位确认与人员到位</a:t>
            </a:r>
          </a:p>
        </p:txBody>
      </p:sp>
      <p:sp>
        <p:nvSpPr>
          <p:cNvPr id="15" name="Oval 14"/>
          <p:cNvSpPr/>
          <p:nvPr/>
        </p:nvSpPr>
        <p:spPr>
          <a:xfrm>
            <a:off x="4385800" y="2916936"/>
            <a:ext cx="411490" cy="548640"/>
          </a:xfrm>
          <a:prstGeom prst="ellipse">
            <a:avLst/>
          </a:prstGeom>
          <a:solidFill>
            <a:srgbClr val="F3F7FB"/>
          </a:solidFill>
          <a:ln w="10160">
            <a:solidFill>
              <a:srgbClr val="135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5800" y="2999232"/>
            <a:ext cx="41149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5764" y="3730752"/>
            <a:ext cx="891562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运行交接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1437" y="4160520"/>
            <a:ext cx="1440216" cy="5943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培训、演练与并轨</a:t>
            </a:r>
          </a:p>
        </p:txBody>
      </p:sp>
      <p:sp>
        <p:nvSpPr>
          <p:cNvPr id="19" name="Oval 18"/>
          <p:cNvSpPr/>
          <p:nvPr/>
        </p:nvSpPr>
        <p:spPr>
          <a:xfrm>
            <a:off x="8140649" y="2916936"/>
            <a:ext cx="411490" cy="548640"/>
          </a:xfrm>
          <a:prstGeom prst="ellipse">
            <a:avLst/>
          </a:prstGeom>
          <a:solidFill>
            <a:srgbClr val="F3F7FB"/>
          </a:solidFill>
          <a:ln w="10160">
            <a:solidFill>
              <a:srgbClr val="135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0649" y="2999232"/>
            <a:ext cx="41149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 Mon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0613" y="3730752"/>
            <a:ext cx="891562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稳定运营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286" y="4160520"/>
            <a:ext cx="1440216" cy="5943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月度复盘与持续优化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70" y="5596128"/>
            <a:ext cx="41149" cy="420624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33" y="5605272"/>
            <a:ext cx="7475406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每一阶段都设置明确交付物。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2370" y="411480"/>
            <a:ext cx="754398" cy="4572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57917" y="411480"/>
            <a:ext cx="288043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69195" y="347472"/>
            <a:ext cx="493788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00479D"/>
                </a:solidFill>
                <a:latin typeface="Aptos Mono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70" y="6199632"/>
            <a:ext cx="8024060" cy="109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70" y="6309360"/>
            <a:ext cx="2880432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70" y="530351"/>
            <a:ext cx="3017595" cy="219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00479D"/>
                </a:solidFill>
                <a:latin typeface="Aptos Mono"/>
              </a:rPr>
              <a:t>责任闭环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70" y="804672"/>
            <a:ext cx="7475406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服务质量由四类证据共同支撑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802" y="1444752"/>
            <a:ext cx="7543988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证据链完整，管理责任才能真正落地。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35" y="2048256"/>
            <a:ext cx="7612570" cy="6217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5B6472"/>
                </a:solidFill>
                <a:latin typeface="Aptos"/>
              </a:rPr>
              <a:t>所有记录采用统一口径并进入月度复盘。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35" y="2816352"/>
            <a:ext cx="7646861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35" y="2816352"/>
            <a:ext cx="54865" cy="621792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47" y="2926080"/>
            <a:ext cx="397773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0479D"/>
                </a:solidFill>
                <a:latin typeface="Aptos Mon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5619" y="2871216"/>
            <a:ext cx="6734724" cy="53035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263238"/>
                </a:solidFill>
                <a:latin typeface="Aptos"/>
              </a:rPr>
              <a:t>巡查记录按班次归档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35" y="3529584"/>
            <a:ext cx="7646861" cy="621792"/>
          </a:xfrm>
          <a:prstGeom prst="rect">
            <a:avLst/>
          </a:prstGeom>
          <a:solidFill>
            <a:srgbClr val="F2F7FB"/>
          </a:solidFill>
          <a:ln w="10160">
            <a:solidFill>
              <a:srgbClr val="D7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35" y="3529584"/>
            <a:ext cx="54865" cy="6217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47" y="3639312"/>
            <a:ext cx="397773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0479D"/>
                </a:solidFill>
                <a:latin typeface="Aptos Mon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5619" y="3584448"/>
            <a:ext cx="6734724" cy="53035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263238"/>
                </a:solidFill>
                <a:latin typeface="Aptos"/>
              </a:rPr>
              <a:t>交接事项逐项确认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35" y="4242816"/>
            <a:ext cx="7646861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35" y="4242816"/>
            <a:ext cx="54865" cy="6217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47" y="4352544"/>
            <a:ext cx="397773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0479D"/>
                </a:solidFill>
                <a:latin typeface="Aptos Mon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5619" y="4297680"/>
            <a:ext cx="6734724" cy="53035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263238"/>
                </a:solidFill>
                <a:latin typeface="Aptos"/>
              </a:rPr>
              <a:t>异常处置保留证据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35" y="4956048"/>
            <a:ext cx="7646861" cy="621792"/>
          </a:xfrm>
          <a:prstGeom prst="rect">
            <a:avLst/>
          </a:prstGeom>
          <a:solidFill>
            <a:srgbClr val="F2F7FB"/>
          </a:solidFill>
          <a:ln w="10160">
            <a:solidFill>
              <a:srgbClr val="D7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35" y="4956048"/>
            <a:ext cx="54865" cy="6217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47" y="5065776"/>
            <a:ext cx="397773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0479D"/>
                </a:solidFill>
                <a:latin typeface="Aptos Mono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5619" y="5010912"/>
            <a:ext cx="6734724" cy="53035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263238"/>
                </a:solidFill>
                <a:latin typeface="Aptos"/>
              </a:rPr>
              <a:t>整改结果闭环复核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70" y="5596128"/>
            <a:ext cx="41149" cy="42062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33" y="5605272"/>
            <a:ext cx="7475406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证据链完整，管理责任才能真正落地。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2370" y="411480"/>
            <a:ext cx="754398" cy="45720"/>
          </a:xfrm>
          <a:prstGeom prst="rect">
            <a:avLst/>
          </a:prstGeom>
          <a:solidFill>
            <a:srgbClr val="0B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57917" y="411480"/>
            <a:ext cx="288043" cy="45720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69195" y="347472"/>
            <a:ext cx="493788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0B5A9A"/>
                </a:solidFill>
                <a:latin typeface="Aptos Mono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70" y="6199632"/>
            <a:ext cx="8024060" cy="10972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70" y="6309360"/>
            <a:ext cx="2880432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70" y="530351"/>
            <a:ext cx="3017595" cy="219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0B5A9A"/>
                </a:solidFill>
                <a:latin typeface="Aptos Mono"/>
              </a:rPr>
              <a:t>管理建议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70" y="804672"/>
            <a:ext cx="7475406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先抓关键动作，再逐步扩大覆盖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802" y="1444752"/>
            <a:ext cx="7543988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左侧给结论，右侧保留执行证据。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19" y="2084831"/>
            <a:ext cx="2434650" cy="2999232"/>
          </a:xfrm>
          <a:prstGeom prst="rect">
            <a:avLst/>
          </a:prstGeom>
          <a:solidFill>
            <a:srgbClr val="0B5A9A"/>
          </a:solidFill>
          <a:ln w="10160">
            <a:solidFill>
              <a:srgbClr val="0B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64" y="2359152"/>
            <a:ext cx="1961437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核心判断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47" y="2999232"/>
            <a:ext cx="2002586" cy="16276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优先固化岗位边界、交接检查和异常记录三项机制。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220" y="2267712"/>
            <a:ext cx="425206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5A9A"/>
                </a:solidFill>
                <a:latin typeface="Aptos Mono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4292" y="2267712"/>
            <a:ext cx="27432" cy="402336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46321" y="2194560"/>
            <a:ext cx="4060037" cy="530351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明确职责清单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220" y="2980944"/>
            <a:ext cx="425206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5A9A"/>
                </a:solidFill>
                <a:latin typeface="Aptos Mono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54292" y="2980944"/>
            <a:ext cx="27432" cy="402336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6321" y="2907791"/>
            <a:ext cx="4060037" cy="530351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统一培训考核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220" y="3694176"/>
            <a:ext cx="425206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5A9A"/>
                </a:solidFill>
                <a:latin typeface="Aptos Mono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4292" y="3694176"/>
            <a:ext cx="27432" cy="402336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46321" y="3621024"/>
            <a:ext cx="4060037" cy="530351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建立月度评价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220" y="4407408"/>
            <a:ext cx="425206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5A9A"/>
                </a:solidFill>
                <a:latin typeface="Aptos Mono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54292" y="4407408"/>
            <a:ext cx="27432" cy="402336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46321" y="4334256"/>
            <a:ext cx="4060037" cy="530351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保留审计轨迹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2370" y="5596128"/>
            <a:ext cx="41149" cy="420624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33" y="5605272"/>
            <a:ext cx="7475406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左侧给结论，右侧保留执行证据。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2370" y="411480"/>
            <a:ext cx="754398" cy="4572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57917" y="411480"/>
            <a:ext cx="288043" cy="45720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69195" y="347472"/>
            <a:ext cx="493788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1E4E79"/>
                </a:solidFill>
                <a:latin typeface="Aptos Mono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70" y="6199632"/>
            <a:ext cx="8024060" cy="10972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70" y="6309360"/>
            <a:ext cx="2880432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70" y="530351"/>
            <a:ext cx="3017595" cy="219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E4E79"/>
                </a:solidFill>
                <a:latin typeface="Aptos Mono"/>
              </a:rPr>
              <a:t>请示事项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70" y="804672"/>
            <a:ext cx="7475406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需要管理层确认三项实施边界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802" y="1444752"/>
            <a:ext cx="7543988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决策事项应清晰、具体、可执行。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19" y="2176272"/>
            <a:ext cx="68581" cy="1572768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62" y="2103119"/>
            <a:ext cx="7166789" cy="16642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263238"/>
                </a:solidFill>
                <a:latin typeface="Aptos"/>
              </a:rPr>
              <a:t>明确服务范围、成本控制线与跨部门协同机制。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19" y="4160520"/>
            <a:ext cx="2379785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82" y="4315968"/>
            <a:ext cx="356624" cy="219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E4E79"/>
                </a:solidFill>
                <a:latin typeface="Aptos Mon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5889" y="4242815"/>
            <a:ext cx="1693968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263238"/>
                </a:solidFill>
                <a:latin typeface="Aptos"/>
              </a:rPr>
              <a:t>确认岗位范围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6751" y="4160520"/>
            <a:ext cx="2379785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3915" y="4315968"/>
            <a:ext cx="356624" cy="219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E4E79"/>
                </a:solidFill>
                <a:latin typeface="Aptos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9121" y="4242815"/>
            <a:ext cx="1693968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263238"/>
                </a:solidFill>
                <a:latin typeface="Aptos"/>
              </a:rPr>
              <a:t>审议成本上限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09984" y="4160520"/>
            <a:ext cx="2379785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7147" y="4315968"/>
            <a:ext cx="356624" cy="219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E4E79"/>
                </a:solidFill>
                <a:latin typeface="Apto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354" y="4242815"/>
            <a:ext cx="1693968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263238"/>
                </a:solidFill>
                <a:latin typeface="Aptos"/>
              </a:rPr>
              <a:t>明确牵头部门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70" y="5596128"/>
            <a:ext cx="41149" cy="420624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33" y="5605272"/>
            <a:ext cx="7475406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决策事项应清晰、具体、可执行。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2370" y="658368"/>
            <a:ext cx="54865" cy="5138928"/>
          </a:xfrm>
          <a:prstGeom prst="rect">
            <a:avLst/>
          </a:prstGeom>
          <a:solidFill>
            <a:srgbClr val="0B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2370" y="658368"/>
            <a:ext cx="1405925" cy="10972"/>
          </a:xfrm>
          <a:prstGeom prst="rect">
            <a:avLst/>
          </a:prstGeom>
          <a:solidFill>
            <a:srgbClr val="7AA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69661" y="658368"/>
            <a:ext cx="1303052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B6472"/>
                </a:solidFill>
                <a:latin typeface="Aptos Mono"/>
              </a:rPr>
              <a:t>12 /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70" y="6199632"/>
            <a:ext cx="8024060" cy="10972"/>
          </a:xfrm>
          <a:prstGeom prst="rect">
            <a:avLst/>
          </a:prstGeom>
          <a:solidFill>
            <a:srgbClr val="7AA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70" y="914400"/>
            <a:ext cx="2057451" cy="31089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7AA8C5"/>
                </a:solidFill>
                <a:latin typeface="Aptos Mono"/>
              </a:rPr>
              <a:t>NEXT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1508760"/>
            <a:ext cx="6926753" cy="11430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263238"/>
                </a:solidFill>
                <a:latin typeface="Aptos"/>
              </a:rPr>
              <a:t>形成稳定、可追溯的护卫服务体系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944" y="3017520"/>
            <a:ext cx="6103772" cy="6858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100" b="0">
                <a:solidFill>
                  <a:srgbClr val="5B6472"/>
                </a:solidFill>
                <a:latin typeface="Aptos"/>
              </a:rPr>
              <a:t>审议通过后进入岗位确认与运行交接。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86" y="4572000"/>
            <a:ext cx="2263196" cy="594360"/>
          </a:xfrm>
          <a:prstGeom prst="roundRect">
            <a:avLst/>
          </a:prstGeom>
          <a:solidFill>
            <a:srgbClr val="0B5A9A"/>
          </a:solidFill>
          <a:ln w="10160">
            <a:solidFill>
              <a:srgbClr val="0B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108" y="4718304"/>
            <a:ext cx="1988869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下一步 / NEXT STEP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