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AIWeb user brief: 汇报材料</a:t>
            </a:r>
          </a:p>
          <a:p>
            <a:r>
              <a:t>Uploaded references are user-provided materials.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822960"/>
            <a:ext cx="5669279" cy="274320"/>
          </a:xfrm>
          <a:prstGeom prst="rect">
            <a:avLst/>
          </a:prstGeom>
          <a:noFill/>
        </p:spPr>
        <p:txBody>
          <a:bodyPr wrap="square" lIns="36575" rIns="36575" tIns="18288" bIns="18288" anchor="ctr">
            <a:spAutoFit/>
          </a:bodyPr>
          <a:lstStyle/>
          <a:p>
            <a:pPr algn="l"/>
            <a:r>
              <a:rPr sz="1200" b="1">
                <a:solidFill>
                  <a:srgbClr val="D89A3D"/>
                </a:solidFill>
                <a:latin typeface="Aptos Mono"/>
              </a:rPr>
              <a:t>2026年度CAPSE民航质量提升实践大赛</a:t>
            </a:r>
          </a:p>
        </p:txBody>
      </p:sp>
      <p:sp>
        <p:nvSpPr>
          <p:cNvPr id="6" name="TextBox 5"/>
          <p:cNvSpPr txBox="1"/>
          <p:nvPr/>
        </p:nvSpPr>
        <p:spPr>
          <a:xfrm>
            <a:off x="731519" y="1353312"/>
            <a:ext cx="5897879" cy="1600200"/>
          </a:xfrm>
          <a:prstGeom prst="rect">
            <a:avLst/>
          </a:prstGeom>
          <a:noFill/>
        </p:spPr>
        <p:txBody>
          <a:bodyPr wrap="square" lIns="36575" rIns="36575" tIns="18288" bIns="18288" anchor="ctr">
            <a:spAutoFit/>
          </a:bodyPr>
          <a:lstStyle/>
          <a:p>
            <a:pPr algn="l"/>
            <a:r>
              <a:rPr sz="4000" b="1">
                <a:solidFill>
                  <a:srgbClr val="1E1E1E"/>
                </a:solidFill>
                <a:latin typeface="Aptos"/>
              </a:rPr>
              <a:t>缩短高峰时段道口单车进场保障平均时间</a:t>
            </a:r>
          </a:p>
        </p:txBody>
      </p:sp>
      <p:sp>
        <p:nvSpPr>
          <p:cNvPr id="7" name="TextBox 6"/>
          <p:cNvSpPr txBox="1"/>
          <p:nvPr/>
        </p:nvSpPr>
        <p:spPr>
          <a:xfrm>
            <a:off x="777239" y="3182112"/>
            <a:ext cx="5577839" cy="731520"/>
          </a:xfrm>
          <a:prstGeom prst="rect">
            <a:avLst/>
          </a:prstGeom>
          <a:noFill/>
        </p:spPr>
        <p:txBody>
          <a:bodyPr wrap="square" lIns="36575" rIns="36575" tIns="18288" bIns="18288" anchor="ctr">
            <a:spAutoFit/>
          </a:bodyPr>
          <a:lstStyle/>
          <a:p>
            <a:pPr algn="l"/>
            <a:r>
              <a:rPr sz="1900" b="0">
                <a:solidFill>
                  <a:srgbClr val="6B6259"/>
                </a:solidFill>
                <a:latin typeface="Aptos"/>
              </a:rPr>
              <a:t>福州机场道口车辆检查流程质量提升实践</a:t>
            </a:r>
          </a:p>
        </p:txBody>
      </p:sp>
      <p:sp>
        <p:nvSpPr>
          <p:cNvPr id="8" name="Rectangle 7"/>
          <p:cNvSpPr/>
          <p:nvPr/>
        </p:nvSpPr>
        <p:spPr>
          <a:xfrm>
            <a:off x="777239" y="5175504"/>
            <a:ext cx="1280159" cy="4572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39" y="5321808"/>
            <a:ext cx="4206239" cy="256032"/>
          </a:xfrm>
          <a:prstGeom prst="rect">
            <a:avLst/>
          </a:prstGeom>
          <a:noFill/>
        </p:spPr>
        <p:txBody>
          <a:bodyPr wrap="square" lIns="36575" rIns="36575" tIns="18288" bIns="18288" anchor="ctr">
            <a:spAutoFit/>
          </a:bodyPr>
          <a:lstStyle/>
          <a:p>
            <a:pPr algn="l"/>
            <a:r>
              <a:rPr sz="1100" b="1">
                <a:solidFill>
                  <a:srgbClr val="B84A39"/>
                </a:solidFill>
                <a:latin typeface="Aptos Mono"/>
              </a:rPr>
              <a:t>EDITABLE / DOWNLOAD READY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02</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汇报结论</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项目已实现单车高峰通行时间显著缩短</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单车平均检查时长由5.53分钟降至3.82分钟，低于3.87分钟目标值。</a:t>
            </a:r>
          </a:p>
        </p:txBody>
      </p:sp>
      <p:sp>
        <p:nvSpPr>
          <p:cNvPr id="9" name="TextBox 8"/>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6B6259"/>
                </a:solidFill>
                <a:latin typeface="Georgia"/>
              </a:rPr>
              <a:t>项目围绕车辆检查这一主要症结开展改善，最终实现目标达成，并形成标准化、制度化的持续改进机制。</a:t>
            </a:r>
          </a:p>
        </p:txBody>
      </p:sp>
      <p:sp>
        <p:nvSpPr>
          <p:cNvPr id="10" name="Oval 9"/>
          <p:cNvSpPr/>
          <p:nvPr/>
        </p:nvSpPr>
        <p:spPr>
          <a:xfrm>
            <a:off x="877823" y="3182112"/>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改进前单车平均检查时长为5.53分钟</a:t>
            </a:r>
          </a:p>
        </p:txBody>
      </p:sp>
      <p:sp>
        <p:nvSpPr>
          <p:cNvPr id="12" name="Oval 11"/>
          <p:cNvSpPr/>
          <p:nvPr/>
        </p:nvSpPr>
        <p:spPr>
          <a:xfrm>
            <a:off x="877823" y="3749039"/>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目标值为3.87分钟</a:t>
            </a:r>
          </a:p>
        </p:txBody>
      </p:sp>
      <p:sp>
        <p:nvSpPr>
          <p:cNvPr id="14" name="Oval 13"/>
          <p:cNvSpPr/>
          <p:nvPr/>
        </p:nvSpPr>
        <p:spPr>
          <a:xfrm>
            <a:off x="877823" y="4315968"/>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改进后单车平均检查时长为3.82分钟</a:t>
            </a:r>
          </a:p>
        </p:txBody>
      </p:sp>
      <p:sp>
        <p:nvSpPr>
          <p:cNvPr id="16" name="Rounded Rectangle 15"/>
          <p:cNvSpPr/>
          <p:nvPr/>
        </p:nvSpPr>
        <p:spPr>
          <a:xfrm>
            <a:off x="7909559" y="2103119"/>
            <a:ext cx="3246119" cy="324612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1E1E1E"/>
                </a:solidFill>
                <a:latin typeface="Aptos Mono"/>
              </a:rPr>
              <a:t>汇报结论 3.82分钟/车</a:t>
            </a:r>
          </a:p>
        </p:txBody>
      </p:sp>
      <p:sp>
        <p:nvSpPr>
          <p:cNvPr id="18" name="TextBox 17"/>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6B6259"/>
                </a:solidFill>
                <a:latin typeface="Aptos"/>
              </a:rPr>
              <a:t>重点内容 可继续编辑</a:t>
            </a:r>
          </a:p>
        </p:txBody>
      </p:sp>
      <p:sp>
        <p:nvSpPr>
          <p:cNvPr id="19" name="Rectangle 18"/>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单车平均检查时长由5.53分钟降至3.82分钟，低于3.87分钟目标值。</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03</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核心成效</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单车平均检查时长缩短1.71分钟</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项目在不增加人力投入的前提下，实现了单车检查效率提升。</a:t>
            </a:r>
          </a:p>
        </p:txBody>
      </p:sp>
      <p:sp>
        <p:nvSpPr>
          <p:cNvPr id="9" name="Rounded Rectangle 8"/>
          <p:cNvSpPr/>
          <p:nvPr/>
        </p:nvSpPr>
        <p:spPr>
          <a:xfrm>
            <a:off x="777239" y="2212848"/>
            <a:ext cx="2971799" cy="242316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1" y="2514600"/>
            <a:ext cx="2331719" cy="868680"/>
          </a:xfrm>
          <a:prstGeom prst="rect">
            <a:avLst/>
          </a:prstGeom>
          <a:noFill/>
        </p:spPr>
        <p:txBody>
          <a:bodyPr wrap="square" lIns="36575" rIns="36575" tIns="18288" bIns="18288" anchor="ctr">
            <a:spAutoFit/>
          </a:bodyPr>
          <a:lstStyle/>
          <a:p>
            <a:pPr algn="ctr"/>
            <a:r>
              <a:rPr sz="4400" b="1">
                <a:solidFill>
                  <a:srgbClr val="FFFFFF"/>
                </a:solidFill>
                <a:latin typeface="Aptos"/>
              </a:rPr>
              <a:t>1.71分钟</a:t>
            </a:r>
          </a:p>
        </p:txBody>
      </p:sp>
      <p:sp>
        <p:nvSpPr>
          <p:cNvPr id="11" name="TextBox 10"/>
          <p:cNvSpPr txBox="1"/>
          <p:nvPr/>
        </p:nvSpPr>
        <p:spPr>
          <a:xfrm>
            <a:off x="1051559" y="3547872"/>
            <a:ext cx="2377439" cy="411480"/>
          </a:xfrm>
          <a:prstGeom prst="rect">
            <a:avLst/>
          </a:prstGeom>
          <a:noFill/>
        </p:spPr>
        <p:txBody>
          <a:bodyPr wrap="square" lIns="36575" rIns="36575" tIns="18288" bIns="18288" anchor="ctr">
            <a:spAutoFit/>
          </a:bodyPr>
          <a:lstStyle/>
          <a:p>
            <a:pPr algn="ctr"/>
            <a:r>
              <a:rPr sz="1400" b="0">
                <a:solidFill>
                  <a:srgbClr val="FFFFFF"/>
                </a:solidFill>
                <a:latin typeface="Aptos"/>
              </a:rPr>
              <a:t>改进前后单车平均检查时长差值</a:t>
            </a:r>
          </a:p>
        </p:txBody>
      </p:sp>
      <p:sp>
        <p:nvSpPr>
          <p:cNvPr id="12" name="Rectangle 11"/>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项目在不增加人力投入的前提下，实现了单车检查效率提升。</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04</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项目定位</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本项目聚焦后台保障流程效率提升</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项目属于流程类质量提升，直接服务于道口安全检查和机场运行效率。</a:t>
            </a:r>
          </a:p>
        </p:txBody>
      </p:sp>
      <p:sp>
        <p:nvSpPr>
          <p:cNvPr id="9" name="TextBox 8"/>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6B6259"/>
                </a:solidFill>
                <a:latin typeface="Georgia"/>
              </a:rPr>
              <a:t>福州机场道口承担各类保障车辆进入飞行控制区的安全检查职责，项目针对高峰时段车辆通行流程进行系统性优化。</a:t>
            </a:r>
          </a:p>
        </p:txBody>
      </p:sp>
      <p:sp>
        <p:nvSpPr>
          <p:cNvPr id="10" name="Oval 9"/>
          <p:cNvSpPr/>
          <p:nvPr/>
        </p:nvSpPr>
        <p:spPr>
          <a:xfrm>
            <a:off x="877823" y="3182112"/>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案例分类：D，流程类提升</a:t>
            </a:r>
          </a:p>
        </p:txBody>
      </p:sp>
      <p:sp>
        <p:nvSpPr>
          <p:cNvPr id="12" name="Oval 11"/>
          <p:cNvSpPr/>
          <p:nvPr/>
        </p:nvSpPr>
        <p:spPr>
          <a:xfrm>
            <a:off x="877823" y="3749039"/>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目标分类：A，自定目标案例实践</a:t>
            </a:r>
          </a:p>
        </p:txBody>
      </p:sp>
      <p:sp>
        <p:nvSpPr>
          <p:cNvPr id="14" name="Oval 13"/>
          <p:cNvSpPr/>
          <p:nvPr/>
        </p:nvSpPr>
        <p:spPr>
          <a:xfrm>
            <a:off x="877823" y="4315968"/>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改进对象：高峰时段道口单车进场保障平均时间</a:t>
            </a:r>
          </a:p>
        </p:txBody>
      </p:sp>
      <p:sp>
        <p:nvSpPr>
          <p:cNvPr id="16" name="Oval 15"/>
          <p:cNvSpPr/>
          <p:nvPr/>
        </p:nvSpPr>
        <p:spPr>
          <a:xfrm>
            <a:off x="877823" y="4882896"/>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2999" y="4773168"/>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改善方向：设备、流程、标准和保障机制协同优化</a:t>
            </a:r>
          </a:p>
        </p:txBody>
      </p:sp>
      <p:sp>
        <p:nvSpPr>
          <p:cNvPr id="18" name="Rounded Rectangle 17"/>
          <p:cNvSpPr/>
          <p:nvPr/>
        </p:nvSpPr>
        <p:spPr>
          <a:xfrm>
            <a:off x="7909559" y="2103119"/>
            <a:ext cx="3246119" cy="324612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1E1E1E"/>
                </a:solidFill>
                <a:latin typeface="Aptos Mono"/>
              </a:rPr>
              <a:t>项目定位 25%</a:t>
            </a:r>
          </a:p>
        </p:txBody>
      </p:sp>
      <p:sp>
        <p:nvSpPr>
          <p:cNvPr id="20" name="TextBox 19"/>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6B6259"/>
                </a:solidFill>
                <a:latin typeface="Aptos"/>
              </a:rPr>
              <a:t>重点内容 可继续编辑</a:t>
            </a:r>
          </a:p>
        </p:txBody>
      </p:sp>
      <p:sp>
        <p:nvSpPr>
          <p:cNvPr id="21" name="Rectangle 20"/>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项目属于流程类质量提升，直接服务于道口安全检查和机场运行效率。</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05</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背景判断</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业务量增长与二期建设使道口通行压力持续加大</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车辆集中到达与现有串行检查模式之间的矛盾日益突出。</a:t>
            </a:r>
          </a:p>
        </p:txBody>
      </p:sp>
      <p:sp>
        <p:nvSpPr>
          <p:cNvPr id="9" name="TextBox 8"/>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6B6259"/>
                </a:solidFill>
                <a:latin typeface="Georgia"/>
              </a:rPr>
              <a:t>随着机场业务量持续增长及二期建设即将完成，保障车辆和施工车辆在早晚交接班、高峰航班时段集中抵达，道口承载压力进一步增加。</a:t>
            </a:r>
          </a:p>
        </p:txBody>
      </p:sp>
      <p:sp>
        <p:nvSpPr>
          <p:cNvPr id="10" name="Oval 9"/>
          <p:cNvSpPr/>
          <p:nvPr/>
        </p:nvSpPr>
        <p:spPr>
          <a:xfrm>
            <a:off x="877823" y="3182112"/>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高峰时段车辆集中到达</a:t>
            </a:r>
          </a:p>
        </p:txBody>
      </p:sp>
      <p:sp>
        <p:nvSpPr>
          <p:cNvPr id="12" name="Oval 11"/>
          <p:cNvSpPr/>
          <p:nvPr/>
        </p:nvSpPr>
        <p:spPr>
          <a:xfrm>
            <a:off x="877823" y="3749039"/>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单通道依次排队、串行检查</a:t>
            </a:r>
          </a:p>
        </p:txBody>
      </p:sp>
      <p:sp>
        <p:nvSpPr>
          <p:cNvPr id="14" name="Oval 13"/>
          <p:cNvSpPr/>
          <p:nvPr/>
        </p:nvSpPr>
        <p:spPr>
          <a:xfrm>
            <a:off x="877823" y="4315968"/>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车辆排队等待时间较长</a:t>
            </a:r>
          </a:p>
        </p:txBody>
      </p:sp>
      <p:sp>
        <p:nvSpPr>
          <p:cNvPr id="16" name="Oval 15"/>
          <p:cNvSpPr/>
          <p:nvPr/>
        </p:nvSpPr>
        <p:spPr>
          <a:xfrm>
            <a:off x="877823" y="4882896"/>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2999" y="4773168"/>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道口保障能力面临提升要求</a:t>
            </a:r>
          </a:p>
        </p:txBody>
      </p:sp>
      <p:sp>
        <p:nvSpPr>
          <p:cNvPr id="18" name="Rounded Rectangle 17"/>
          <p:cNvSpPr/>
          <p:nvPr/>
        </p:nvSpPr>
        <p:spPr>
          <a:xfrm>
            <a:off x="7909559" y="2103119"/>
            <a:ext cx="3246119" cy="324612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1E1E1E"/>
                </a:solidFill>
                <a:latin typeface="Aptos Mono"/>
              </a:rPr>
              <a:t>背景判断 25%</a:t>
            </a:r>
          </a:p>
        </p:txBody>
      </p:sp>
      <p:sp>
        <p:nvSpPr>
          <p:cNvPr id="20" name="TextBox 19"/>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6B6259"/>
                </a:solidFill>
                <a:latin typeface="Aptos"/>
              </a:rPr>
              <a:t>重点内容 可继续编辑</a:t>
            </a:r>
          </a:p>
        </p:txBody>
      </p:sp>
      <p:sp>
        <p:nvSpPr>
          <p:cNvPr id="21" name="Rectangle 20"/>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车辆集中到达与现有串行检查模式之间的矛盾日益突出。</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06</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问题识别</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四类现场问题共同拉长车辆通过时间</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道口效率问题不是单一环节造成，而是多个流程因素叠加的结果。</a:t>
            </a:r>
          </a:p>
        </p:txBody>
      </p:sp>
      <p:sp>
        <p:nvSpPr>
          <p:cNvPr id="9" name="Oval 8"/>
          <p:cNvSpPr/>
          <p:nvPr/>
        </p:nvSpPr>
        <p:spPr>
          <a:xfrm>
            <a:off x="877823" y="3182112"/>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车辆集中到达，排队积压严重</a:t>
            </a:r>
          </a:p>
        </p:txBody>
      </p:sp>
      <p:sp>
        <p:nvSpPr>
          <p:cNvPr id="11" name="Oval 10"/>
          <p:cNvSpPr/>
          <p:nvPr/>
        </p:nvSpPr>
        <p:spPr>
          <a:xfrm>
            <a:off x="877823" y="3749039"/>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到达、核验、检查、登记、放行环节衔接不畅</a:t>
            </a:r>
          </a:p>
        </p:txBody>
      </p:sp>
      <p:sp>
        <p:nvSpPr>
          <p:cNvPr id="13" name="Oval 12"/>
          <p:cNvSpPr/>
          <p:nvPr/>
        </p:nvSpPr>
        <p:spPr>
          <a:xfrm>
            <a:off x="877823" y="4315968"/>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证件或车辆异常处置效率不足</a:t>
            </a:r>
          </a:p>
        </p:txBody>
      </p:sp>
      <p:sp>
        <p:nvSpPr>
          <p:cNvPr id="15" name="Oval 14"/>
          <p:cNvSpPr/>
          <p:nvPr/>
        </p:nvSpPr>
        <p:spPr>
          <a:xfrm>
            <a:off x="877823" y="4882896"/>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42999" y="4773168"/>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岗位职责和交接标准不够清晰</a:t>
            </a:r>
          </a:p>
        </p:txBody>
      </p:sp>
      <p:sp>
        <p:nvSpPr>
          <p:cNvPr id="17" name="Rounded Rectangle 16"/>
          <p:cNvSpPr/>
          <p:nvPr/>
        </p:nvSpPr>
        <p:spPr>
          <a:xfrm>
            <a:off x="7909559" y="2103119"/>
            <a:ext cx="3246119" cy="324612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1E1E1E"/>
                </a:solidFill>
                <a:latin typeface="Aptos Mono"/>
              </a:rPr>
              <a:t>问题识别 25%</a:t>
            </a:r>
          </a:p>
        </p:txBody>
      </p:sp>
      <p:sp>
        <p:nvSpPr>
          <p:cNvPr id="19" name="TextBox 18"/>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6B6259"/>
                </a:solidFill>
                <a:latin typeface="Aptos"/>
              </a:rPr>
              <a:t>重点内容 可继续编辑</a:t>
            </a:r>
          </a:p>
        </p:txBody>
      </p:sp>
      <p:sp>
        <p:nvSpPr>
          <p:cNvPr id="20" name="Rectangle 19"/>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道口效率问题不是单一环节造成，而是多个流程因素叠加的结果。</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07</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现状基线</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高峰时段单车平均检查时长为5.53分钟</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项目以真实运行数据建立基线，为后续原因确认和目标设定提供依据。</a:t>
            </a:r>
          </a:p>
        </p:txBody>
      </p:sp>
      <p:sp>
        <p:nvSpPr>
          <p:cNvPr id="9" name="Rounded Rectangle 8"/>
          <p:cNvSpPr/>
          <p:nvPr/>
        </p:nvSpPr>
        <p:spPr>
          <a:xfrm>
            <a:off x="777239" y="2212848"/>
            <a:ext cx="2971799" cy="242316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1" y="2514600"/>
            <a:ext cx="2331719" cy="868680"/>
          </a:xfrm>
          <a:prstGeom prst="rect">
            <a:avLst/>
          </a:prstGeom>
          <a:noFill/>
        </p:spPr>
        <p:txBody>
          <a:bodyPr wrap="square" lIns="36575" rIns="36575" tIns="18288" bIns="18288" anchor="ctr">
            <a:spAutoFit/>
          </a:bodyPr>
          <a:lstStyle/>
          <a:p>
            <a:pPr algn="ctr"/>
            <a:r>
              <a:rPr sz="4400" b="1">
                <a:solidFill>
                  <a:srgbClr val="FFFFFF"/>
                </a:solidFill>
                <a:latin typeface="Aptos"/>
              </a:rPr>
              <a:t>5.53分钟/车</a:t>
            </a:r>
          </a:p>
        </p:txBody>
      </p:sp>
      <p:sp>
        <p:nvSpPr>
          <p:cNvPr id="11" name="TextBox 10"/>
          <p:cNvSpPr txBox="1"/>
          <p:nvPr/>
        </p:nvSpPr>
        <p:spPr>
          <a:xfrm>
            <a:off x="1051559" y="3547872"/>
            <a:ext cx="2377439" cy="411480"/>
          </a:xfrm>
          <a:prstGeom prst="rect">
            <a:avLst/>
          </a:prstGeom>
          <a:noFill/>
        </p:spPr>
        <p:txBody>
          <a:bodyPr wrap="square" lIns="36575" rIns="36575" tIns="18288" bIns="18288" anchor="ctr">
            <a:spAutoFit/>
          </a:bodyPr>
          <a:lstStyle/>
          <a:p>
            <a:pPr algn="ctr"/>
            <a:r>
              <a:rPr sz="1400" b="0">
                <a:solidFill>
                  <a:srgbClr val="FFFFFF"/>
                </a:solidFill>
                <a:latin typeface="Aptos"/>
              </a:rPr>
              <a:t>改进前核心指标</a:t>
            </a:r>
          </a:p>
        </p:txBody>
      </p:sp>
      <p:sp>
        <p:nvSpPr>
          <p:cNvPr id="12" name="Oval 11"/>
          <p:cNvSpPr/>
          <p:nvPr/>
        </p:nvSpPr>
        <p:spPr>
          <a:xfrm>
            <a:off x="4315967" y="2423160"/>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39" y="2331720"/>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数据来源：监控和安全管理系统</a:t>
            </a:r>
          </a:p>
        </p:txBody>
      </p:sp>
      <p:sp>
        <p:nvSpPr>
          <p:cNvPr id="14" name="Oval 13"/>
          <p:cNvSpPr/>
          <p:nvPr/>
        </p:nvSpPr>
        <p:spPr>
          <a:xfrm>
            <a:off x="4315967" y="3264408"/>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39" y="3172968"/>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调查周期：2025年1月至3月</a:t>
            </a:r>
          </a:p>
        </p:txBody>
      </p:sp>
      <p:sp>
        <p:nvSpPr>
          <p:cNvPr id="16" name="Oval 15"/>
          <p:cNvSpPr/>
          <p:nvPr/>
        </p:nvSpPr>
        <p:spPr>
          <a:xfrm>
            <a:off x="4315967" y="4105655"/>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63439" y="4014215"/>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有效样本：1500组</a:t>
            </a:r>
          </a:p>
        </p:txBody>
      </p:sp>
      <p:sp>
        <p:nvSpPr>
          <p:cNvPr id="18" name="Rectangle 17"/>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项目以真实运行数据建立基线，为后续原因确认和目标设定提供依据。</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08</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流程分析</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车辆检查与关联检查采取并行作业，关键路径决定总时长</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车辆检查平均耗时更长，是正常运行条件下影响单车通行时间的主要路径。</a:t>
            </a:r>
          </a:p>
        </p:txBody>
      </p:sp>
      <p:sp>
        <p:nvSpPr>
          <p:cNvPr id="9" name="TextBox 8"/>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6B6259"/>
                </a:solidFill>
                <a:latin typeface="Georgia"/>
              </a:rPr>
              <a:t>车辆拦停与车辆放行为串行作业；关联检查与车辆检查为并行作业。车辆进入检查位后，关联检查人员同步开展证件核验、人身检查和物品检查，车辆检查人员同步实施车内、车外、车顶、车底检查。</a:t>
            </a:r>
          </a:p>
        </p:txBody>
      </p:sp>
      <p:sp>
        <p:nvSpPr>
          <p:cNvPr id="10" name="Oval 9"/>
          <p:cNvSpPr/>
          <p:nvPr/>
        </p:nvSpPr>
        <p:spPr>
          <a:xfrm>
            <a:off x="877823" y="3182112"/>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总时长主要取决于并行作业中耗时较长的环节</a:t>
            </a:r>
          </a:p>
        </p:txBody>
      </p:sp>
      <p:sp>
        <p:nvSpPr>
          <p:cNvPr id="12" name="Oval 11"/>
          <p:cNvSpPr/>
          <p:nvPr/>
        </p:nvSpPr>
        <p:spPr>
          <a:xfrm>
            <a:off x="877823" y="3749039"/>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正常条件下关联检查平均完成时间小于车辆检查</a:t>
            </a:r>
          </a:p>
        </p:txBody>
      </p:sp>
      <p:sp>
        <p:nvSpPr>
          <p:cNvPr id="14" name="Oval 13"/>
          <p:cNvSpPr/>
          <p:nvPr/>
        </p:nvSpPr>
        <p:spPr>
          <a:xfrm>
            <a:off x="877823" y="4315968"/>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关联检查仅在异常情况下可能转化为关键路径</a:t>
            </a:r>
          </a:p>
        </p:txBody>
      </p:sp>
      <p:sp>
        <p:nvSpPr>
          <p:cNvPr id="16" name="Oval 15"/>
          <p:cNvSpPr/>
          <p:nvPr/>
        </p:nvSpPr>
        <p:spPr>
          <a:xfrm>
            <a:off x="877823" y="4882896"/>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2999" y="4773168"/>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关联检查成为关键路径时平均浪费时长约0.1分钟</a:t>
            </a:r>
          </a:p>
        </p:txBody>
      </p:sp>
      <p:sp>
        <p:nvSpPr>
          <p:cNvPr id="18" name="Rounded Rectangle 17"/>
          <p:cNvSpPr/>
          <p:nvPr/>
        </p:nvSpPr>
        <p:spPr>
          <a:xfrm>
            <a:off x="7909559" y="2103119"/>
            <a:ext cx="3246119" cy="324612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1E1E1E"/>
                </a:solidFill>
                <a:latin typeface="Aptos Mono"/>
              </a:rPr>
              <a:t>流程分析 0.1分钟</a:t>
            </a:r>
          </a:p>
        </p:txBody>
      </p:sp>
      <p:sp>
        <p:nvSpPr>
          <p:cNvPr id="20" name="TextBox 19"/>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6B6259"/>
                </a:solidFill>
                <a:latin typeface="Aptos"/>
              </a:rPr>
              <a:t>重点内容 可继续编辑</a:t>
            </a:r>
          </a:p>
        </p:txBody>
      </p:sp>
      <p:sp>
        <p:nvSpPr>
          <p:cNvPr id="21" name="Rectangle 20"/>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车辆检查平均耗时更长，是正常运行条件下影响单车通行时间的主要路径。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09</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浪费识别</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车辆检查环节占可改善浪费时间的88.89%</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车辆检查环节达到帕累托临界值，是本项目优先改善的核心对象。</a:t>
            </a:r>
          </a:p>
        </p:txBody>
      </p:sp>
      <p:sp>
        <p:nvSpPr>
          <p:cNvPr id="9" name="Rounded Rectangle 8"/>
          <p:cNvSpPr/>
          <p:nvPr/>
        </p:nvSpPr>
        <p:spPr>
          <a:xfrm>
            <a:off x="777239" y="2212848"/>
            <a:ext cx="2971799" cy="242316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1" y="2514600"/>
            <a:ext cx="2331719" cy="868680"/>
          </a:xfrm>
          <a:prstGeom prst="rect">
            <a:avLst/>
          </a:prstGeom>
          <a:noFill/>
        </p:spPr>
        <p:txBody>
          <a:bodyPr wrap="square" lIns="36575" rIns="36575" tIns="18288" bIns="18288" anchor="ctr">
            <a:spAutoFit/>
          </a:bodyPr>
          <a:lstStyle/>
          <a:p>
            <a:pPr algn="ctr"/>
            <a:r>
              <a:rPr sz="4400" b="1">
                <a:solidFill>
                  <a:srgbClr val="FFFFFF"/>
                </a:solidFill>
                <a:latin typeface="Aptos"/>
              </a:rPr>
              <a:t>88.89%</a:t>
            </a:r>
          </a:p>
        </p:txBody>
      </p:sp>
      <p:sp>
        <p:nvSpPr>
          <p:cNvPr id="11" name="TextBox 10"/>
          <p:cNvSpPr txBox="1"/>
          <p:nvPr/>
        </p:nvSpPr>
        <p:spPr>
          <a:xfrm>
            <a:off x="1051559" y="3547872"/>
            <a:ext cx="2377439" cy="411480"/>
          </a:xfrm>
          <a:prstGeom prst="rect">
            <a:avLst/>
          </a:prstGeom>
          <a:noFill/>
        </p:spPr>
        <p:txBody>
          <a:bodyPr wrap="square" lIns="36575" rIns="36575" tIns="18288" bIns="18288" anchor="ctr">
            <a:spAutoFit/>
          </a:bodyPr>
          <a:lstStyle/>
          <a:p>
            <a:pPr algn="ctr"/>
            <a:r>
              <a:rPr sz="1400" b="0">
                <a:solidFill>
                  <a:srgbClr val="FFFFFF"/>
                </a:solidFill>
                <a:latin typeface="Aptos"/>
              </a:rPr>
              <a:t>车辆检查环节占可改善浪费时间比例</a:t>
            </a:r>
          </a:p>
        </p:txBody>
      </p:sp>
      <p:sp>
        <p:nvSpPr>
          <p:cNvPr id="12" name="Oval 11"/>
          <p:cNvSpPr/>
          <p:nvPr/>
        </p:nvSpPr>
        <p:spPr>
          <a:xfrm>
            <a:off x="4315967" y="2423160"/>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39" y="2331720"/>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流程平均标准检查时间：3.46分钟</a:t>
            </a:r>
          </a:p>
        </p:txBody>
      </p:sp>
      <p:sp>
        <p:nvSpPr>
          <p:cNvPr id="14" name="Oval 13"/>
          <p:cNvSpPr/>
          <p:nvPr/>
        </p:nvSpPr>
        <p:spPr>
          <a:xfrm>
            <a:off x="4315967" y="3264408"/>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39" y="3172968"/>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总可改善浪费时间：2.07分钟/车</a:t>
            </a:r>
          </a:p>
        </p:txBody>
      </p:sp>
      <p:sp>
        <p:nvSpPr>
          <p:cNvPr id="16" name="Oval 15"/>
          <p:cNvSpPr/>
          <p:nvPr/>
        </p:nvSpPr>
        <p:spPr>
          <a:xfrm>
            <a:off x="4315967" y="4105655"/>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63439" y="4014215"/>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车辆检查环节占比：88.89%</a:t>
            </a:r>
          </a:p>
        </p:txBody>
      </p:sp>
      <p:sp>
        <p:nvSpPr>
          <p:cNvPr id="18" name="Rectangle 17"/>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车辆检查环节达到帕累托临界值，是本项目优先改善的核心对象。</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10</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目标设定</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项目将单车平均通行时间目标设定为3.87分钟</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按照解决主要症结90%的预期，目标需缩减1.66分钟浪费时间。</a:t>
            </a:r>
          </a:p>
        </p:txBody>
      </p:sp>
      <p:sp>
        <p:nvSpPr>
          <p:cNvPr id="9" name="TextBox 8"/>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6B6259"/>
                </a:solidFill>
                <a:latin typeface="Georgia"/>
              </a:rPr>
              <a:t>目标值=x-x×y×0.9。x为改进前核心指标值，y为主要症结占比。经测算，目标浪费时间为0.41分钟，需缩减浪费时间1.66分钟，目标值为3.87分钟。</a:t>
            </a:r>
          </a:p>
        </p:txBody>
      </p:sp>
      <p:sp>
        <p:nvSpPr>
          <p:cNvPr id="10" name="Oval 9"/>
          <p:cNvSpPr/>
          <p:nvPr/>
        </p:nvSpPr>
        <p:spPr>
          <a:xfrm>
            <a:off x="877823" y="3182112"/>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改进前核心指标值：5.53分钟</a:t>
            </a:r>
          </a:p>
        </p:txBody>
      </p:sp>
      <p:sp>
        <p:nvSpPr>
          <p:cNvPr id="12" name="Oval 11"/>
          <p:cNvSpPr/>
          <p:nvPr/>
        </p:nvSpPr>
        <p:spPr>
          <a:xfrm>
            <a:off x="877823" y="3749039"/>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主要症结占比：88.89%</a:t>
            </a:r>
          </a:p>
        </p:txBody>
      </p:sp>
      <p:sp>
        <p:nvSpPr>
          <p:cNvPr id="14" name="Oval 13"/>
          <p:cNvSpPr/>
          <p:nvPr/>
        </p:nvSpPr>
        <p:spPr>
          <a:xfrm>
            <a:off x="877823" y="4315968"/>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预期解决主要症结比例：90%</a:t>
            </a:r>
          </a:p>
        </p:txBody>
      </p:sp>
      <p:sp>
        <p:nvSpPr>
          <p:cNvPr id="16" name="Oval 15"/>
          <p:cNvSpPr/>
          <p:nvPr/>
        </p:nvSpPr>
        <p:spPr>
          <a:xfrm>
            <a:off x="877823" y="4882896"/>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2999" y="4773168"/>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目标浪费时间：0.41分钟</a:t>
            </a:r>
          </a:p>
        </p:txBody>
      </p:sp>
      <p:sp>
        <p:nvSpPr>
          <p:cNvPr id="18" name="Rounded Rectangle 17"/>
          <p:cNvSpPr/>
          <p:nvPr/>
        </p:nvSpPr>
        <p:spPr>
          <a:xfrm>
            <a:off x="7909559" y="2103119"/>
            <a:ext cx="3246119" cy="324612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1E1E1E"/>
                </a:solidFill>
                <a:latin typeface="Aptos Mono"/>
              </a:rPr>
              <a:t>目标设定 3.87分钟/车</a:t>
            </a:r>
          </a:p>
        </p:txBody>
      </p:sp>
      <p:sp>
        <p:nvSpPr>
          <p:cNvPr id="20" name="TextBox 19"/>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6B6259"/>
                </a:solidFill>
                <a:latin typeface="Aptos"/>
              </a:rPr>
              <a:t>重点内容 可继续编辑</a:t>
            </a:r>
          </a:p>
        </p:txBody>
      </p:sp>
      <p:sp>
        <p:nvSpPr>
          <p:cNvPr id="21" name="Rectangle 20"/>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按照解决主要症结90%的预期，目标需缩减1.66分钟浪费时间。</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11</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项目推进</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项目按照调查、分析、实施、验证和固化推进</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项目从数据识别问题，以定量分析确认要因，最终通过标准化机制巩固成果。</a:t>
            </a:r>
          </a:p>
        </p:txBody>
      </p:sp>
      <p:sp>
        <p:nvSpPr>
          <p:cNvPr id="9" name="Rectangle 8"/>
          <p:cNvSpPr/>
          <p:nvPr/>
        </p:nvSpPr>
        <p:spPr>
          <a:xfrm>
            <a:off x="1005839" y="3172968"/>
            <a:ext cx="9829799" cy="54864"/>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7" y="2916936"/>
            <a:ext cx="548639" cy="548640"/>
          </a:xfrm>
          <a:prstGeom prst="ellipse">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 y="2999232"/>
            <a:ext cx="548639" cy="274320"/>
          </a:xfrm>
          <a:prstGeom prst="rect">
            <a:avLst/>
          </a:prstGeom>
          <a:noFill/>
        </p:spPr>
        <p:txBody>
          <a:bodyPr wrap="square" lIns="36575" rIns="36575" tIns="18288" bIns="18288" anchor="ctr">
            <a:spAutoFit/>
          </a:bodyPr>
          <a:lstStyle/>
          <a:p>
            <a:pPr algn="ctr"/>
            <a:r>
              <a:rPr sz="1200" b="1">
                <a:solidFill>
                  <a:srgbClr val="FFFFFF"/>
                </a:solidFill>
                <a:latin typeface="Aptos Mono"/>
              </a:rPr>
              <a:t>01</a:t>
            </a:r>
          </a:p>
        </p:txBody>
      </p:sp>
      <p:sp>
        <p:nvSpPr>
          <p:cNvPr id="12" name="TextBox 11"/>
          <p:cNvSpPr txBox="1"/>
          <p:nvPr/>
        </p:nvSpPr>
        <p:spPr>
          <a:xfrm>
            <a:off x="52120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现状调查</a:t>
            </a:r>
          </a:p>
        </p:txBody>
      </p:sp>
      <p:sp>
        <p:nvSpPr>
          <p:cNvPr id="13" name="TextBox 12"/>
          <p:cNvSpPr txBox="1"/>
          <p:nvPr/>
        </p:nvSpPr>
        <p:spPr>
          <a:xfrm>
            <a:off x="15544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采集2025年1月至3月1500组有效样本，建立5.53分钟/车基线。</a:t>
            </a:r>
          </a:p>
        </p:txBody>
      </p:sp>
      <p:sp>
        <p:nvSpPr>
          <p:cNvPr id="14" name="Oval 13"/>
          <p:cNvSpPr/>
          <p:nvPr/>
        </p:nvSpPr>
        <p:spPr>
          <a:xfrm>
            <a:off x="3344417" y="2916936"/>
            <a:ext cx="548639" cy="548640"/>
          </a:xfrm>
          <a:prstGeom prst="ellipse">
            <a:avLst/>
          </a:prstGeom>
          <a:solidFill>
            <a:srgbClr val="F5F1EA"/>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44417" y="2999232"/>
            <a:ext cx="548639" cy="274320"/>
          </a:xfrm>
          <a:prstGeom prst="rect">
            <a:avLst/>
          </a:prstGeom>
          <a:noFill/>
        </p:spPr>
        <p:txBody>
          <a:bodyPr wrap="square" lIns="36575" rIns="36575" tIns="18288" bIns="18288" anchor="ctr">
            <a:spAutoFit/>
          </a:bodyPr>
          <a:lstStyle/>
          <a:p>
            <a:pPr algn="ctr"/>
            <a:r>
              <a:rPr sz="1200" b="1">
                <a:solidFill>
                  <a:srgbClr val="1E1E1E"/>
                </a:solidFill>
                <a:latin typeface="Aptos Mono"/>
              </a:rPr>
              <a:t>02</a:t>
            </a:r>
          </a:p>
        </p:txBody>
      </p:sp>
      <p:sp>
        <p:nvSpPr>
          <p:cNvPr id="16" name="TextBox 15"/>
          <p:cNvSpPr txBox="1"/>
          <p:nvPr/>
        </p:nvSpPr>
        <p:spPr>
          <a:xfrm>
            <a:off x="302437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现状分析</a:t>
            </a:r>
          </a:p>
        </p:txBody>
      </p:sp>
      <p:sp>
        <p:nvSpPr>
          <p:cNvPr id="17" name="TextBox 16"/>
          <p:cNvSpPr txBox="1"/>
          <p:nvPr/>
        </p:nvSpPr>
        <p:spPr>
          <a:xfrm>
            <a:off x="265861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按浪费时间开展帕累托分析，锁定车辆检查环节。</a:t>
            </a:r>
          </a:p>
        </p:txBody>
      </p:sp>
      <p:sp>
        <p:nvSpPr>
          <p:cNvPr id="18" name="Oval 17"/>
          <p:cNvSpPr/>
          <p:nvPr/>
        </p:nvSpPr>
        <p:spPr>
          <a:xfrm>
            <a:off x="5847587" y="2916936"/>
            <a:ext cx="548639" cy="548640"/>
          </a:xfrm>
          <a:prstGeom prst="ellipse">
            <a:avLst/>
          </a:prstGeom>
          <a:solidFill>
            <a:srgbClr val="F5F1EA"/>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47587" y="2999232"/>
            <a:ext cx="548639" cy="274320"/>
          </a:xfrm>
          <a:prstGeom prst="rect">
            <a:avLst/>
          </a:prstGeom>
          <a:noFill/>
        </p:spPr>
        <p:txBody>
          <a:bodyPr wrap="square" lIns="36575" rIns="36575" tIns="18288" bIns="18288" anchor="ctr">
            <a:spAutoFit/>
          </a:bodyPr>
          <a:lstStyle/>
          <a:p>
            <a:pPr algn="ctr"/>
            <a:r>
              <a:rPr sz="1200" b="1">
                <a:solidFill>
                  <a:srgbClr val="1E1E1E"/>
                </a:solidFill>
                <a:latin typeface="Aptos Mono"/>
              </a:rPr>
              <a:t>03</a:t>
            </a:r>
          </a:p>
        </p:txBody>
      </p:sp>
      <p:sp>
        <p:nvSpPr>
          <p:cNvPr id="20" name="TextBox 19"/>
          <p:cNvSpPr txBox="1"/>
          <p:nvPr/>
        </p:nvSpPr>
        <p:spPr>
          <a:xfrm>
            <a:off x="552754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原因确认</a:t>
            </a:r>
          </a:p>
        </p:txBody>
      </p:sp>
      <p:sp>
        <p:nvSpPr>
          <p:cNvPr id="21" name="TextBox 20"/>
          <p:cNvSpPr txBox="1"/>
          <p:nvPr/>
        </p:nvSpPr>
        <p:spPr>
          <a:xfrm>
            <a:off x="516178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运用5M1E分析法确认两个主要要因。</a:t>
            </a:r>
          </a:p>
        </p:txBody>
      </p:sp>
      <p:sp>
        <p:nvSpPr>
          <p:cNvPr id="22" name="Oval 21"/>
          <p:cNvSpPr/>
          <p:nvPr/>
        </p:nvSpPr>
        <p:spPr>
          <a:xfrm>
            <a:off x="8350757" y="2916936"/>
            <a:ext cx="548639" cy="548640"/>
          </a:xfrm>
          <a:prstGeom prst="ellipse">
            <a:avLst/>
          </a:prstGeom>
          <a:solidFill>
            <a:srgbClr val="F5F1EA"/>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50757" y="2999232"/>
            <a:ext cx="548639" cy="274320"/>
          </a:xfrm>
          <a:prstGeom prst="rect">
            <a:avLst/>
          </a:prstGeom>
          <a:noFill/>
        </p:spPr>
        <p:txBody>
          <a:bodyPr wrap="square" lIns="36575" rIns="36575" tIns="18288" bIns="18288" anchor="ctr">
            <a:spAutoFit/>
          </a:bodyPr>
          <a:lstStyle/>
          <a:p>
            <a:pPr algn="ctr"/>
            <a:r>
              <a:rPr sz="1200" b="1">
                <a:solidFill>
                  <a:srgbClr val="1E1E1E"/>
                </a:solidFill>
                <a:latin typeface="Aptos Mono"/>
              </a:rPr>
              <a:t>04</a:t>
            </a:r>
          </a:p>
        </p:txBody>
      </p:sp>
      <p:sp>
        <p:nvSpPr>
          <p:cNvPr id="24" name="TextBox 23"/>
          <p:cNvSpPr txBox="1"/>
          <p:nvPr/>
        </p:nvSpPr>
        <p:spPr>
          <a:xfrm>
            <a:off x="803071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对策实施</a:t>
            </a:r>
          </a:p>
        </p:txBody>
      </p:sp>
      <p:sp>
        <p:nvSpPr>
          <p:cNvPr id="25" name="TextBox 24"/>
          <p:cNvSpPr txBox="1"/>
          <p:nvPr/>
        </p:nvSpPr>
        <p:spPr>
          <a:xfrm>
            <a:off x="766495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完成设备整合、流程优化和人员技能培训。</a:t>
            </a:r>
          </a:p>
        </p:txBody>
      </p:sp>
      <p:sp>
        <p:nvSpPr>
          <p:cNvPr id="26" name="Oval 25"/>
          <p:cNvSpPr/>
          <p:nvPr/>
        </p:nvSpPr>
        <p:spPr>
          <a:xfrm>
            <a:off x="10853927" y="2916936"/>
            <a:ext cx="548639" cy="548640"/>
          </a:xfrm>
          <a:prstGeom prst="ellipse">
            <a:avLst/>
          </a:prstGeom>
          <a:solidFill>
            <a:srgbClr val="F5F1EA"/>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53927" y="2999232"/>
            <a:ext cx="548639" cy="274320"/>
          </a:xfrm>
          <a:prstGeom prst="rect">
            <a:avLst/>
          </a:prstGeom>
          <a:noFill/>
        </p:spPr>
        <p:txBody>
          <a:bodyPr wrap="square" lIns="36575" rIns="36575" tIns="18288" bIns="18288" anchor="ctr">
            <a:spAutoFit/>
          </a:bodyPr>
          <a:lstStyle/>
          <a:p>
            <a:pPr algn="ctr"/>
            <a:r>
              <a:rPr sz="1200" b="1">
                <a:solidFill>
                  <a:srgbClr val="1E1E1E"/>
                </a:solidFill>
                <a:latin typeface="Aptos Mono"/>
              </a:rPr>
              <a:t>05</a:t>
            </a:r>
          </a:p>
        </p:txBody>
      </p:sp>
      <p:sp>
        <p:nvSpPr>
          <p:cNvPr id="28" name="TextBox 27"/>
          <p:cNvSpPr txBox="1"/>
          <p:nvPr/>
        </p:nvSpPr>
        <p:spPr>
          <a:xfrm>
            <a:off x="1053388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效果验证</a:t>
            </a:r>
          </a:p>
        </p:txBody>
      </p:sp>
      <p:sp>
        <p:nvSpPr>
          <p:cNvPr id="29" name="TextBox 28"/>
          <p:cNvSpPr txBox="1"/>
          <p:nvPr/>
        </p:nvSpPr>
        <p:spPr>
          <a:xfrm>
            <a:off x="1016812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2026年3月至6月效果数据达到3.82分钟/车。</a:t>
            </a:r>
          </a:p>
        </p:txBody>
      </p:sp>
      <p:sp>
        <p:nvSpPr>
          <p:cNvPr id="30" name="Rectangle 29"/>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项目从数据识别问题，以定量分析确认要因，最终通过标准化机制巩固成果。</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12</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原因分析</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5M1E分析将问题拆解为五个可验证末端原因</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原因分析覆盖人员、设备、信息、流程和环境，最终聚焦可控因素。</a:t>
            </a:r>
          </a:p>
        </p:txBody>
      </p:sp>
      <p:sp>
        <p:nvSpPr>
          <p:cNvPr id="9" name="TextBox 8"/>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6B6259"/>
                </a:solidFill>
                <a:latin typeface="Georgia"/>
              </a:rPr>
              <a:t>项目组运用5M1E分析法进行逐层拆解，分析出6个末端原因，剔除不可控因素“人员检查意识待提高”后，形成5个待确认原因。</a:t>
            </a:r>
          </a:p>
        </p:txBody>
      </p:sp>
      <p:sp>
        <p:nvSpPr>
          <p:cNvPr id="10" name="Oval 9"/>
          <p:cNvSpPr/>
          <p:nvPr/>
        </p:nvSpPr>
        <p:spPr>
          <a:xfrm>
            <a:off x="877823" y="3182112"/>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车辆检查设施设备工具落后</a:t>
            </a:r>
          </a:p>
        </p:txBody>
      </p:sp>
      <p:sp>
        <p:nvSpPr>
          <p:cNvPr id="12" name="Oval 11"/>
          <p:cNvSpPr/>
          <p:nvPr/>
        </p:nvSpPr>
        <p:spPr>
          <a:xfrm>
            <a:off x="877823" y="3749039"/>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信息提示与引导不足</a:t>
            </a:r>
          </a:p>
        </p:txBody>
      </p:sp>
      <p:sp>
        <p:nvSpPr>
          <p:cNvPr id="14" name="Oval 13"/>
          <p:cNvSpPr/>
          <p:nvPr/>
        </p:nvSpPr>
        <p:spPr>
          <a:xfrm>
            <a:off x="877823" y="4315968"/>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缺少车辆引流</a:t>
            </a:r>
          </a:p>
        </p:txBody>
      </p:sp>
      <p:sp>
        <p:nvSpPr>
          <p:cNvPr id="16" name="Oval 15"/>
          <p:cNvSpPr/>
          <p:nvPr/>
        </p:nvSpPr>
        <p:spPr>
          <a:xfrm>
            <a:off x="877823" y="4882896"/>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2999" y="4773168"/>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作业标准未量化固化</a:t>
            </a:r>
          </a:p>
        </p:txBody>
      </p:sp>
      <p:sp>
        <p:nvSpPr>
          <p:cNvPr id="18" name="Rounded Rectangle 17"/>
          <p:cNvSpPr/>
          <p:nvPr/>
        </p:nvSpPr>
        <p:spPr>
          <a:xfrm>
            <a:off x="7909559" y="2103119"/>
            <a:ext cx="3246119" cy="324612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1E1E1E"/>
                </a:solidFill>
                <a:latin typeface="Aptos Mono"/>
              </a:rPr>
              <a:t>原因分析 5个</a:t>
            </a:r>
          </a:p>
        </p:txBody>
      </p:sp>
      <p:sp>
        <p:nvSpPr>
          <p:cNvPr id="20" name="TextBox 19"/>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6B6259"/>
                </a:solidFill>
                <a:latin typeface="Aptos"/>
              </a:rPr>
              <a:t>重点内容 可继续编辑</a:t>
            </a:r>
          </a:p>
        </p:txBody>
      </p:sp>
      <p:sp>
        <p:nvSpPr>
          <p:cNvPr id="21" name="Rectangle 20"/>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原因分析覆盖人员、设备、信息、流程和环境，最终聚焦可控因素。</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13</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要因确认</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两项原因影响程度超过10%，被确认为主要要因</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定量确认结果显示，两个原因对主要症结的影响显著高于其他因素。</a:t>
            </a:r>
          </a:p>
        </p:txBody>
      </p:sp>
      <p:sp>
        <p:nvSpPr>
          <p:cNvPr id="9" name="Rounded Rectangle 8"/>
          <p:cNvSpPr/>
          <p:nvPr/>
        </p:nvSpPr>
        <p:spPr>
          <a:xfrm>
            <a:off x="786383" y="2240280"/>
            <a:ext cx="4983479" cy="288036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79" y="2532888"/>
            <a:ext cx="4297679" cy="402336"/>
          </a:xfrm>
          <a:prstGeom prst="rect">
            <a:avLst/>
          </a:prstGeom>
          <a:noFill/>
        </p:spPr>
        <p:txBody>
          <a:bodyPr wrap="square" lIns="36575" rIns="36575" tIns="18288" bIns="18288" anchor="ctr">
            <a:spAutoFit/>
          </a:bodyPr>
          <a:lstStyle/>
          <a:p>
            <a:pPr algn="l"/>
            <a:r>
              <a:rPr sz="1900" b="1">
                <a:solidFill>
                  <a:srgbClr val="1E1E1E"/>
                </a:solidFill>
                <a:latin typeface="Aptos"/>
              </a:rPr>
              <a:t>确认为要因</a:t>
            </a:r>
          </a:p>
        </p:txBody>
      </p:sp>
      <p:sp>
        <p:nvSpPr>
          <p:cNvPr id="11" name="Rectangle 10"/>
          <p:cNvSpPr/>
          <p:nvPr/>
        </p:nvSpPr>
        <p:spPr>
          <a:xfrm>
            <a:off x="1115567" y="3264408"/>
            <a:ext cx="109727" cy="109728"/>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89887" y="3127248"/>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车辆检查设施设备工具落后：41.30%</a:t>
            </a:r>
          </a:p>
        </p:txBody>
      </p:sp>
      <p:sp>
        <p:nvSpPr>
          <p:cNvPr id="13" name="Rectangle 12"/>
          <p:cNvSpPr/>
          <p:nvPr/>
        </p:nvSpPr>
        <p:spPr>
          <a:xfrm>
            <a:off x="1115567" y="3703320"/>
            <a:ext cx="109727" cy="109728"/>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89887" y="3566160"/>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作业标准未量化固化：29.35%</a:t>
            </a:r>
          </a:p>
        </p:txBody>
      </p:sp>
      <p:sp>
        <p:nvSpPr>
          <p:cNvPr id="15" name="Rounded Rectangle 14"/>
          <p:cNvSpPr/>
          <p:nvPr/>
        </p:nvSpPr>
        <p:spPr>
          <a:xfrm>
            <a:off x="6236207" y="2240280"/>
            <a:ext cx="4983479" cy="2880360"/>
          </a:xfrm>
          <a:prstGeom prst="roundRect">
            <a:avLst/>
          </a:prstGeom>
          <a:solidFill>
            <a:srgbClr val="D89A3D"/>
          </a:solidFill>
          <a:ln w="10160">
            <a:solidFill>
              <a:srgbClr val="D89A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47103" y="2532888"/>
            <a:ext cx="4297679" cy="402336"/>
          </a:xfrm>
          <a:prstGeom prst="rect">
            <a:avLst/>
          </a:prstGeom>
          <a:noFill/>
        </p:spPr>
        <p:txBody>
          <a:bodyPr wrap="square" lIns="36575" rIns="36575" tIns="18288" bIns="18288" anchor="ctr">
            <a:spAutoFit/>
          </a:bodyPr>
          <a:lstStyle/>
          <a:p>
            <a:pPr algn="l"/>
            <a:r>
              <a:rPr sz="1900" b="1">
                <a:solidFill>
                  <a:srgbClr val="1E1E1E"/>
                </a:solidFill>
                <a:latin typeface="Aptos"/>
              </a:rPr>
              <a:t>确认为非要因</a:t>
            </a:r>
          </a:p>
        </p:txBody>
      </p:sp>
      <p:sp>
        <p:nvSpPr>
          <p:cNvPr id="17" name="Rectangle 16"/>
          <p:cNvSpPr/>
          <p:nvPr/>
        </p:nvSpPr>
        <p:spPr>
          <a:xfrm>
            <a:off x="6565391" y="3264408"/>
            <a:ext cx="109727" cy="109728"/>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39711" y="3127248"/>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信息引导不足：8.15%</a:t>
            </a:r>
          </a:p>
        </p:txBody>
      </p:sp>
      <p:sp>
        <p:nvSpPr>
          <p:cNvPr id="19" name="Rectangle 18"/>
          <p:cNvSpPr/>
          <p:nvPr/>
        </p:nvSpPr>
        <p:spPr>
          <a:xfrm>
            <a:off x="6565391" y="3703320"/>
            <a:ext cx="109727" cy="109728"/>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1" y="3566160"/>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缺少车辆引流：2.17%</a:t>
            </a:r>
          </a:p>
        </p:txBody>
      </p:sp>
      <p:sp>
        <p:nvSpPr>
          <p:cNvPr id="21" name="Rectangle 20"/>
          <p:cNvSpPr/>
          <p:nvPr/>
        </p:nvSpPr>
        <p:spPr>
          <a:xfrm>
            <a:off x="6565391" y="4142232"/>
            <a:ext cx="109727" cy="109728"/>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39711" y="4005072"/>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作业场所防护等级不足：3.80%</a:t>
            </a:r>
          </a:p>
        </p:txBody>
      </p:sp>
      <p:sp>
        <p:nvSpPr>
          <p:cNvPr id="23" name="Rectangle 22"/>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定量确认结果显示，两个原因对主要症结的影响显著高于其他因素。</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14</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要因一</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设备工具落后造成车辆检查时间明显浪费</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车顶检查镜、车底扫描仪和车顶球机监控设备的整合，直接改善了检查效率。</a:t>
            </a:r>
          </a:p>
        </p:txBody>
      </p:sp>
      <p:sp>
        <p:nvSpPr>
          <p:cNvPr id="9" name="Rounded Rectangle 8"/>
          <p:cNvSpPr/>
          <p:nvPr/>
        </p:nvSpPr>
        <p:spPr>
          <a:xfrm>
            <a:off x="777239" y="2212848"/>
            <a:ext cx="2971799" cy="242316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1" y="2514600"/>
            <a:ext cx="2331719" cy="868680"/>
          </a:xfrm>
          <a:prstGeom prst="rect">
            <a:avLst/>
          </a:prstGeom>
          <a:noFill/>
        </p:spPr>
        <p:txBody>
          <a:bodyPr wrap="square" lIns="36575" rIns="36575" tIns="18288" bIns="18288" anchor="ctr">
            <a:spAutoFit/>
          </a:bodyPr>
          <a:lstStyle/>
          <a:p>
            <a:pPr algn="ctr"/>
            <a:r>
              <a:rPr sz="4400" b="1">
                <a:solidFill>
                  <a:srgbClr val="FFFFFF"/>
                </a:solidFill>
                <a:latin typeface="Aptos"/>
              </a:rPr>
              <a:t>41.30%</a:t>
            </a:r>
          </a:p>
        </p:txBody>
      </p:sp>
      <p:sp>
        <p:nvSpPr>
          <p:cNvPr id="11" name="TextBox 10"/>
          <p:cNvSpPr txBox="1"/>
          <p:nvPr/>
        </p:nvSpPr>
        <p:spPr>
          <a:xfrm>
            <a:off x="1051559" y="3547872"/>
            <a:ext cx="2377439" cy="411480"/>
          </a:xfrm>
          <a:prstGeom prst="rect">
            <a:avLst/>
          </a:prstGeom>
          <a:noFill/>
        </p:spPr>
        <p:txBody>
          <a:bodyPr wrap="square" lIns="36575" rIns="36575" tIns="18288" bIns="18288" anchor="ctr">
            <a:spAutoFit/>
          </a:bodyPr>
          <a:lstStyle/>
          <a:p>
            <a:pPr algn="ctr"/>
            <a:r>
              <a:rPr sz="1400" b="0">
                <a:solidFill>
                  <a:srgbClr val="FFFFFF"/>
                </a:solidFill>
                <a:latin typeface="Aptos"/>
              </a:rPr>
              <a:t>设备工具落后的影响程度</a:t>
            </a:r>
          </a:p>
        </p:txBody>
      </p:sp>
      <p:sp>
        <p:nvSpPr>
          <p:cNvPr id="12" name="Oval 11"/>
          <p:cNvSpPr/>
          <p:nvPr/>
        </p:nvSpPr>
        <p:spPr>
          <a:xfrm>
            <a:off x="4315967" y="2423160"/>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39" y="2331720"/>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传统检查存在设备分散、查看不集中问题</a:t>
            </a:r>
          </a:p>
        </p:txBody>
      </p:sp>
      <p:sp>
        <p:nvSpPr>
          <p:cNvPr id="14" name="Oval 13"/>
          <p:cNvSpPr/>
          <p:nvPr/>
        </p:nvSpPr>
        <p:spPr>
          <a:xfrm>
            <a:off x="4315967" y="3264408"/>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39" y="3172968"/>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车底扫描图片与车顶实时视频无法同步查看</a:t>
            </a:r>
          </a:p>
        </p:txBody>
      </p:sp>
      <p:sp>
        <p:nvSpPr>
          <p:cNvPr id="16" name="Oval 15"/>
          <p:cNvSpPr/>
          <p:nvPr/>
        </p:nvSpPr>
        <p:spPr>
          <a:xfrm>
            <a:off x="4315967" y="4105655"/>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63439" y="4014215"/>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设备升级后单车车辆检查时间平均缩短0.76分钟</a:t>
            </a:r>
          </a:p>
        </p:txBody>
      </p:sp>
      <p:sp>
        <p:nvSpPr>
          <p:cNvPr id="18" name="Rectangle 17"/>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车顶检查镜、车底扫描仪和车顶球机监控设备的整合，直接改善了检查效率。</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15</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要因二</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作业标准未量化固化导致检查动作重复和顺序混乱</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通过优化检查顺序、上墙公示操作图示并开展培训考核，车内检查效率明显改善。</a:t>
            </a:r>
          </a:p>
        </p:txBody>
      </p:sp>
      <p:sp>
        <p:nvSpPr>
          <p:cNvPr id="9" name="Rounded Rectangle 8"/>
          <p:cNvSpPr/>
          <p:nvPr/>
        </p:nvSpPr>
        <p:spPr>
          <a:xfrm>
            <a:off x="777239" y="2212848"/>
            <a:ext cx="2971799" cy="242316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1" y="2514600"/>
            <a:ext cx="2331719" cy="868680"/>
          </a:xfrm>
          <a:prstGeom prst="rect">
            <a:avLst/>
          </a:prstGeom>
          <a:noFill/>
        </p:spPr>
        <p:txBody>
          <a:bodyPr wrap="square" lIns="36575" rIns="36575" tIns="18288" bIns="18288" anchor="ctr">
            <a:spAutoFit/>
          </a:bodyPr>
          <a:lstStyle/>
          <a:p>
            <a:pPr algn="ctr"/>
            <a:r>
              <a:rPr sz="4400" b="1">
                <a:solidFill>
                  <a:srgbClr val="FFFFFF"/>
                </a:solidFill>
                <a:latin typeface="Aptos"/>
              </a:rPr>
              <a:t>29.35%</a:t>
            </a:r>
          </a:p>
        </p:txBody>
      </p:sp>
      <p:sp>
        <p:nvSpPr>
          <p:cNvPr id="11" name="TextBox 10"/>
          <p:cNvSpPr txBox="1"/>
          <p:nvPr/>
        </p:nvSpPr>
        <p:spPr>
          <a:xfrm>
            <a:off x="1051559" y="3547872"/>
            <a:ext cx="2377439" cy="411480"/>
          </a:xfrm>
          <a:prstGeom prst="rect">
            <a:avLst/>
          </a:prstGeom>
          <a:noFill/>
        </p:spPr>
        <p:txBody>
          <a:bodyPr wrap="square" lIns="36575" rIns="36575" tIns="18288" bIns="18288" anchor="ctr">
            <a:spAutoFit/>
          </a:bodyPr>
          <a:lstStyle/>
          <a:p>
            <a:pPr algn="ctr"/>
            <a:r>
              <a:rPr sz="1400" b="0">
                <a:solidFill>
                  <a:srgbClr val="FFFFFF"/>
                </a:solidFill>
                <a:latin typeface="Aptos"/>
              </a:rPr>
              <a:t>作业标准未量化固化的影响程度</a:t>
            </a:r>
          </a:p>
        </p:txBody>
      </p:sp>
      <p:sp>
        <p:nvSpPr>
          <p:cNvPr id="12" name="Oval 11"/>
          <p:cNvSpPr/>
          <p:nvPr/>
        </p:nvSpPr>
        <p:spPr>
          <a:xfrm>
            <a:off x="4315967" y="2423160"/>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39" y="2331720"/>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原有检查缺少标准动作指引</a:t>
            </a:r>
          </a:p>
        </p:txBody>
      </p:sp>
      <p:sp>
        <p:nvSpPr>
          <p:cNvPr id="14" name="Oval 13"/>
          <p:cNvSpPr/>
          <p:nvPr/>
        </p:nvSpPr>
        <p:spPr>
          <a:xfrm>
            <a:off x="4315967" y="3264408"/>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39" y="3172968"/>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动作重复和顺序混乱形成无效耗时</a:t>
            </a:r>
          </a:p>
        </p:txBody>
      </p:sp>
      <p:sp>
        <p:nvSpPr>
          <p:cNvPr id="16" name="Oval 15"/>
          <p:cNvSpPr/>
          <p:nvPr/>
        </p:nvSpPr>
        <p:spPr>
          <a:xfrm>
            <a:off x="4315967" y="4105655"/>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63439" y="4014215"/>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标准化检查法配套操作图示和全员培训考核</a:t>
            </a:r>
          </a:p>
        </p:txBody>
      </p:sp>
      <p:sp>
        <p:nvSpPr>
          <p:cNvPr id="18" name="Rectangle 17"/>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通过优化检查顺序、上墙公示操作图示并开展培训考核，车内检查效率明显改善。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16</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非要因确认</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信息引导、车辆引流和场所防护不是当前主要矛盾</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项目坚持以数据判断优先级，避免将资源投入到非主要症结。</a:t>
            </a:r>
          </a:p>
        </p:txBody>
      </p:sp>
      <p:sp>
        <p:nvSpPr>
          <p:cNvPr id="9" name="Rounded Rectangle 8"/>
          <p:cNvSpPr/>
          <p:nvPr/>
        </p:nvSpPr>
        <p:spPr>
          <a:xfrm>
            <a:off x="786383" y="2240280"/>
            <a:ext cx="4983479" cy="288036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79" y="2532888"/>
            <a:ext cx="4297679" cy="402336"/>
          </a:xfrm>
          <a:prstGeom prst="rect">
            <a:avLst/>
          </a:prstGeom>
          <a:noFill/>
        </p:spPr>
        <p:txBody>
          <a:bodyPr wrap="square" lIns="36575" rIns="36575" tIns="18288" bIns="18288" anchor="ctr">
            <a:spAutoFit/>
          </a:bodyPr>
          <a:lstStyle/>
          <a:p>
            <a:pPr algn="l"/>
            <a:r>
              <a:rPr sz="1900" b="1">
                <a:solidFill>
                  <a:srgbClr val="1E1E1E"/>
                </a:solidFill>
                <a:latin typeface="Aptos"/>
              </a:rPr>
              <a:t>信息引导不足</a:t>
            </a:r>
          </a:p>
        </p:txBody>
      </p:sp>
      <p:sp>
        <p:nvSpPr>
          <p:cNvPr id="11" name="Rectangle 10"/>
          <p:cNvSpPr/>
          <p:nvPr/>
        </p:nvSpPr>
        <p:spPr>
          <a:xfrm>
            <a:off x="1115567" y="3264408"/>
            <a:ext cx="109727" cy="109728"/>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89887" y="3127248"/>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延误由0.2分钟降至0.05分钟</a:t>
            </a:r>
          </a:p>
        </p:txBody>
      </p:sp>
      <p:sp>
        <p:nvSpPr>
          <p:cNvPr id="13" name="Rectangle 12"/>
          <p:cNvSpPr/>
          <p:nvPr/>
        </p:nvSpPr>
        <p:spPr>
          <a:xfrm>
            <a:off x="1115567" y="3703320"/>
            <a:ext cx="109727" cy="109728"/>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89887" y="3566160"/>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影响程度8.15%</a:t>
            </a:r>
          </a:p>
        </p:txBody>
      </p:sp>
      <p:sp>
        <p:nvSpPr>
          <p:cNvPr id="15" name="Rounded Rectangle 14"/>
          <p:cNvSpPr/>
          <p:nvPr/>
        </p:nvSpPr>
        <p:spPr>
          <a:xfrm>
            <a:off x="6236207" y="2240280"/>
            <a:ext cx="4983479" cy="2880360"/>
          </a:xfrm>
          <a:prstGeom prst="roundRect">
            <a:avLst/>
          </a:prstGeom>
          <a:solidFill>
            <a:srgbClr val="D89A3D"/>
          </a:solidFill>
          <a:ln w="10160">
            <a:solidFill>
              <a:srgbClr val="D89A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47103" y="2532888"/>
            <a:ext cx="4297679" cy="402336"/>
          </a:xfrm>
          <a:prstGeom prst="rect">
            <a:avLst/>
          </a:prstGeom>
          <a:noFill/>
        </p:spPr>
        <p:txBody>
          <a:bodyPr wrap="square" lIns="36575" rIns="36575" tIns="18288" bIns="18288" anchor="ctr">
            <a:spAutoFit/>
          </a:bodyPr>
          <a:lstStyle/>
          <a:p>
            <a:pPr algn="l"/>
            <a:r>
              <a:rPr sz="1900" b="1">
                <a:solidFill>
                  <a:srgbClr val="1E1E1E"/>
                </a:solidFill>
                <a:latin typeface="Aptos"/>
              </a:rPr>
              <a:t>其他两个因素</a:t>
            </a:r>
          </a:p>
        </p:txBody>
      </p:sp>
      <p:sp>
        <p:nvSpPr>
          <p:cNvPr id="17" name="Rectangle 16"/>
          <p:cNvSpPr/>
          <p:nvPr/>
        </p:nvSpPr>
        <p:spPr>
          <a:xfrm>
            <a:off x="6565391" y="3264408"/>
            <a:ext cx="109727" cy="109728"/>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39711" y="3127248"/>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车辆引流影响程度2.17%</a:t>
            </a:r>
          </a:p>
        </p:txBody>
      </p:sp>
      <p:sp>
        <p:nvSpPr>
          <p:cNvPr id="19" name="Rectangle 18"/>
          <p:cNvSpPr/>
          <p:nvPr/>
        </p:nvSpPr>
        <p:spPr>
          <a:xfrm>
            <a:off x="6565391" y="3703320"/>
            <a:ext cx="109727" cy="109728"/>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1" y="3566160"/>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场所防护影响程度3.80%</a:t>
            </a:r>
          </a:p>
        </p:txBody>
      </p:sp>
      <p:sp>
        <p:nvSpPr>
          <p:cNvPr id="21" name="Rectangle 20"/>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项目坚持以数据判断优先级，避免将资源投入到非主要症结。</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17</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对策方向</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改善对策聚焦设备整合和检查流程优化两条主线</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对策设计坚持问题导向，围绕主要要因配置设备、流程和能力建设措施。</a:t>
            </a:r>
          </a:p>
        </p:txBody>
      </p:sp>
      <p:sp>
        <p:nvSpPr>
          <p:cNvPr id="9" name="TextBox 8"/>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6B6259"/>
                </a:solidFill>
                <a:latin typeface="Georgia"/>
              </a:rPr>
              <a:t>项目组针对车辆检查设施设备工具落后、作业标准未量化固化两个主要原因，开展方案评选，并从经济性、预计实施效果和耗时三个维度进行综合评价。</a:t>
            </a:r>
          </a:p>
        </p:txBody>
      </p:sp>
      <p:sp>
        <p:nvSpPr>
          <p:cNvPr id="10" name="Oval 9"/>
          <p:cNvSpPr/>
          <p:nvPr/>
        </p:nvSpPr>
        <p:spPr>
          <a:xfrm>
            <a:off x="877823" y="3182112"/>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整合车底扫描仪与车顶球机监控设备</a:t>
            </a:r>
          </a:p>
        </p:txBody>
      </p:sp>
      <p:sp>
        <p:nvSpPr>
          <p:cNvPr id="12" name="Oval 11"/>
          <p:cNvSpPr/>
          <p:nvPr/>
        </p:nvSpPr>
        <p:spPr>
          <a:xfrm>
            <a:off x="877823" y="3749039"/>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将车底扫描图片与车顶实时视频集中查看</a:t>
            </a:r>
          </a:p>
        </p:txBody>
      </p:sp>
      <p:sp>
        <p:nvSpPr>
          <p:cNvPr id="14" name="Oval 13"/>
          <p:cNvSpPr/>
          <p:nvPr/>
        </p:nvSpPr>
        <p:spPr>
          <a:xfrm>
            <a:off x="877823" y="4315968"/>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重新梳理并固化车辆检查流程</a:t>
            </a:r>
          </a:p>
        </p:txBody>
      </p:sp>
      <p:sp>
        <p:nvSpPr>
          <p:cNvPr id="16" name="Oval 15"/>
          <p:cNvSpPr/>
          <p:nvPr/>
        </p:nvSpPr>
        <p:spPr>
          <a:xfrm>
            <a:off x="877823" y="4882896"/>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2999" y="4773168"/>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配套人员操作技能培训和标准化考核</a:t>
            </a:r>
          </a:p>
        </p:txBody>
      </p:sp>
      <p:sp>
        <p:nvSpPr>
          <p:cNvPr id="18" name="Rounded Rectangle 17"/>
          <p:cNvSpPr/>
          <p:nvPr/>
        </p:nvSpPr>
        <p:spPr>
          <a:xfrm>
            <a:off x="7909559" y="2103119"/>
            <a:ext cx="3246119" cy="324612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1E1E1E"/>
                </a:solidFill>
                <a:latin typeface="Aptos Mono"/>
              </a:rPr>
              <a:t>对策方向 2条</a:t>
            </a:r>
          </a:p>
        </p:txBody>
      </p:sp>
      <p:sp>
        <p:nvSpPr>
          <p:cNvPr id="20" name="TextBox 19"/>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6B6259"/>
                </a:solidFill>
                <a:latin typeface="Aptos"/>
              </a:rPr>
              <a:t>重点内容 可继续编辑</a:t>
            </a:r>
          </a:p>
        </p:txBody>
      </p:sp>
      <p:sp>
        <p:nvSpPr>
          <p:cNvPr id="21" name="Rectangle 20"/>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对策设计坚持问题导向，围绕主要要因配置设备、流程和能力建设措施。</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18</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设备实施</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五个道口完成设备整合并接入统一信息系统</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设备配置和操作培训同步完成，车底与车顶检查信息实现集中呈现。</a:t>
            </a:r>
          </a:p>
        </p:txBody>
      </p:sp>
      <p:sp>
        <p:nvSpPr>
          <p:cNvPr id="9" name="Rectangle 8"/>
          <p:cNvSpPr/>
          <p:nvPr/>
        </p:nvSpPr>
        <p:spPr>
          <a:xfrm>
            <a:off x="1005839" y="3172968"/>
            <a:ext cx="9829799" cy="54864"/>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7" y="2916936"/>
            <a:ext cx="548639" cy="548640"/>
          </a:xfrm>
          <a:prstGeom prst="ellipse">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 y="2999232"/>
            <a:ext cx="548639" cy="274320"/>
          </a:xfrm>
          <a:prstGeom prst="rect">
            <a:avLst/>
          </a:prstGeom>
          <a:noFill/>
        </p:spPr>
        <p:txBody>
          <a:bodyPr wrap="square" lIns="36575" rIns="36575" tIns="18288" bIns="18288" anchor="ctr">
            <a:spAutoFit/>
          </a:bodyPr>
          <a:lstStyle/>
          <a:p>
            <a:pPr algn="ctr"/>
            <a:r>
              <a:rPr sz="1200" b="1">
                <a:solidFill>
                  <a:srgbClr val="FFFFFF"/>
                </a:solidFill>
                <a:latin typeface="Aptos Mono"/>
              </a:rPr>
              <a:t>01</a:t>
            </a:r>
          </a:p>
        </p:txBody>
      </p:sp>
      <p:sp>
        <p:nvSpPr>
          <p:cNvPr id="12" name="TextBox 11"/>
          <p:cNvSpPr txBox="1"/>
          <p:nvPr/>
        </p:nvSpPr>
        <p:spPr>
          <a:xfrm>
            <a:off x="52120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设备配置</a:t>
            </a:r>
          </a:p>
        </p:txBody>
      </p:sp>
      <p:sp>
        <p:nvSpPr>
          <p:cNvPr id="13" name="TextBox 12"/>
          <p:cNvSpPr txBox="1"/>
          <p:nvPr/>
        </p:nvSpPr>
        <p:spPr>
          <a:xfrm>
            <a:off x="15544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配备车顶检查镜，整合车底扫描仪与车顶球机监控设备。</a:t>
            </a:r>
          </a:p>
        </p:txBody>
      </p:sp>
      <p:sp>
        <p:nvSpPr>
          <p:cNvPr id="14" name="Oval 13"/>
          <p:cNvSpPr/>
          <p:nvPr/>
        </p:nvSpPr>
        <p:spPr>
          <a:xfrm>
            <a:off x="3344417" y="2916936"/>
            <a:ext cx="548639" cy="548640"/>
          </a:xfrm>
          <a:prstGeom prst="ellipse">
            <a:avLst/>
          </a:prstGeom>
          <a:solidFill>
            <a:srgbClr val="F5F1EA"/>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44417" y="2999232"/>
            <a:ext cx="548639" cy="274320"/>
          </a:xfrm>
          <a:prstGeom prst="rect">
            <a:avLst/>
          </a:prstGeom>
          <a:noFill/>
        </p:spPr>
        <p:txBody>
          <a:bodyPr wrap="square" lIns="36575" rIns="36575" tIns="18288" bIns="18288" anchor="ctr">
            <a:spAutoFit/>
          </a:bodyPr>
          <a:lstStyle/>
          <a:p>
            <a:pPr algn="ctr"/>
            <a:r>
              <a:rPr sz="1200" b="1">
                <a:solidFill>
                  <a:srgbClr val="1E1E1E"/>
                </a:solidFill>
                <a:latin typeface="Aptos Mono"/>
              </a:rPr>
              <a:t>02</a:t>
            </a:r>
          </a:p>
        </p:txBody>
      </p:sp>
      <p:sp>
        <p:nvSpPr>
          <p:cNvPr id="16" name="TextBox 15"/>
          <p:cNvSpPr txBox="1"/>
          <p:nvPr/>
        </p:nvSpPr>
        <p:spPr>
          <a:xfrm>
            <a:off x="302437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系统接入</a:t>
            </a:r>
          </a:p>
        </p:txBody>
      </p:sp>
      <p:sp>
        <p:nvSpPr>
          <p:cNvPr id="17" name="TextBox 16"/>
          <p:cNvSpPr txBox="1"/>
          <p:nvPr/>
        </p:nvSpPr>
        <p:spPr>
          <a:xfrm>
            <a:off x="265861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将设备接入统一信息系统。</a:t>
            </a:r>
          </a:p>
        </p:txBody>
      </p:sp>
      <p:sp>
        <p:nvSpPr>
          <p:cNvPr id="18" name="Oval 17"/>
          <p:cNvSpPr/>
          <p:nvPr/>
        </p:nvSpPr>
        <p:spPr>
          <a:xfrm>
            <a:off x="5847587" y="2916936"/>
            <a:ext cx="548639" cy="548640"/>
          </a:xfrm>
          <a:prstGeom prst="ellipse">
            <a:avLst/>
          </a:prstGeom>
          <a:solidFill>
            <a:srgbClr val="F5F1EA"/>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47587" y="2999232"/>
            <a:ext cx="548639" cy="274320"/>
          </a:xfrm>
          <a:prstGeom prst="rect">
            <a:avLst/>
          </a:prstGeom>
          <a:noFill/>
        </p:spPr>
        <p:txBody>
          <a:bodyPr wrap="square" lIns="36575" rIns="36575" tIns="18288" bIns="18288" anchor="ctr">
            <a:spAutoFit/>
          </a:bodyPr>
          <a:lstStyle/>
          <a:p>
            <a:pPr algn="ctr"/>
            <a:r>
              <a:rPr sz="1200" b="1">
                <a:solidFill>
                  <a:srgbClr val="1E1E1E"/>
                </a:solidFill>
                <a:latin typeface="Aptos Mono"/>
              </a:rPr>
              <a:t>03</a:t>
            </a:r>
          </a:p>
        </p:txBody>
      </p:sp>
      <p:sp>
        <p:nvSpPr>
          <p:cNvPr id="20" name="TextBox 19"/>
          <p:cNvSpPr txBox="1"/>
          <p:nvPr/>
        </p:nvSpPr>
        <p:spPr>
          <a:xfrm>
            <a:off x="552754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集中查看</a:t>
            </a:r>
          </a:p>
        </p:txBody>
      </p:sp>
      <p:sp>
        <p:nvSpPr>
          <p:cNvPr id="21" name="TextBox 20"/>
          <p:cNvSpPr txBox="1"/>
          <p:nvPr/>
        </p:nvSpPr>
        <p:spPr>
          <a:xfrm>
            <a:off x="516178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车底扫描图片和车顶实时视频集中在单块屏幕同步查看。</a:t>
            </a:r>
          </a:p>
        </p:txBody>
      </p:sp>
      <p:sp>
        <p:nvSpPr>
          <p:cNvPr id="22" name="Oval 21"/>
          <p:cNvSpPr/>
          <p:nvPr/>
        </p:nvSpPr>
        <p:spPr>
          <a:xfrm>
            <a:off x="8350757" y="2916936"/>
            <a:ext cx="548639" cy="548640"/>
          </a:xfrm>
          <a:prstGeom prst="ellipse">
            <a:avLst/>
          </a:prstGeom>
          <a:solidFill>
            <a:srgbClr val="F5F1EA"/>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50757" y="2999232"/>
            <a:ext cx="548639" cy="274320"/>
          </a:xfrm>
          <a:prstGeom prst="rect">
            <a:avLst/>
          </a:prstGeom>
          <a:noFill/>
        </p:spPr>
        <p:txBody>
          <a:bodyPr wrap="square" lIns="36575" rIns="36575" tIns="18288" bIns="18288" anchor="ctr">
            <a:spAutoFit/>
          </a:bodyPr>
          <a:lstStyle/>
          <a:p>
            <a:pPr algn="ctr"/>
            <a:r>
              <a:rPr sz="1200" b="1">
                <a:solidFill>
                  <a:srgbClr val="1E1E1E"/>
                </a:solidFill>
                <a:latin typeface="Aptos Mono"/>
              </a:rPr>
              <a:t>04</a:t>
            </a:r>
          </a:p>
        </p:txBody>
      </p:sp>
      <p:sp>
        <p:nvSpPr>
          <p:cNvPr id="24" name="TextBox 23"/>
          <p:cNvSpPr txBox="1"/>
          <p:nvPr/>
        </p:nvSpPr>
        <p:spPr>
          <a:xfrm>
            <a:off x="803071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能力培训</a:t>
            </a:r>
          </a:p>
        </p:txBody>
      </p:sp>
      <p:sp>
        <p:nvSpPr>
          <p:cNvPr id="25" name="TextBox 24"/>
          <p:cNvSpPr txBox="1"/>
          <p:nvPr/>
        </p:nvSpPr>
        <p:spPr>
          <a:xfrm>
            <a:off x="766495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开展人员操作技能培训。</a:t>
            </a:r>
          </a:p>
        </p:txBody>
      </p:sp>
      <p:sp>
        <p:nvSpPr>
          <p:cNvPr id="26" name="Oval 25"/>
          <p:cNvSpPr/>
          <p:nvPr/>
        </p:nvSpPr>
        <p:spPr>
          <a:xfrm>
            <a:off x="10853927" y="2916936"/>
            <a:ext cx="548639" cy="548640"/>
          </a:xfrm>
          <a:prstGeom prst="ellipse">
            <a:avLst/>
          </a:prstGeom>
          <a:solidFill>
            <a:srgbClr val="F5F1EA"/>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53927" y="2999232"/>
            <a:ext cx="548639" cy="274320"/>
          </a:xfrm>
          <a:prstGeom prst="rect">
            <a:avLst/>
          </a:prstGeom>
          <a:noFill/>
        </p:spPr>
        <p:txBody>
          <a:bodyPr wrap="square" lIns="36575" rIns="36575" tIns="18288" bIns="18288" anchor="ctr">
            <a:spAutoFit/>
          </a:bodyPr>
          <a:lstStyle/>
          <a:p>
            <a:pPr algn="ctr"/>
            <a:r>
              <a:rPr sz="1200" b="1">
                <a:solidFill>
                  <a:srgbClr val="1E1E1E"/>
                </a:solidFill>
                <a:latin typeface="Aptos Mono"/>
              </a:rPr>
              <a:t>05</a:t>
            </a:r>
          </a:p>
        </p:txBody>
      </p:sp>
      <p:sp>
        <p:nvSpPr>
          <p:cNvPr id="28" name="TextBox 27"/>
          <p:cNvSpPr txBox="1"/>
          <p:nvPr/>
        </p:nvSpPr>
        <p:spPr>
          <a:xfrm>
            <a:off x="1053388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效果验证</a:t>
            </a:r>
          </a:p>
        </p:txBody>
      </p:sp>
      <p:sp>
        <p:nvSpPr>
          <p:cNvPr id="29" name="TextBox 28"/>
          <p:cNvSpPr txBox="1"/>
          <p:nvPr/>
        </p:nvSpPr>
        <p:spPr>
          <a:xfrm>
            <a:off x="1016812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设备整合后单车车辆检查时间平均缩短0.76分钟。</a:t>
            </a:r>
          </a:p>
        </p:txBody>
      </p:sp>
      <p:sp>
        <p:nvSpPr>
          <p:cNvPr id="30" name="Rectangle 29"/>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设备配置和操作培训同步完成，车底与车顶检查信息实现集中呈现。</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19</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设备对策</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集中查看改变了车底、车顶检查的作业方式</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设备整合减少了分散查看和重复操作，为检查流程提效提供技术支撑。</a:t>
            </a:r>
          </a:p>
        </p:txBody>
      </p:sp>
      <p:sp>
        <p:nvSpPr>
          <p:cNvPr id="9" name="TextBox 8"/>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6B6259"/>
                </a:solidFill>
                <a:latin typeface="Georgia"/>
              </a:rPr>
              <a:t>五个道口均完成车底扫描仪与车顶球机监控设备整合，统一接入信息系统，车底扫描图片和车顶实时视频在单块屏幕同步查看，并完成操作技能培训。</a:t>
            </a:r>
          </a:p>
        </p:txBody>
      </p:sp>
      <p:sp>
        <p:nvSpPr>
          <p:cNvPr id="10" name="Oval 9"/>
          <p:cNvSpPr/>
          <p:nvPr/>
        </p:nvSpPr>
        <p:spPr>
          <a:xfrm>
            <a:off x="877823" y="3182112"/>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由传统车底、车顶检查方法切换为监控设备后台检查</a:t>
            </a:r>
          </a:p>
        </p:txBody>
      </p:sp>
      <p:sp>
        <p:nvSpPr>
          <p:cNvPr id="12" name="Oval 11"/>
          <p:cNvSpPr/>
          <p:nvPr/>
        </p:nvSpPr>
        <p:spPr>
          <a:xfrm>
            <a:off x="877823" y="3749039"/>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减少设备之间切换和信息分散查看</a:t>
            </a:r>
          </a:p>
        </p:txBody>
      </p:sp>
      <p:sp>
        <p:nvSpPr>
          <p:cNvPr id="14" name="Oval 13"/>
          <p:cNvSpPr/>
          <p:nvPr/>
        </p:nvSpPr>
        <p:spPr>
          <a:xfrm>
            <a:off x="877823" y="4315968"/>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设备方案已符合实施目标</a:t>
            </a:r>
          </a:p>
        </p:txBody>
      </p:sp>
      <p:sp>
        <p:nvSpPr>
          <p:cNvPr id="16" name="Oval 15"/>
          <p:cNvSpPr/>
          <p:nvPr/>
        </p:nvSpPr>
        <p:spPr>
          <a:xfrm>
            <a:off x="877823" y="4882896"/>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2999" y="4773168"/>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单车车辆检查时间平均缩短0.76分钟</a:t>
            </a:r>
          </a:p>
        </p:txBody>
      </p:sp>
      <p:sp>
        <p:nvSpPr>
          <p:cNvPr id="18" name="Rounded Rectangle 17"/>
          <p:cNvSpPr/>
          <p:nvPr/>
        </p:nvSpPr>
        <p:spPr>
          <a:xfrm>
            <a:off x="7909559" y="2103119"/>
            <a:ext cx="3246119" cy="324612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1E1E1E"/>
                </a:solidFill>
                <a:latin typeface="Aptos Mono"/>
              </a:rPr>
              <a:t>设备对策 0.76分钟</a:t>
            </a:r>
          </a:p>
        </p:txBody>
      </p:sp>
      <p:sp>
        <p:nvSpPr>
          <p:cNvPr id="20" name="TextBox 19"/>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6B6259"/>
                </a:solidFill>
                <a:latin typeface="Aptos"/>
              </a:rPr>
              <a:t>重点内容 可继续编辑</a:t>
            </a:r>
          </a:p>
        </p:txBody>
      </p:sp>
      <p:sp>
        <p:nvSpPr>
          <p:cNvPr id="21" name="Rectangle 20"/>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设备整合减少了分散查看和重复操作，为检查流程提效提供技术支撑。</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20</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流程优化</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车辆检查流程通过路径重排减少无效走动</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流程优化将检查动作从个人习惯转变为统一、清晰、可执行的标准动作。</a:t>
            </a:r>
          </a:p>
        </p:txBody>
      </p:sp>
      <p:sp>
        <p:nvSpPr>
          <p:cNvPr id="9" name="TextBox 8"/>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6B6259"/>
                </a:solidFill>
                <a:latin typeface="Georgia"/>
              </a:rPr>
              <a:t>项目重新梳理并固化车辆检查流程，推行车内检查口诀“由里向外、由上至下、由前至后”，并优化原有主驾驶检查方法。</a:t>
            </a:r>
          </a:p>
        </p:txBody>
      </p:sp>
      <p:sp>
        <p:nvSpPr>
          <p:cNvPr id="10" name="Oval 9"/>
          <p:cNvSpPr/>
          <p:nvPr/>
        </p:nvSpPr>
        <p:spPr>
          <a:xfrm>
            <a:off x="877823" y="3182112"/>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车顶、车底检查结束后，车检员由副驾驶室直接开展检查</a:t>
            </a:r>
          </a:p>
        </p:txBody>
      </p:sp>
      <p:sp>
        <p:nvSpPr>
          <p:cNvPr id="12" name="Oval 11"/>
          <p:cNvSpPr/>
          <p:nvPr/>
        </p:nvSpPr>
        <p:spPr>
          <a:xfrm>
            <a:off x="877823" y="3749039"/>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优化原来从主驾驶开始的检查方法</a:t>
            </a:r>
          </a:p>
        </p:txBody>
      </p:sp>
      <p:sp>
        <p:nvSpPr>
          <p:cNvPr id="14" name="Oval 13"/>
          <p:cNvSpPr/>
          <p:nvPr/>
        </p:nvSpPr>
        <p:spPr>
          <a:xfrm>
            <a:off x="877823" y="4315968"/>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减少车辆检查过程中的无效走动</a:t>
            </a:r>
          </a:p>
        </p:txBody>
      </p:sp>
      <p:sp>
        <p:nvSpPr>
          <p:cNvPr id="16" name="Oval 15"/>
          <p:cNvSpPr/>
          <p:nvPr/>
        </p:nvSpPr>
        <p:spPr>
          <a:xfrm>
            <a:off x="877823" y="4882896"/>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2999" y="4773168"/>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车内检查按固定起点和顺序实施</a:t>
            </a:r>
          </a:p>
        </p:txBody>
      </p:sp>
      <p:sp>
        <p:nvSpPr>
          <p:cNvPr id="18" name="Rounded Rectangle 17"/>
          <p:cNvSpPr/>
          <p:nvPr/>
        </p:nvSpPr>
        <p:spPr>
          <a:xfrm>
            <a:off x="7909559" y="2103119"/>
            <a:ext cx="3246119" cy="324612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1E1E1E"/>
                </a:solidFill>
                <a:latin typeface="Aptos Mono"/>
              </a:rPr>
              <a:t>流程优化 0.95分钟</a:t>
            </a:r>
          </a:p>
        </p:txBody>
      </p:sp>
      <p:sp>
        <p:nvSpPr>
          <p:cNvPr id="20" name="TextBox 19"/>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6B6259"/>
                </a:solidFill>
                <a:latin typeface="Aptos"/>
              </a:rPr>
              <a:t>重点内容 可继续编辑</a:t>
            </a:r>
          </a:p>
        </p:txBody>
      </p:sp>
      <p:sp>
        <p:nvSpPr>
          <p:cNvPr id="21" name="Rectangle 20"/>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流程优化将检查动作从个人习惯转变为统一、清晰、可执行的标准动作。</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21</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标准动作</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车内检查形成统一的空间和方向顺序</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通过固定起点、方向和结束位置，检查人员能够按同一逻辑完成车内检查。</a:t>
            </a:r>
          </a:p>
        </p:txBody>
      </p:sp>
      <p:sp>
        <p:nvSpPr>
          <p:cNvPr id="9" name="Rectangle 8"/>
          <p:cNvSpPr/>
          <p:nvPr/>
        </p:nvSpPr>
        <p:spPr>
          <a:xfrm>
            <a:off x="1005839" y="3172968"/>
            <a:ext cx="9829799" cy="54864"/>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7" y="2916936"/>
            <a:ext cx="548639" cy="548640"/>
          </a:xfrm>
          <a:prstGeom prst="ellipse">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 y="2999232"/>
            <a:ext cx="548639" cy="274320"/>
          </a:xfrm>
          <a:prstGeom prst="rect">
            <a:avLst/>
          </a:prstGeom>
          <a:noFill/>
        </p:spPr>
        <p:txBody>
          <a:bodyPr wrap="square" lIns="36575" rIns="36575" tIns="18288" bIns="18288" anchor="ctr">
            <a:spAutoFit/>
          </a:bodyPr>
          <a:lstStyle/>
          <a:p>
            <a:pPr algn="ctr"/>
            <a:r>
              <a:rPr sz="1200" b="1">
                <a:solidFill>
                  <a:srgbClr val="FFFFFF"/>
                </a:solidFill>
                <a:latin typeface="Aptos Mono"/>
              </a:rPr>
              <a:t>01</a:t>
            </a:r>
          </a:p>
        </p:txBody>
      </p:sp>
      <p:sp>
        <p:nvSpPr>
          <p:cNvPr id="12" name="TextBox 11"/>
          <p:cNvSpPr txBox="1"/>
          <p:nvPr/>
        </p:nvSpPr>
        <p:spPr>
          <a:xfrm>
            <a:off x="52120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固定起点</a:t>
            </a:r>
          </a:p>
        </p:txBody>
      </p:sp>
      <p:sp>
        <p:nvSpPr>
          <p:cNvPr id="13" name="TextBox 12"/>
          <p:cNvSpPr txBox="1"/>
          <p:nvPr/>
        </p:nvSpPr>
        <p:spPr>
          <a:xfrm>
            <a:off x="15544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以车内后视镜为起始点。</a:t>
            </a:r>
          </a:p>
        </p:txBody>
      </p:sp>
      <p:sp>
        <p:nvSpPr>
          <p:cNvPr id="14" name="Oval 13"/>
          <p:cNvSpPr/>
          <p:nvPr/>
        </p:nvSpPr>
        <p:spPr>
          <a:xfrm>
            <a:off x="3344417" y="2916936"/>
            <a:ext cx="548639" cy="548640"/>
          </a:xfrm>
          <a:prstGeom prst="ellipse">
            <a:avLst/>
          </a:prstGeom>
          <a:solidFill>
            <a:srgbClr val="F5F1EA"/>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44417" y="2999232"/>
            <a:ext cx="548639" cy="274320"/>
          </a:xfrm>
          <a:prstGeom prst="rect">
            <a:avLst/>
          </a:prstGeom>
          <a:noFill/>
        </p:spPr>
        <p:txBody>
          <a:bodyPr wrap="square" lIns="36575" rIns="36575" tIns="18288" bIns="18288" anchor="ctr">
            <a:spAutoFit/>
          </a:bodyPr>
          <a:lstStyle/>
          <a:p>
            <a:pPr algn="ctr"/>
            <a:r>
              <a:rPr sz="1200" b="1">
                <a:solidFill>
                  <a:srgbClr val="1E1E1E"/>
                </a:solidFill>
                <a:latin typeface="Aptos Mono"/>
              </a:rPr>
              <a:t>02</a:t>
            </a:r>
          </a:p>
        </p:txBody>
      </p:sp>
      <p:sp>
        <p:nvSpPr>
          <p:cNvPr id="16" name="TextBox 15"/>
          <p:cNvSpPr txBox="1"/>
          <p:nvPr/>
        </p:nvSpPr>
        <p:spPr>
          <a:xfrm>
            <a:off x="302437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向内展开</a:t>
            </a:r>
          </a:p>
        </p:txBody>
      </p:sp>
      <p:sp>
        <p:nvSpPr>
          <p:cNvPr id="17" name="TextBox 16"/>
          <p:cNvSpPr txBox="1"/>
          <p:nvPr/>
        </p:nvSpPr>
        <p:spPr>
          <a:xfrm>
            <a:off x="265861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逐步向扶手箱区域检查。</a:t>
            </a:r>
          </a:p>
        </p:txBody>
      </p:sp>
      <p:sp>
        <p:nvSpPr>
          <p:cNvPr id="18" name="Oval 17"/>
          <p:cNvSpPr/>
          <p:nvPr/>
        </p:nvSpPr>
        <p:spPr>
          <a:xfrm>
            <a:off x="5847587" y="2916936"/>
            <a:ext cx="548639" cy="548640"/>
          </a:xfrm>
          <a:prstGeom prst="ellipse">
            <a:avLst/>
          </a:prstGeom>
          <a:solidFill>
            <a:srgbClr val="F5F1EA"/>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47587" y="2999232"/>
            <a:ext cx="548639" cy="274320"/>
          </a:xfrm>
          <a:prstGeom prst="rect">
            <a:avLst/>
          </a:prstGeom>
          <a:noFill/>
        </p:spPr>
        <p:txBody>
          <a:bodyPr wrap="square" lIns="36575" rIns="36575" tIns="18288" bIns="18288" anchor="ctr">
            <a:spAutoFit/>
          </a:bodyPr>
          <a:lstStyle/>
          <a:p>
            <a:pPr algn="ctr"/>
            <a:r>
              <a:rPr sz="1200" b="1">
                <a:solidFill>
                  <a:srgbClr val="1E1E1E"/>
                </a:solidFill>
                <a:latin typeface="Aptos Mono"/>
              </a:rPr>
              <a:t>03</a:t>
            </a:r>
          </a:p>
        </p:txBody>
      </p:sp>
      <p:sp>
        <p:nvSpPr>
          <p:cNvPr id="20" name="TextBox 19"/>
          <p:cNvSpPr txBox="1"/>
          <p:nvPr/>
        </p:nvSpPr>
        <p:spPr>
          <a:xfrm>
            <a:off x="552754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中间区域完成</a:t>
            </a:r>
          </a:p>
        </p:txBody>
      </p:sp>
      <p:sp>
        <p:nvSpPr>
          <p:cNvPr id="21" name="TextBox 20"/>
          <p:cNvSpPr txBox="1"/>
          <p:nvPr/>
        </p:nvSpPr>
        <p:spPr>
          <a:xfrm>
            <a:off x="516178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先完成中间区域查验。</a:t>
            </a:r>
          </a:p>
        </p:txBody>
      </p:sp>
      <p:sp>
        <p:nvSpPr>
          <p:cNvPr id="22" name="Oval 21"/>
          <p:cNvSpPr/>
          <p:nvPr/>
        </p:nvSpPr>
        <p:spPr>
          <a:xfrm>
            <a:off x="8350757" y="2916936"/>
            <a:ext cx="548639" cy="548640"/>
          </a:xfrm>
          <a:prstGeom prst="ellipse">
            <a:avLst/>
          </a:prstGeom>
          <a:solidFill>
            <a:srgbClr val="F5F1EA"/>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50757" y="2999232"/>
            <a:ext cx="548639" cy="274320"/>
          </a:xfrm>
          <a:prstGeom prst="rect">
            <a:avLst/>
          </a:prstGeom>
          <a:noFill/>
        </p:spPr>
        <p:txBody>
          <a:bodyPr wrap="square" lIns="36575" rIns="36575" tIns="18288" bIns="18288" anchor="ctr">
            <a:spAutoFit/>
          </a:bodyPr>
          <a:lstStyle/>
          <a:p>
            <a:pPr algn="ctr"/>
            <a:r>
              <a:rPr sz="1200" b="1">
                <a:solidFill>
                  <a:srgbClr val="1E1E1E"/>
                </a:solidFill>
                <a:latin typeface="Aptos Mono"/>
              </a:rPr>
              <a:t>04</a:t>
            </a:r>
          </a:p>
        </p:txBody>
      </p:sp>
      <p:sp>
        <p:nvSpPr>
          <p:cNvPr id="24" name="TextBox 23"/>
          <p:cNvSpPr txBox="1"/>
          <p:nvPr/>
        </p:nvSpPr>
        <p:spPr>
          <a:xfrm>
            <a:off x="803071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副驾驶区域</a:t>
            </a:r>
          </a:p>
        </p:txBody>
      </p:sp>
      <p:sp>
        <p:nvSpPr>
          <p:cNvPr id="25" name="TextBox 24"/>
          <p:cNvSpPr txBox="1"/>
          <p:nvPr/>
        </p:nvSpPr>
        <p:spPr>
          <a:xfrm>
            <a:off x="766495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遵循由上至下顺序核查。</a:t>
            </a:r>
          </a:p>
        </p:txBody>
      </p:sp>
      <p:sp>
        <p:nvSpPr>
          <p:cNvPr id="26" name="Oval 25"/>
          <p:cNvSpPr/>
          <p:nvPr/>
        </p:nvSpPr>
        <p:spPr>
          <a:xfrm>
            <a:off x="10853927" y="2916936"/>
            <a:ext cx="548639" cy="548640"/>
          </a:xfrm>
          <a:prstGeom prst="ellipse">
            <a:avLst/>
          </a:prstGeom>
          <a:solidFill>
            <a:srgbClr val="F5F1EA"/>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53927" y="2999232"/>
            <a:ext cx="548639" cy="274320"/>
          </a:xfrm>
          <a:prstGeom prst="rect">
            <a:avLst/>
          </a:prstGeom>
          <a:noFill/>
        </p:spPr>
        <p:txBody>
          <a:bodyPr wrap="square" lIns="36575" rIns="36575" tIns="18288" bIns="18288" anchor="ctr">
            <a:spAutoFit/>
          </a:bodyPr>
          <a:lstStyle/>
          <a:p>
            <a:pPr algn="ctr"/>
            <a:r>
              <a:rPr sz="1200" b="1">
                <a:solidFill>
                  <a:srgbClr val="1E1E1E"/>
                </a:solidFill>
                <a:latin typeface="Aptos Mono"/>
              </a:rPr>
              <a:t>05</a:t>
            </a:r>
          </a:p>
        </p:txBody>
      </p:sp>
      <p:sp>
        <p:nvSpPr>
          <p:cNvPr id="28" name="TextBox 27"/>
          <p:cNvSpPr txBox="1"/>
          <p:nvPr/>
        </p:nvSpPr>
        <p:spPr>
          <a:xfrm>
            <a:off x="1053388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结束检查</a:t>
            </a:r>
          </a:p>
        </p:txBody>
      </p:sp>
      <p:sp>
        <p:nvSpPr>
          <p:cNvPr id="29" name="TextBox 28"/>
          <p:cNvSpPr txBox="1"/>
          <p:nvPr/>
        </p:nvSpPr>
        <p:spPr>
          <a:xfrm>
            <a:off x="1016812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最后完成车门检查。</a:t>
            </a:r>
          </a:p>
        </p:txBody>
      </p:sp>
      <p:sp>
        <p:nvSpPr>
          <p:cNvPr id="30" name="Rectangle 29"/>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通过固定起点、方向和结束位置，检查人员能够按同一逻辑完成车内检查。</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22</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标准固化</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操作图示、培训考核和作业手册共同保障执行一致</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项目将优化后的方法固化为可视化、可培训、可检查的作业要求。</a:t>
            </a:r>
          </a:p>
        </p:txBody>
      </p:sp>
      <p:sp>
        <p:nvSpPr>
          <p:cNvPr id="9" name="TextBox 8"/>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6B6259"/>
                </a:solidFill>
                <a:latin typeface="Georgia"/>
              </a:rPr>
              <a:t>在推行标准化检查法的同时，项目组对操作方法进行优化，上墙公示操作图示，并开展全员培训考核，确保新流程能够稳定执行。</a:t>
            </a:r>
          </a:p>
        </p:txBody>
      </p:sp>
      <p:sp>
        <p:nvSpPr>
          <p:cNvPr id="10" name="Oval 9"/>
          <p:cNvSpPr/>
          <p:nvPr/>
        </p:nvSpPr>
        <p:spPr>
          <a:xfrm>
            <a:off x="877823" y="3182112"/>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优化原有主驾驶检查方法</a:t>
            </a:r>
          </a:p>
        </p:txBody>
      </p:sp>
      <p:sp>
        <p:nvSpPr>
          <p:cNvPr id="12" name="Oval 11"/>
          <p:cNvSpPr/>
          <p:nvPr/>
        </p:nvSpPr>
        <p:spPr>
          <a:xfrm>
            <a:off x="877823" y="3749039"/>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形成车内检查口诀</a:t>
            </a:r>
          </a:p>
        </p:txBody>
      </p:sp>
      <p:sp>
        <p:nvSpPr>
          <p:cNvPr id="14" name="Oval 13"/>
          <p:cNvSpPr/>
          <p:nvPr/>
        </p:nvSpPr>
        <p:spPr>
          <a:xfrm>
            <a:off x="877823" y="4315968"/>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操作图示上墙公示</a:t>
            </a:r>
          </a:p>
        </p:txBody>
      </p:sp>
      <p:sp>
        <p:nvSpPr>
          <p:cNvPr id="16" name="Oval 15"/>
          <p:cNvSpPr/>
          <p:nvPr/>
        </p:nvSpPr>
        <p:spPr>
          <a:xfrm>
            <a:off x="877823" y="4882896"/>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2999" y="4773168"/>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开展全员培训考核</a:t>
            </a:r>
          </a:p>
        </p:txBody>
      </p:sp>
      <p:sp>
        <p:nvSpPr>
          <p:cNvPr id="18" name="Rounded Rectangle 17"/>
          <p:cNvSpPr/>
          <p:nvPr/>
        </p:nvSpPr>
        <p:spPr>
          <a:xfrm>
            <a:off x="7909559" y="2103119"/>
            <a:ext cx="3246119" cy="324612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1E1E1E"/>
                </a:solidFill>
                <a:latin typeface="Aptos Mono"/>
              </a:rPr>
              <a:t>标准固化 20%</a:t>
            </a:r>
          </a:p>
        </p:txBody>
      </p:sp>
      <p:sp>
        <p:nvSpPr>
          <p:cNvPr id="20" name="TextBox 19"/>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6B6259"/>
                </a:solidFill>
                <a:latin typeface="Aptos"/>
              </a:rPr>
              <a:t>重点内容 可继续编辑</a:t>
            </a:r>
          </a:p>
        </p:txBody>
      </p:sp>
      <p:sp>
        <p:nvSpPr>
          <p:cNvPr id="21" name="Rectangle 20"/>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项目将优化后的方法固化为可视化、可培训、可检查的作业要求。</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23</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阶段效果</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两项对策合计贡献1.71分钟时间缩短</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技术手段减少检查切换，标准流程减少无效动作，两项对策共同支撑目标达成。</a:t>
            </a:r>
          </a:p>
        </p:txBody>
      </p:sp>
      <p:sp>
        <p:nvSpPr>
          <p:cNvPr id="9" name="Rounded Rectangle 8"/>
          <p:cNvSpPr/>
          <p:nvPr/>
        </p:nvSpPr>
        <p:spPr>
          <a:xfrm>
            <a:off x="777239" y="2212848"/>
            <a:ext cx="2971799" cy="242316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1" y="2514600"/>
            <a:ext cx="2331719" cy="868680"/>
          </a:xfrm>
          <a:prstGeom prst="rect">
            <a:avLst/>
          </a:prstGeom>
          <a:noFill/>
        </p:spPr>
        <p:txBody>
          <a:bodyPr wrap="square" lIns="36575" rIns="36575" tIns="18288" bIns="18288" anchor="ctr">
            <a:spAutoFit/>
          </a:bodyPr>
          <a:lstStyle/>
          <a:p>
            <a:pPr algn="ctr"/>
            <a:r>
              <a:rPr sz="4400" b="1">
                <a:solidFill>
                  <a:srgbClr val="FFFFFF"/>
                </a:solidFill>
                <a:latin typeface="Aptos"/>
              </a:rPr>
              <a:t>1.71分钟</a:t>
            </a:r>
          </a:p>
        </p:txBody>
      </p:sp>
      <p:sp>
        <p:nvSpPr>
          <p:cNvPr id="11" name="TextBox 10"/>
          <p:cNvSpPr txBox="1"/>
          <p:nvPr/>
        </p:nvSpPr>
        <p:spPr>
          <a:xfrm>
            <a:off x="1051559" y="3547872"/>
            <a:ext cx="2377439" cy="411480"/>
          </a:xfrm>
          <a:prstGeom prst="rect">
            <a:avLst/>
          </a:prstGeom>
          <a:noFill/>
        </p:spPr>
        <p:txBody>
          <a:bodyPr wrap="square" lIns="36575" rIns="36575" tIns="18288" bIns="18288" anchor="ctr">
            <a:spAutoFit/>
          </a:bodyPr>
          <a:lstStyle/>
          <a:p>
            <a:pPr algn="ctr"/>
            <a:r>
              <a:rPr sz="1400" b="0">
                <a:solidFill>
                  <a:srgbClr val="FFFFFF"/>
                </a:solidFill>
                <a:latin typeface="Aptos"/>
              </a:rPr>
              <a:t>两项对策记录的时间缩短合计</a:t>
            </a:r>
          </a:p>
        </p:txBody>
      </p:sp>
      <p:sp>
        <p:nvSpPr>
          <p:cNvPr id="12" name="Oval 11"/>
          <p:cNvSpPr/>
          <p:nvPr/>
        </p:nvSpPr>
        <p:spPr>
          <a:xfrm>
            <a:off x="4315967" y="2423160"/>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39" y="2331720"/>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设备整合：平均缩短0.76分钟</a:t>
            </a:r>
          </a:p>
        </p:txBody>
      </p:sp>
      <p:sp>
        <p:nvSpPr>
          <p:cNvPr id="14" name="Oval 13"/>
          <p:cNvSpPr/>
          <p:nvPr/>
        </p:nvSpPr>
        <p:spPr>
          <a:xfrm>
            <a:off x="4315967" y="3264408"/>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39" y="3172968"/>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流程优化：平均缩短0.95分钟</a:t>
            </a:r>
          </a:p>
        </p:txBody>
      </p:sp>
      <p:sp>
        <p:nvSpPr>
          <p:cNvPr id="16" name="Oval 15"/>
          <p:cNvSpPr/>
          <p:nvPr/>
        </p:nvSpPr>
        <p:spPr>
          <a:xfrm>
            <a:off x="4315967" y="4105655"/>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63439" y="4014215"/>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两项措施均已符合实施目标</a:t>
            </a:r>
          </a:p>
        </p:txBody>
      </p:sp>
      <p:sp>
        <p:nvSpPr>
          <p:cNvPr id="18" name="Rectangle 17"/>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技术手段减少检查切换，标准流程减少无效动作，两项对策共同支撑目标达成。</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24</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效果验证</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改进后单车平均检查时长达到3.82分钟</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项目在与现状调查相同的时段口径下完成效果验证，核心目标正式达成。</a:t>
            </a:r>
          </a:p>
        </p:txBody>
      </p:sp>
      <p:sp>
        <p:nvSpPr>
          <p:cNvPr id="9" name="TextBox 8"/>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6B6259"/>
                </a:solidFill>
                <a:latin typeface="Georgia"/>
              </a:rPr>
              <a:t>对策实施完成后，项目组采集2026年3月至6月效果数据，选取与现状调查相同的时间段进行前后对比。</a:t>
            </a:r>
          </a:p>
        </p:txBody>
      </p:sp>
      <p:sp>
        <p:nvSpPr>
          <p:cNvPr id="10" name="Oval 9"/>
          <p:cNvSpPr/>
          <p:nvPr/>
        </p:nvSpPr>
        <p:spPr>
          <a:xfrm>
            <a:off x="877823" y="3182112"/>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效果数据：3.82分钟/车</a:t>
            </a:r>
          </a:p>
        </p:txBody>
      </p:sp>
      <p:sp>
        <p:nvSpPr>
          <p:cNvPr id="12" name="Oval 11"/>
          <p:cNvSpPr/>
          <p:nvPr/>
        </p:nvSpPr>
        <p:spPr>
          <a:xfrm>
            <a:off x="877823" y="3749039"/>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目标值：3.87分钟/车</a:t>
            </a:r>
          </a:p>
        </p:txBody>
      </p:sp>
      <p:sp>
        <p:nvSpPr>
          <p:cNvPr id="14" name="Oval 13"/>
          <p:cNvSpPr/>
          <p:nvPr/>
        </p:nvSpPr>
        <p:spPr>
          <a:xfrm>
            <a:off x="877823" y="4315968"/>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目标差额：0.05分钟/车</a:t>
            </a:r>
          </a:p>
        </p:txBody>
      </p:sp>
      <p:sp>
        <p:nvSpPr>
          <p:cNvPr id="16" name="Oval 15"/>
          <p:cNvSpPr/>
          <p:nvPr/>
        </p:nvSpPr>
        <p:spPr>
          <a:xfrm>
            <a:off x="877823" y="4882896"/>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2999" y="4773168"/>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车内检查和车外检查浪费时间大幅减少</a:t>
            </a:r>
          </a:p>
        </p:txBody>
      </p:sp>
      <p:sp>
        <p:nvSpPr>
          <p:cNvPr id="18" name="Rounded Rectangle 17"/>
          <p:cNvSpPr/>
          <p:nvPr/>
        </p:nvSpPr>
        <p:spPr>
          <a:xfrm>
            <a:off x="7909559" y="2103119"/>
            <a:ext cx="3246119" cy="324612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1E1E1E"/>
                </a:solidFill>
                <a:latin typeface="Aptos Mono"/>
              </a:rPr>
              <a:t>效果验证 3.82分钟/车</a:t>
            </a:r>
          </a:p>
        </p:txBody>
      </p:sp>
      <p:sp>
        <p:nvSpPr>
          <p:cNvPr id="20" name="TextBox 19"/>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6B6259"/>
                </a:solidFill>
                <a:latin typeface="Aptos"/>
              </a:rPr>
              <a:t>重点内容 可继续编辑</a:t>
            </a:r>
          </a:p>
        </p:txBody>
      </p:sp>
      <p:sp>
        <p:nvSpPr>
          <p:cNvPr id="21" name="Rectangle 20"/>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项目在与现状调查相同的时段口径下完成效果验证，核心目标正式达成。</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25</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核心指标对比</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核心指标从5.53分钟降至3.82分钟并超过目标要求</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实际效果较目标值进一步降低0.05分钟，项目目标完成。</a:t>
            </a:r>
          </a:p>
        </p:txBody>
      </p:sp>
      <p:sp>
        <p:nvSpPr>
          <p:cNvPr id="9" name="Rounded Rectangle 8"/>
          <p:cNvSpPr/>
          <p:nvPr/>
        </p:nvSpPr>
        <p:spPr>
          <a:xfrm>
            <a:off x="786383" y="2240280"/>
            <a:ext cx="4983479" cy="288036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79" y="2532888"/>
            <a:ext cx="4297679" cy="402336"/>
          </a:xfrm>
          <a:prstGeom prst="rect">
            <a:avLst/>
          </a:prstGeom>
          <a:noFill/>
        </p:spPr>
        <p:txBody>
          <a:bodyPr wrap="square" lIns="36575" rIns="36575" tIns="18288" bIns="18288" anchor="ctr">
            <a:spAutoFit/>
          </a:bodyPr>
          <a:lstStyle/>
          <a:p>
            <a:pPr algn="l"/>
            <a:r>
              <a:rPr sz="1900" b="1">
                <a:solidFill>
                  <a:srgbClr val="1E1E1E"/>
                </a:solidFill>
                <a:latin typeface="Aptos"/>
              </a:rPr>
              <a:t>改进前</a:t>
            </a:r>
          </a:p>
        </p:txBody>
      </p:sp>
      <p:sp>
        <p:nvSpPr>
          <p:cNvPr id="11" name="Rectangle 10"/>
          <p:cNvSpPr/>
          <p:nvPr/>
        </p:nvSpPr>
        <p:spPr>
          <a:xfrm>
            <a:off x="1115567" y="3264408"/>
            <a:ext cx="109727" cy="109728"/>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89887" y="3127248"/>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单车平均检查时长5.53分钟</a:t>
            </a:r>
          </a:p>
        </p:txBody>
      </p:sp>
      <p:sp>
        <p:nvSpPr>
          <p:cNvPr id="13" name="Rectangle 12"/>
          <p:cNvSpPr/>
          <p:nvPr/>
        </p:nvSpPr>
        <p:spPr>
          <a:xfrm>
            <a:off x="1115567" y="3703320"/>
            <a:ext cx="109727" cy="109728"/>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89887" y="3566160"/>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可改善浪费时间2.07分钟/车</a:t>
            </a:r>
          </a:p>
        </p:txBody>
      </p:sp>
      <p:sp>
        <p:nvSpPr>
          <p:cNvPr id="15" name="Rounded Rectangle 14"/>
          <p:cNvSpPr/>
          <p:nvPr/>
        </p:nvSpPr>
        <p:spPr>
          <a:xfrm>
            <a:off x="6236207" y="2240280"/>
            <a:ext cx="4983479" cy="2880360"/>
          </a:xfrm>
          <a:prstGeom prst="roundRect">
            <a:avLst/>
          </a:prstGeom>
          <a:solidFill>
            <a:srgbClr val="D89A3D"/>
          </a:solidFill>
          <a:ln w="10160">
            <a:solidFill>
              <a:srgbClr val="D89A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47103" y="2532888"/>
            <a:ext cx="4297679" cy="402336"/>
          </a:xfrm>
          <a:prstGeom prst="rect">
            <a:avLst/>
          </a:prstGeom>
          <a:noFill/>
        </p:spPr>
        <p:txBody>
          <a:bodyPr wrap="square" lIns="36575" rIns="36575" tIns="18288" bIns="18288" anchor="ctr">
            <a:spAutoFit/>
          </a:bodyPr>
          <a:lstStyle/>
          <a:p>
            <a:pPr algn="l"/>
            <a:r>
              <a:rPr sz="1900" b="1">
                <a:solidFill>
                  <a:srgbClr val="1E1E1E"/>
                </a:solidFill>
                <a:latin typeface="Aptos"/>
              </a:rPr>
              <a:t>改进后</a:t>
            </a:r>
          </a:p>
        </p:txBody>
      </p:sp>
      <p:sp>
        <p:nvSpPr>
          <p:cNvPr id="17" name="Rectangle 16"/>
          <p:cNvSpPr/>
          <p:nvPr/>
        </p:nvSpPr>
        <p:spPr>
          <a:xfrm>
            <a:off x="6565391" y="3264408"/>
            <a:ext cx="109727" cy="109728"/>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39711" y="3127248"/>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单车平均检查时长3.82分钟</a:t>
            </a:r>
          </a:p>
        </p:txBody>
      </p:sp>
      <p:sp>
        <p:nvSpPr>
          <p:cNvPr id="19" name="Rectangle 18"/>
          <p:cNvSpPr/>
          <p:nvPr/>
        </p:nvSpPr>
        <p:spPr>
          <a:xfrm>
            <a:off x="6565391" y="3703320"/>
            <a:ext cx="109727" cy="109728"/>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39711" y="3566160"/>
            <a:ext cx="4023359" cy="347472"/>
          </a:xfrm>
          <a:prstGeom prst="rect">
            <a:avLst/>
          </a:prstGeom>
          <a:noFill/>
        </p:spPr>
        <p:txBody>
          <a:bodyPr wrap="square" lIns="36575" rIns="36575" tIns="18288" bIns="18288" anchor="ctr">
            <a:spAutoFit/>
          </a:bodyPr>
          <a:lstStyle/>
          <a:p>
            <a:pPr algn="l"/>
            <a:r>
              <a:rPr sz="1400" b="0">
                <a:solidFill>
                  <a:srgbClr val="1E1E1E"/>
                </a:solidFill>
                <a:latin typeface="Aptos"/>
              </a:rPr>
              <a:t>低于3.87分钟目标值</a:t>
            </a:r>
          </a:p>
        </p:txBody>
      </p:sp>
      <p:sp>
        <p:nvSpPr>
          <p:cNvPr id="21" name="Rectangle 20"/>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实际效果较目标值进一步降低0.05分钟，项目目标完成。</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26</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直接效益</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高峰期平均排队等待时间由15分钟降至11分钟</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高峰期排队等待时间下降4分钟，降幅达到26.7%。</a:t>
            </a:r>
          </a:p>
        </p:txBody>
      </p:sp>
      <p:sp>
        <p:nvSpPr>
          <p:cNvPr id="9" name="Rounded Rectangle 8"/>
          <p:cNvSpPr/>
          <p:nvPr/>
        </p:nvSpPr>
        <p:spPr>
          <a:xfrm>
            <a:off x="777239" y="2212848"/>
            <a:ext cx="2971799" cy="242316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1" y="2514600"/>
            <a:ext cx="2331719" cy="868680"/>
          </a:xfrm>
          <a:prstGeom prst="rect">
            <a:avLst/>
          </a:prstGeom>
          <a:noFill/>
        </p:spPr>
        <p:txBody>
          <a:bodyPr wrap="square" lIns="36575" rIns="36575" tIns="18288" bIns="18288" anchor="ctr">
            <a:spAutoFit/>
          </a:bodyPr>
          <a:lstStyle/>
          <a:p>
            <a:pPr algn="ctr"/>
            <a:r>
              <a:rPr sz="4400" b="1">
                <a:solidFill>
                  <a:srgbClr val="FFFFFF"/>
                </a:solidFill>
                <a:latin typeface="Aptos"/>
              </a:rPr>
              <a:t>26.7%</a:t>
            </a:r>
          </a:p>
        </p:txBody>
      </p:sp>
      <p:sp>
        <p:nvSpPr>
          <p:cNvPr id="11" name="TextBox 10"/>
          <p:cNvSpPr txBox="1"/>
          <p:nvPr/>
        </p:nvSpPr>
        <p:spPr>
          <a:xfrm>
            <a:off x="1051559" y="3547872"/>
            <a:ext cx="2377439" cy="411480"/>
          </a:xfrm>
          <a:prstGeom prst="rect">
            <a:avLst/>
          </a:prstGeom>
          <a:noFill/>
        </p:spPr>
        <p:txBody>
          <a:bodyPr wrap="square" lIns="36575" rIns="36575" tIns="18288" bIns="18288" anchor="ctr">
            <a:spAutoFit/>
          </a:bodyPr>
          <a:lstStyle/>
          <a:p>
            <a:pPr algn="ctr"/>
            <a:r>
              <a:rPr sz="1400" b="0">
                <a:solidFill>
                  <a:srgbClr val="FFFFFF"/>
                </a:solidFill>
                <a:latin typeface="Aptos"/>
              </a:rPr>
              <a:t>高峰期平均排队等待时间降幅</a:t>
            </a:r>
          </a:p>
        </p:txBody>
      </p:sp>
      <p:sp>
        <p:nvSpPr>
          <p:cNvPr id="12" name="Oval 11"/>
          <p:cNvSpPr/>
          <p:nvPr/>
        </p:nvSpPr>
        <p:spPr>
          <a:xfrm>
            <a:off x="4315967" y="2423160"/>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39" y="2331720"/>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改善前平均排队等待时间：15分钟</a:t>
            </a:r>
          </a:p>
        </p:txBody>
      </p:sp>
      <p:sp>
        <p:nvSpPr>
          <p:cNvPr id="14" name="Oval 13"/>
          <p:cNvSpPr/>
          <p:nvPr/>
        </p:nvSpPr>
        <p:spPr>
          <a:xfrm>
            <a:off x="4315967" y="3264408"/>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39" y="3172968"/>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改善后平均排队等待时间：11分钟</a:t>
            </a:r>
          </a:p>
        </p:txBody>
      </p:sp>
      <p:sp>
        <p:nvSpPr>
          <p:cNvPr id="16" name="Oval 15"/>
          <p:cNvSpPr/>
          <p:nvPr/>
        </p:nvSpPr>
        <p:spPr>
          <a:xfrm>
            <a:off x="4315967" y="4105655"/>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63439" y="4014215"/>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等待时间减少：4分钟</a:t>
            </a:r>
          </a:p>
        </p:txBody>
      </p:sp>
      <p:sp>
        <p:nvSpPr>
          <p:cNvPr id="18" name="Rectangle 17"/>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高峰期排队等待时间下降4分钟，降幅达到26.7%。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27</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通行能力</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单通道理论服务能力由10.85辆/小时提升至15.71辆/小时</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单车检查时间缩短直接转化为单位时间通行能力提升。</a:t>
            </a:r>
          </a:p>
        </p:txBody>
      </p:sp>
      <p:sp>
        <p:nvSpPr>
          <p:cNvPr id="9" name="Rounded Rectangle 8"/>
          <p:cNvSpPr/>
          <p:nvPr/>
        </p:nvSpPr>
        <p:spPr>
          <a:xfrm>
            <a:off x="777239" y="2212848"/>
            <a:ext cx="2971799" cy="242316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1" y="2514600"/>
            <a:ext cx="2331719" cy="868680"/>
          </a:xfrm>
          <a:prstGeom prst="rect">
            <a:avLst/>
          </a:prstGeom>
          <a:noFill/>
        </p:spPr>
        <p:txBody>
          <a:bodyPr wrap="square" lIns="36575" rIns="36575" tIns="18288" bIns="18288" anchor="ctr">
            <a:spAutoFit/>
          </a:bodyPr>
          <a:lstStyle/>
          <a:p>
            <a:pPr algn="ctr"/>
            <a:r>
              <a:rPr sz="4400" b="1">
                <a:solidFill>
                  <a:srgbClr val="FFFFFF"/>
                </a:solidFill>
                <a:latin typeface="Aptos"/>
              </a:rPr>
              <a:t>44.8%</a:t>
            </a:r>
          </a:p>
        </p:txBody>
      </p:sp>
      <p:sp>
        <p:nvSpPr>
          <p:cNvPr id="11" name="TextBox 10"/>
          <p:cNvSpPr txBox="1"/>
          <p:nvPr/>
        </p:nvSpPr>
        <p:spPr>
          <a:xfrm>
            <a:off x="1051559" y="3547872"/>
            <a:ext cx="2377439" cy="411480"/>
          </a:xfrm>
          <a:prstGeom prst="rect">
            <a:avLst/>
          </a:prstGeom>
          <a:noFill/>
        </p:spPr>
        <p:txBody>
          <a:bodyPr wrap="square" lIns="36575" rIns="36575" tIns="18288" bIns="18288" anchor="ctr">
            <a:spAutoFit/>
          </a:bodyPr>
          <a:lstStyle/>
          <a:p>
            <a:pPr algn="ctr"/>
            <a:r>
              <a:rPr sz="1400" b="0">
                <a:solidFill>
                  <a:srgbClr val="FFFFFF"/>
                </a:solidFill>
                <a:latin typeface="Aptos"/>
              </a:rPr>
              <a:t>单通道理论服务能力提升幅度</a:t>
            </a:r>
          </a:p>
        </p:txBody>
      </p:sp>
      <p:sp>
        <p:nvSpPr>
          <p:cNvPr id="12" name="Oval 11"/>
          <p:cNvSpPr/>
          <p:nvPr/>
        </p:nvSpPr>
        <p:spPr>
          <a:xfrm>
            <a:off x="4315967" y="2423160"/>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39" y="2331720"/>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改善前单通道理论服务能力：10.85辆/小时</a:t>
            </a:r>
          </a:p>
        </p:txBody>
      </p:sp>
      <p:sp>
        <p:nvSpPr>
          <p:cNvPr id="14" name="Oval 13"/>
          <p:cNvSpPr/>
          <p:nvPr/>
        </p:nvSpPr>
        <p:spPr>
          <a:xfrm>
            <a:off x="4315967" y="3264408"/>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39" y="3172968"/>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改善后单通道理论服务能力：15.71辆/小时</a:t>
            </a:r>
          </a:p>
        </p:txBody>
      </p:sp>
      <p:sp>
        <p:nvSpPr>
          <p:cNvPr id="16" name="Oval 15"/>
          <p:cNvSpPr/>
          <p:nvPr/>
        </p:nvSpPr>
        <p:spPr>
          <a:xfrm>
            <a:off x="4315967" y="4105655"/>
            <a:ext cx="155447" cy="155448"/>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63439" y="4014215"/>
            <a:ext cx="6217919" cy="475488"/>
          </a:xfrm>
          <a:prstGeom prst="rect">
            <a:avLst/>
          </a:prstGeom>
          <a:noFill/>
        </p:spPr>
        <p:txBody>
          <a:bodyPr wrap="square" lIns="36575" rIns="36575" tIns="18288" bIns="18288" anchor="ctr">
            <a:spAutoFit/>
          </a:bodyPr>
          <a:lstStyle/>
          <a:p>
            <a:pPr algn="l"/>
            <a:r>
              <a:rPr sz="1700" b="0">
                <a:solidFill>
                  <a:srgbClr val="1E1E1E"/>
                </a:solidFill>
                <a:latin typeface="Aptos"/>
              </a:rPr>
              <a:t>能力提升：4.86辆/小时</a:t>
            </a:r>
          </a:p>
        </p:txBody>
      </p:sp>
      <p:sp>
        <p:nvSpPr>
          <p:cNvPr id="18" name="Rectangle 17"/>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单车检查时间缩短直接转化为单位时间通行能力提升。</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28</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资源效益</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道口通过能力提升未增加人力投入</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项目以存量资源优化支撑能力提升，体现精益管理价值。</a:t>
            </a:r>
          </a:p>
        </p:txBody>
      </p:sp>
      <p:sp>
        <p:nvSpPr>
          <p:cNvPr id="9" name="TextBox 8"/>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6B6259"/>
                </a:solidFill>
                <a:latin typeface="Georgia"/>
              </a:rPr>
              <a:t>通过设备升级与流程优化，在未增加人力投入的前提下实现道口通过能力提升，推动人力资源配置效率优化。</a:t>
            </a:r>
          </a:p>
        </p:txBody>
      </p:sp>
      <p:sp>
        <p:nvSpPr>
          <p:cNvPr id="10" name="Oval 9"/>
          <p:cNvSpPr/>
          <p:nvPr/>
        </p:nvSpPr>
        <p:spPr>
          <a:xfrm>
            <a:off x="877823" y="3182112"/>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减少驻场单位车辆在道口的等待时间</a:t>
            </a:r>
          </a:p>
        </p:txBody>
      </p:sp>
      <p:sp>
        <p:nvSpPr>
          <p:cNvPr id="12" name="Oval 11"/>
          <p:cNvSpPr/>
          <p:nvPr/>
        </p:nvSpPr>
        <p:spPr>
          <a:xfrm>
            <a:off x="877823" y="3749039"/>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降低车辆怠速油耗与运营成本</a:t>
            </a:r>
          </a:p>
        </p:txBody>
      </p:sp>
      <p:sp>
        <p:nvSpPr>
          <p:cNvPr id="14" name="Oval 13"/>
          <p:cNvSpPr/>
          <p:nvPr/>
        </p:nvSpPr>
        <p:spPr>
          <a:xfrm>
            <a:off x="877823" y="4315968"/>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提升单位时间通行能力</a:t>
            </a:r>
          </a:p>
        </p:txBody>
      </p:sp>
      <p:sp>
        <p:nvSpPr>
          <p:cNvPr id="16" name="Oval 15"/>
          <p:cNvSpPr/>
          <p:nvPr/>
        </p:nvSpPr>
        <p:spPr>
          <a:xfrm>
            <a:off x="877823" y="4882896"/>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2999" y="4773168"/>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优化既有岗位资源配置</a:t>
            </a:r>
          </a:p>
        </p:txBody>
      </p:sp>
      <p:sp>
        <p:nvSpPr>
          <p:cNvPr id="18" name="Rounded Rectangle 17"/>
          <p:cNvSpPr/>
          <p:nvPr/>
        </p:nvSpPr>
        <p:spPr>
          <a:xfrm>
            <a:off x="7909559" y="2103119"/>
            <a:ext cx="3246119" cy="324612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1E1E1E"/>
                </a:solidFill>
                <a:latin typeface="Aptos Mono"/>
              </a:rPr>
              <a:t>资源效益 未增加</a:t>
            </a:r>
          </a:p>
        </p:txBody>
      </p:sp>
      <p:sp>
        <p:nvSpPr>
          <p:cNvPr id="20" name="TextBox 19"/>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6B6259"/>
                </a:solidFill>
                <a:latin typeface="Aptos"/>
              </a:rPr>
              <a:t>重点内容 可继续编辑</a:t>
            </a:r>
          </a:p>
        </p:txBody>
      </p:sp>
      <p:sp>
        <p:nvSpPr>
          <p:cNvPr id="21" name="Rectangle 20"/>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项目以存量资源优化支撑能力提升，体现精益管理价值。</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29</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运行体验</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效率改善同步带来司乘体验和岗位体验改善</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项目不仅减少车辆排队，也改善了岗位职责、交接标准和操作疲劳度。</a:t>
            </a:r>
          </a:p>
        </p:txBody>
      </p:sp>
      <p:sp>
        <p:nvSpPr>
          <p:cNvPr id="9" name="TextBox 8"/>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6B6259"/>
                </a:solidFill>
                <a:latin typeface="Georgia"/>
              </a:rPr>
              <a:t>间接效益体现为道口排队长度明显缩短，驻场单位及驾驶员满意度提升；岗位职责与交接标准更加清晰，员工操作疲劳度降低，工作环境得到改善。</a:t>
            </a:r>
          </a:p>
        </p:txBody>
      </p:sp>
      <p:sp>
        <p:nvSpPr>
          <p:cNvPr id="10" name="Oval 9"/>
          <p:cNvSpPr/>
          <p:nvPr/>
        </p:nvSpPr>
        <p:spPr>
          <a:xfrm>
            <a:off x="877823" y="3182112"/>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司乘人员通行体验显著改善</a:t>
            </a:r>
          </a:p>
        </p:txBody>
      </p:sp>
      <p:sp>
        <p:nvSpPr>
          <p:cNvPr id="12" name="Oval 11"/>
          <p:cNvSpPr/>
          <p:nvPr/>
        </p:nvSpPr>
        <p:spPr>
          <a:xfrm>
            <a:off x="877823" y="3749039"/>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道口排队长度明显缩短</a:t>
            </a:r>
          </a:p>
        </p:txBody>
      </p:sp>
      <p:sp>
        <p:nvSpPr>
          <p:cNvPr id="14" name="Oval 13"/>
          <p:cNvSpPr/>
          <p:nvPr/>
        </p:nvSpPr>
        <p:spPr>
          <a:xfrm>
            <a:off x="877823" y="4315968"/>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驻场单位及驾驶员满意度提升</a:t>
            </a:r>
          </a:p>
        </p:txBody>
      </p:sp>
      <p:sp>
        <p:nvSpPr>
          <p:cNvPr id="16" name="Oval 15"/>
          <p:cNvSpPr/>
          <p:nvPr/>
        </p:nvSpPr>
        <p:spPr>
          <a:xfrm>
            <a:off x="877823" y="4882896"/>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2999" y="4773168"/>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岗位职责和交接标准更加清晰</a:t>
            </a:r>
          </a:p>
        </p:txBody>
      </p:sp>
      <p:sp>
        <p:nvSpPr>
          <p:cNvPr id="18" name="Rounded Rectangle 17"/>
          <p:cNvSpPr/>
          <p:nvPr/>
        </p:nvSpPr>
        <p:spPr>
          <a:xfrm>
            <a:off x="7909559" y="2103119"/>
            <a:ext cx="3246119" cy="324612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1E1E1E"/>
                </a:solidFill>
                <a:latin typeface="Aptos Mono"/>
              </a:rPr>
              <a:t>运行体验 20%</a:t>
            </a:r>
          </a:p>
        </p:txBody>
      </p:sp>
      <p:sp>
        <p:nvSpPr>
          <p:cNvPr id="20" name="TextBox 19"/>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6B6259"/>
                </a:solidFill>
                <a:latin typeface="Aptos"/>
              </a:rPr>
              <a:t>重点内容 可继续编辑</a:t>
            </a:r>
          </a:p>
        </p:txBody>
      </p:sp>
      <p:sp>
        <p:nvSpPr>
          <p:cNvPr id="21" name="Rectangle 20"/>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项目不仅减少车辆排队，也改善了岗位职责、交接标准和操作疲劳度。</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30</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安全价值</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标准化检查增强安全检查的规范性和一致性</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项目通过标准动作和智能设备应用，降低人为因素导致的检查疏漏风险。</a:t>
            </a:r>
          </a:p>
        </p:txBody>
      </p:sp>
      <p:sp>
        <p:nvSpPr>
          <p:cNvPr id="9" name="TextBox 8"/>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6B6259"/>
                </a:solidFill>
                <a:latin typeface="Georgia"/>
              </a:rPr>
              <a:t>标准化检查流程和智能设备应用增强了道口安全检查的规范性和一致性，为空防安全提供更有力的保障。</a:t>
            </a:r>
          </a:p>
        </p:txBody>
      </p:sp>
      <p:sp>
        <p:nvSpPr>
          <p:cNvPr id="10" name="Oval 9"/>
          <p:cNvSpPr/>
          <p:nvPr/>
        </p:nvSpPr>
        <p:spPr>
          <a:xfrm>
            <a:off x="877823" y="3182112"/>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检查流程统一</a:t>
            </a:r>
          </a:p>
        </p:txBody>
      </p:sp>
      <p:sp>
        <p:nvSpPr>
          <p:cNvPr id="12" name="Oval 11"/>
          <p:cNvSpPr/>
          <p:nvPr/>
        </p:nvSpPr>
        <p:spPr>
          <a:xfrm>
            <a:off x="877823" y="3749039"/>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设备信息集中呈现</a:t>
            </a:r>
          </a:p>
        </p:txBody>
      </p:sp>
      <p:sp>
        <p:nvSpPr>
          <p:cNvPr id="14" name="Oval 13"/>
          <p:cNvSpPr/>
          <p:nvPr/>
        </p:nvSpPr>
        <p:spPr>
          <a:xfrm>
            <a:off x="877823" y="4315968"/>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岗位操作更加一致</a:t>
            </a:r>
          </a:p>
        </p:txBody>
      </p:sp>
      <p:sp>
        <p:nvSpPr>
          <p:cNvPr id="16" name="Oval 15"/>
          <p:cNvSpPr/>
          <p:nvPr/>
        </p:nvSpPr>
        <p:spPr>
          <a:xfrm>
            <a:off x="877823" y="4882896"/>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2999" y="4773168"/>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人为因素导致的检查疏漏风险降低</a:t>
            </a:r>
          </a:p>
        </p:txBody>
      </p:sp>
      <p:sp>
        <p:nvSpPr>
          <p:cNvPr id="18" name="Rounded Rectangle 17"/>
          <p:cNvSpPr/>
          <p:nvPr/>
        </p:nvSpPr>
        <p:spPr>
          <a:xfrm>
            <a:off x="7909559" y="2103119"/>
            <a:ext cx="3246119" cy="324612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1E1E1E"/>
                </a:solidFill>
                <a:latin typeface="Aptos Mono"/>
              </a:rPr>
              <a:t>安全价值 25%</a:t>
            </a:r>
          </a:p>
        </p:txBody>
      </p:sp>
      <p:sp>
        <p:nvSpPr>
          <p:cNvPr id="20" name="TextBox 19"/>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6B6259"/>
                </a:solidFill>
                <a:latin typeface="Aptos"/>
              </a:rPr>
              <a:t>重点内容 可继续编辑</a:t>
            </a:r>
          </a:p>
        </p:txBody>
      </p:sp>
      <p:sp>
        <p:nvSpPr>
          <p:cNvPr id="21" name="Rectangle 20"/>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项目通过标准动作和智能设备应用，降低人为因素导致的检查疏漏风险。</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31</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成果沉淀</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项目形成可复制的道口精益管理模式</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项目成果覆盖分流、职责、设备、预案和培训，可用于其他道口及同类场景推广。</a:t>
            </a:r>
          </a:p>
        </p:txBody>
      </p:sp>
      <p:sp>
        <p:nvSpPr>
          <p:cNvPr id="9" name="TextBox 8"/>
          <p:cNvSpPr txBox="1"/>
          <p:nvPr/>
        </p:nvSpPr>
        <p:spPr>
          <a:xfrm>
            <a:off x="822959" y="2212848"/>
            <a:ext cx="6172199" cy="777240"/>
          </a:xfrm>
          <a:prstGeom prst="rect">
            <a:avLst/>
          </a:prstGeom>
          <a:noFill/>
        </p:spPr>
        <p:txBody>
          <a:bodyPr wrap="square" lIns="36575" rIns="36575" tIns="18288" bIns="18288" anchor="ctr">
            <a:spAutoFit/>
          </a:bodyPr>
          <a:lstStyle/>
          <a:p>
            <a:pPr algn="l"/>
            <a:r>
              <a:rPr sz="1800" b="0">
                <a:solidFill>
                  <a:srgbClr val="6B6259"/>
                </a:solidFill>
                <a:latin typeface="Georgia"/>
              </a:rPr>
              <a:t>项目形成的道口精益管理模式涵盖车辆分类分流方案、岗位职责与交接标准、设备操作规程和高峰弹性保障预案。</a:t>
            </a:r>
          </a:p>
        </p:txBody>
      </p:sp>
      <p:sp>
        <p:nvSpPr>
          <p:cNvPr id="10" name="Oval 9"/>
          <p:cNvSpPr/>
          <p:nvPr/>
        </p:nvSpPr>
        <p:spPr>
          <a:xfrm>
            <a:off x="877823" y="3182112"/>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车辆分类分流方案</a:t>
            </a:r>
          </a:p>
        </p:txBody>
      </p:sp>
      <p:sp>
        <p:nvSpPr>
          <p:cNvPr id="12" name="Oval 11"/>
          <p:cNvSpPr/>
          <p:nvPr/>
        </p:nvSpPr>
        <p:spPr>
          <a:xfrm>
            <a:off x="877823" y="3749039"/>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岗位职责与交接标准</a:t>
            </a:r>
          </a:p>
        </p:txBody>
      </p:sp>
      <p:sp>
        <p:nvSpPr>
          <p:cNvPr id="14" name="Oval 13"/>
          <p:cNvSpPr/>
          <p:nvPr/>
        </p:nvSpPr>
        <p:spPr>
          <a:xfrm>
            <a:off x="877823" y="4315968"/>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设备操作规程</a:t>
            </a:r>
          </a:p>
        </p:txBody>
      </p:sp>
      <p:sp>
        <p:nvSpPr>
          <p:cNvPr id="16" name="Oval 15"/>
          <p:cNvSpPr/>
          <p:nvPr/>
        </p:nvSpPr>
        <p:spPr>
          <a:xfrm>
            <a:off x="877823" y="4882896"/>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42999" y="4773168"/>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高峰弹性保障预案</a:t>
            </a:r>
          </a:p>
        </p:txBody>
      </p:sp>
      <p:sp>
        <p:nvSpPr>
          <p:cNvPr id="18" name="Rounded Rectangle 17"/>
          <p:cNvSpPr/>
          <p:nvPr/>
        </p:nvSpPr>
        <p:spPr>
          <a:xfrm>
            <a:off x="7909559" y="2103119"/>
            <a:ext cx="3246119" cy="324612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1E1E1E"/>
                </a:solidFill>
                <a:latin typeface="Aptos Mono"/>
              </a:rPr>
              <a:t>成果沉淀 4类</a:t>
            </a:r>
          </a:p>
        </p:txBody>
      </p:sp>
      <p:sp>
        <p:nvSpPr>
          <p:cNvPr id="20" name="TextBox 19"/>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6B6259"/>
                </a:solidFill>
                <a:latin typeface="Aptos"/>
              </a:rPr>
              <a:t>重点内容 可继续编辑</a:t>
            </a:r>
          </a:p>
        </p:txBody>
      </p:sp>
      <p:sp>
        <p:nvSpPr>
          <p:cNvPr id="21" name="Rectangle 20"/>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项目成果覆盖分流、职责、设备、预案和培训，可用于其他道口及同类场景推广。</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32</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标准化建设</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有效对策已纳入《道口车辆检查手册》</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项目将验证有效的设备、流程和保障措施纳入日常作业标准，确保改善成果持续。</a:t>
            </a:r>
          </a:p>
        </p:txBody>
      </p:sp>
      <p:sp>
        <p:nvSpPr>
          <p:cNvPr id="9" name="Rectangle 8"/>
          <p:cNvSpPr/>
          <p:nvPr/>
        </p:nvSpPr>
        <p:spPr>
          <a:xfrm>
            <a:off x="1005839" y="3172968"/>
            <a:ext cx="9829799" cy="54864"/>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7" y="2916936"/>
            <a:ext cx="548639" cy="548640"/>
          </a:xfrm>
          <a:prstGeom prst="ellipse">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 y="2999232"/>
            <a:ext cx="548639" cy="274320"/>
          </a:xfrm>
          <a:prstGeom prst="rect">
            <a:avLst/>
          </a:prstGeom>
          <a:noFill/>
        </p:spPr>
        <p:txBody>
          <a:bodyPr wrap="square" lIns="36575" rIns="36575" tIns="18288" bIns="18288" anchor="ctr">
            <a:spAutoFit/>
          </a:bodyPr>
          <a:lstStyle/>
          <a:p>
            <a:pPr algn="ctr"/>
            <a:r>
              <a:rPr sz="1200" b="1">
                <a:solidFill>
                  <a:srgbClr val="FFFFFF"/>
                </a:solidFill>
                <a:latin typeface="Aptos Mono"/>
              </a:rPr>
              <a:t>01</a:t>
            </a:r>
          </a:p>
        </p:txBody>
      </p:sp>
      <p:sp>
        <p:nvSpPr>
          <p:cNvPr id="12" name="TextBox 11"/>
          <p:cNvSpPr txBox="1"/>
          <p:nvPr/>
        </p:nvSpPr>
        <p:spPr>
          <a:xfrm>
            <a:off x="52120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车辆分类分流</a:t>
            </a:r>
          </a:p>
        </p:txBody>
      </p:sp>
      <p:sp>
        <p:nvSpPr>
          <p:cNvPr id="13" name="TextBox 12"/>
          <p:cNvSpPr txBox="1"/>
          <p:nvPr/>
        </p:nvSpPr>
        <p:spPr>
          <a:xfrm>
            <a:off x="15544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明确不同车辆的分类分流方案。</a:t>
            </a:r>
          </a:p>
        </p:txBody>
      </p:sp>
      <p:sp>
        <p:nvSpPr>
          <p:cNvPr id="14" name="Oval 13"/>
          <p:cNvSpPr/>
          <p:nvPr/>
        </p:nvSpPr>
        <p:spPr>
          <a:xfrm>
            <a:off x="3344417" y="2916936"/>
            <a:ext cx="548639" cy="548640"/>
          </a:xfrm>
          <a:prstGeom prst="ellipse">
            <a:avLst/>
          </a:prstGeom>
          <a:solidFill>
            <a:srgbClr val="F5F1EA"/>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44417" y="2999232"/>
            <a:ext cx="548639" cy="274320"/>
          </a:xfrm>
          <a:prstGeom prst="rect">
            <a:avLst/>
          </a:prstGeom>
          <a:noFill/>
        </p:spPr>
        <p:txBody>
          <a:bodyPr wrap="square" lIns="36575" rIns="36575" tIns="18288" bIns="18288" anchor="ctr">
            <a:spAutoFit/>
          </a:bodyPr>
          <a:lstStyle/>
          <a:p>
            <a:pPr algn="ctr"/>
            <a:r>
              <a:rPr sz="1200" b="1">
                <a:solidFill>
                  <a:srgbClr val="1E1E1E"/>
                </a:solidFill>
                <a:latin typeface="Aptos Mono"/>
              </a:rPr>
              <a:t>02</a:t>
            </a:r>
          </a:p>
        </p:txBody>
      </p:sp>
      <p:sp>
        <p:nvSpPr>
          <p:cNvPr id="16" name="TextBox 15"/>
          <p:cNvSpPr txBox="1"/>
          <p:nvPr/>
        </p:nvSpPr>
        <p:spPr>
          <a:xfrm>
            <a:off x="302437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岗位职责交接</a:t>
            </a:r>
          </a:p>
        </p:txBody>
      </p:sp>
      <p:sp>
        <p:nvSpPr>
          <p:cNvPr id="17" name="TextBox 16"/>
          <p:cNvSpPr txBox="1"/>
          <p:nvPr/>
        </p:nvSpPr>
        <p:spPr>
          <a:xfrm>
            <a:off x="265861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明确岗位职责边界和交接标准。</a:t>
            </a:r>
          </a:p>
        </p:txBody>
      </p:sp>
      <p:sp>
        <p:nvSpPr>
          <p:cNvPr id="18" name="Oval 17"/>
          <p:cNvSpPr/>
          <p:nvPr/>
        </p:nvSpPr>
        <p:spPr>
          <a:xfrm>
            <a:off x="5847587" y="2916936"/>
            <a:ext cx="548639" cy="548640"/>
          </a:xfrm>
          <a:prstGeom prst="ellipse">
            <a:avLst/>
          </a:prstGeom>
          <a:solidFill>
            <a:srgbClr val="F5F1EA"/>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47587" y="2999232"/>
            <a:ext cx="548639" cy="274320"/>
          </a:xfrm>
          <a:prstGeom prst="rect">
            <a:avLst/>
          </a:prstGeom>
          <a:noFill/>
        </p:spPr>
        <p:txBody>
          <a:bodyPr wrap="square" lIns="36575" rIns="36575" tIns="18288" bIns="18288" anchor="ctr">
            <a:spAutoFit/>
          </a:bodyPr>
          <a:lstStyle/>
          <a:p>
            <a:pPr algn="ctr"/>
            <a:r>
              <a:rPr sz="1200" b="1">
                <a:solidFill>
                  <a:srgbClr val="1E1E1E"/>
                </a:solidFill>
                <a:latin typeface="Aptos Mono"/>
              </a:rPr>
              <a:t>03</a:t>
            </a:r>
          </a:p>
        </p:txBody>
      </p:sp>
      <p:sp>
        <p:nvSpPr>
          <p:cNvPr id="20" name="TextBox 19"/>
          <p:cNvSpPr txBox="1"/>
          <p:nvPr/>
        </p:nvSpPr>
        <p:spPr>
          <a:xfrm>
            <a:off x="552754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设备操作规程</a:t>
            </a:r>
          </a:p>
        </p:txBody>
      </p:sp>
      <p:sp>
        <p:nvSpPr>
          <p:cNvPr id="21" name="TextBox 20"/>
          <p:cNvSpPr txBox="1"/>
          <p:nvPr/>
        </p:nvSpPr>
        <p:spPr>
          <a:xfrm>
            <a:off x="516178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明确监控设备和相关工具的操作要求。</a:t>
            </a:r>
          </a:p>
        </p:txBody>
      </p:sp>
      <p:sp>
        <p:nvSpPr>
          <p:cNvPr id="22" name="Oval 21"/>
          <p:cNvSpPr/>
          <p:nvPr/>
        </p:nvSpPr>
        <p:spPr>
          <a:xfrm>
            <a:off x="8350757" y="2916936"/>
            <a:ext cx="548639" cy="548640"/>
          </a:xfrm>
          <a:prstGeom prst="ellipse">
            <a:avLst/>
          </a:prstGeom>
          <a:solidFill>
            <a:srgbClr val="F5F1EA"/>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50757" y="2999232"/>
            <a:ext cx="548639" cy="274320"/>
          </a:xfrm>
          <a:prstGeom prst="rect">
            <a:avLst/>
          </a:prstGeom>
          <a:noFill/>
        </p:spPr>
        <p:txBody>
          <a:bodyPr wrap="square" lIns="36575" rIns="36575" tIns="18288" bIns="18288" anchor="ctr">
            <a:spAutoFit/>
          </a:bodyPr>
          <a:lstStyle/>
          <a:p>
            <a:pPr algn="ctr"/>
            <a:r>
              <a:rPr sz="1200" b="1">
                <a:solidFill>
                  <a:srgbClr val="1E1E1E"/>
                </a:solidFill>
                <a:latin typeface="Aptos Mono"/>
              </a:rPr>
              <a:t>04</a:t>
            </a:r>
          </a:p>
        </p:txBody>
      </p:sp>
      <p:sp>
        <p:nvSpPr>
          <p:cNvPr id="24" name="TextBox 23"/>
          <p:cNvSpPr txBox="1"/>
          <p:nvPr/>
        </p:nvSpPr>
        <p:spPr>
          <a:xfrm>
            <a:off x="803071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高峰保障预案</a:t>
            </a:r>
          </a:p>
        </p:txBody>
      </p:sp>
      <p:sp>
        <p:nvSpPr>
          <p:cNvPr id="25" name="TextBox 24"/>
          <p:cNvSpPr txBox="1"/>
          <p:nvPr/>
        </p:nvSpPr>
        <p:spPr>
          <a:xfrm>
            <a:off x="766495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纳入高峰弹性保障预案。</a:t>
            </a:r>
          </a:p>
        </p:txBody>
      </p:sp>
      <p:sp>
        <p:nvSpPr>
          <p:cNvPr id="26" name="Oval 25"/>
          <p:cNvSpPr/>
          <p:nvPr/>
        </p:nvSpPr>
        <p:spPr>
          <a:xfrm>
            <a:off x="10853927" y="2916936"/>
            <a:ext cx="548639" cy="548640"/>
          </a:xfrm>
          <a:prstGeom prst="ellipse">
            <a:avLst/>
          </a:prstGeom>
          <a:solidFill>
            <a:srgbClr val="F5F1EA"/>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53927" y="2999232"/>
            <a:ext cx="548639" cy="274320"/>
          </a:xfrm>
          <a:prstGeom prst="rect">
            <a:avLst/>
          </a:prstGeom>
          <a:noFill/>
        </p:spPr>
        <p:txBody>
          <a:bodyPr wrap="square" lIns="36575" rIns="36575" tIns="18288" bIns="18288" anchor="ctr">
            <a:spAutoFit/>
          </a:bodyPr>
          <a:lstStyle/>
          <a:p>
            <a:pPr algn="ctr"/>
            <a:r>
              <a:rPr sz="1200" b="1">
                <a:solidFill>
                  <a:srgbClr val="1E1E1E"/>
                </a:solidFill>
                <a:latin typeface="Aptos Mono"/>
              </a:rPr>
              <a:t>05</a:t>
            </a:r>
          </a:p>
        </p:txBody>
      </p:sp>
      <p:sp>
        <p:nvSpPr>
          <p:cNvPr id="28" name="TextBox 27"/>
          <p:cNvSpPr txBox="1"/>
          <p:nvPr/>
        </p:nvSpPr>
        <p:spPr>
          <a:xfrm>
            <a:off x="1053388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手册承接</a:t>
            </a:r>
          </a:p>
        </p:txBody>
      </p:sp>
      <p:sp>
        <p:nvSpPr>
          <p:cNvPr id="29" name="TextBox 28"/>
          <p:cNvSpPr txBox="1"/>
          <p:nvPr/>
        </p:nvSpPr>
        <p:spPr>
          <a:xfrm>
            <a:off x="1016812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将验证有效的对策措施纳入《道口车辆检查手册》。</a:t>
            </a:r>
          </a:p>
        </p:txBody>
      </p:sp>
      <p:sp>
        <p:nvSpPr>
          <p:cNvPr id="30" name="Rectangle 29"/>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项目将验证有效的设备、流程和保障措施纳入日常作业标准，确保改善成果持续。</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33</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长效机制</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监测、复盘和培训构成成果巩固的三项机制</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项目以指标跟踪发现波动，以定期复盘推动优化，以培训体系保证执行一致。</a:t>
            </a:r>
          </a:p>
        </p:txBody>
      </p:sp>
      <p:sp>
        <p:nvSpPr>
          <p:cNvPr id="9" name="Oval 8"/>
          <p:cNvSpPr/>
          <p:nvPr/>
        </p:nvSpPr>
        <p:spPr>
          <a:xfrm>
            <a:off x="877823" y="3182112"/>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2999" y="3072384"/>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指标监测机制：持续跟踪单车检查时长、平均等待时长、单位时间通行量</a:t>
            </a:r>
          </a:p>
        </p:txBody>
      </p:sp>
      <p:sp>
        <p:nvSpPr>
          <p:cNvPr id="11" name="Oval 10"/>
          <p:cNvSpPr/>
          <p:nvPr/>
        </p:nvSpPr>
        <p:spPr>
          <a:xfrm>
            <a:off x="877823" y="3749039"/>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42999" y="3639312"/>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定期复盘机制：按月召开道口运行分析会，运用数据复盘持续优化作业标准</a:t>
            </a:r>
          </a:p>
        </p:txBody>
      </p:sp>
      <p:sp>
        <p:nvSpPr>
          <p:cNvPr id="13" name="Oval 12"/>
          <p:cNvSpPr/>
          <p:nvPr/>
        </p:nvSpPr>
        <p:spPr>
          <a:xfrm>
            <a:off x="877823" y="4315968"/>
            <a:ext cx="128015" cy="128016"/>
          </a:xfrm>
          <a:prstGeom prst="ellipse">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42999" y="4206239"/>
            <a:ext cx="5989319" cy="393192"/>
          </a:xfrm>
          <a:prstGeom prst="rect">
            <a:avLst/>
          </a:prstGeom>
          <a:noFill/>
        </p:spPr>
        <p:txBody>
          <a:bodyPr wrap="square" lIns="36575" rIns="36575" tIns="18288" bIns="18288" anchor="ctr">
            <a:spAutoFit/>
          </a:bodyPr>
          <a:lstStyle/>
          <a:p>
            <a:pPr algn="l"/>
            <a:r>
              <a:rPr sz="1600" b="0">
                <a:solidFill>
                  <a:srgbClr val="1E1E1E"/>
                </a:solidFill>
                <a:latin typeface="Aptos"/>
              </a:rPr>
              <a:t>培训固化机制：将新流程、新标准纳入岗前培训和复训体系</a:t>
            </a:r>
          </a:p>
        </p:txBody>
      </p:sp>
      <p:sp>
        <p:nvSpPr>
          <p:cNvPr id="15" name="Rounded Rectangle 14"/>
          <p:cNvSpPr/>
          <p:nvPr/>
        </p:nvSpPr>
        <p:spPr>
          <a:xfrm>
            <a:off x="7909559" y="2103119"/>
            <a:ext cx="3246119" cy="324612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599" y="2743200"/>
            <a:ext cx="2606039" cy="1325880"/>
          </a:xfrm>
          <a:prstGeom prst="rect">
            <a:avLst/>
          </a:prstGeom>
          <a:noFill/>
        </p:spPr>
        <p:txBody>
          <a:bodyPr wrap="square" lIns="36575" rIns="36575" tIns="18288" bIns="18288" anchor="ctr">
            <a:spAutoFit/>
          </a:bodyPr>
          <a:lstStyle/>
          <a:p>
            <a:pPr algn="ctr"/>
            <a:r>
              <a:rPr sz="2500" b="1">
                <a:solidFill>
                  <a:srgbClr val="1E1E1E"/>
                </a:solidFill>
                <a:latin typeface="Aptos Mono"/>
              </a:rPr>
              <a:t>长效机制 3项</a:t>
            </a:r>
          </a:p>
        </p:txBody>
      </p:sp>
      <p:sp>
        <p:nvSpPr>
          <p:cNvPr id="17" name="TextBox 16"/>
          <p:cNvSpPr txBox="1"/>
          <p:nvPr/>
        </p:nvSpPr>
        <p:spPr>
          <a:xfrm>
            <a:off x="8275319" y="4325112"/>
            <a:ext cx="2514599" cy="548640"/>
          </a:xfrm>
          <a:prstGeom prst="rect">
            <a:avLst/>
          </a:prstGeom>
          <a:noFill/>
        </p:spPr>
        <p:txBody>
          <a:bodyPr wrap="square" lIns="36575" rIns="36575" tIns="18288" bIns="18288" anchor="ctr">
            <a:spAutoFit/>
          </a:bodyPr>
          <a:lstStyle/>
          <a:p>
            <a:pPr algn="ctr"/>
            <a:r>
              <a:rPr sz="1300" b="0">
                <a:solidFill>
                  <a:srgbClr val="6B6259"/>
                </a:solidFill>
                <a:latin typeface="Aptos"/>
              </a:rPr>
              <a:t>重点内容 可继续编辑</a:t>
            </a:r>
          </a:p>
        </p:txBody>
      </p:sp>
      <p:sp>
        <p:nvSpPr>
          <p:cNvPr id="18" name="Rectangle 17"/>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项目以指标跟踪发现波动，以定期复盘推动优化，以培训体系保证执行一致。</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34</a:t>
            </a:r>
          </a:p>
        </p:txBody>
      </p:sp>
      <p:sp>
        <p:nvSpPr>
          <p:cNvPr id="6" name="TextBox 5"/>
          <p:cNvSpPr txBox="1"/>
          <p:nvPr/>
        </p:nvSpPr>
        <p:spPr>
          <a:xfrm>
            <a:off x="749807" y="512064"/>
            <a:ext cx="4297679" cy="256032"/>
          </a:xfrm>
          <a:prstGeom prst="rect">
            <a:avLst/>
          </a:prstGeom>
          <a:noFill/>
        </p:spPr>
        <p:txBody>
          <a:bodyPr wrap="square" lIns="36575" rIns="36575" tIns="18288" bIns="18288" anchor="ctr">
            <a:spAutoFit/>
          </a:bodyPr>
          <a:lstStyle/>
          <a:p>
            <a:pPr algn="l"/>
            <a:r>
              <a:rPr sz="1000" b="1">
                <a:solidFill>
                  <a:srgbClr val="B84A39"/>
                </a:solidFill>
                <a:latin typeface="Aptos Mono"/>
              </a:rPr>
              <a:t>持续跟踪</a:t>
            </a:r>
          </a:p>
        </p:txBody>
      </p:sp>
      <p:sp>
        <p:nvSpPr>
          <p:cNvPr id="7" name="TextBox 6"/>
          <p:cNvSpPr txBox="1"/>
          <p:nvPr/>
        </p:nvSpPr>
        <p:spPr>
          <a:xfrm>
            <a:off x="749807" y="822960"/>
            <a:ext cx="9784079" cy="658368"/>
          </a:xfrm>
          <a:prstGeom prst="rect">
            <a:avLst/>
          </a:prstGeom>
          <a:noFill/>
        </p:spPr>
        <p:txBody>
          <a:bodyPr wrap="square" lIns="36575" rIns="36575" tIns="18288" bIns="18288" anchor="ctr">
            <a:spAutoFit/>
          </a:bodyPr>
          <a:lstStyle/>
          <a:p>
            <a:pPr algn="l"/>
            <a:r>
              <a:rPr sz="2800" b="1">
                <a:solidFill>
                  <a:srgbClr val="1E1E1E"/>
                </a:solidFill>
                <a:latin typeface="Georgia"/>
              </a:rPr>
              <a:t>项目将通过不少于3个月持续跟踪确认成果稳定性</a:t>
            </a:r>
          </a:p>
        </p:txBody>
      </p:sp>
      <p:sp>
        <p:nvSpPr>
          <p:cNvPr id="8" name="TextBox 7"/>
          <p:cNvSpPr txBox="1"/>
          <p:nvPr/>
        </p:nvSpPr>
        <p:spPr>
          <a:xfrm>
            <a:off x="804671" y="1517904"/>
            <a:ext cx="9875519" cy="457200"/>
          </a:xfrm>
          <a:prstGeom prst="rect">
            <a:avLst/>
          </a:prstGeom>
          <a:noFill/>
        </p:spPr>
        <p:txBody>
          <a:bodyPr wrap="square" lIns="36575" rIns="36575" tIns="18288" bIns="18288" anchor="ctr">
            <a:spAutoFit/>
          </a:bodyPr>
          <a:lstStyle/>
          <a:p>
            <a:pPr algn="l"/>
            <a:r>
              <a:rPr sz="1300" b="0">
                <a:solidFill>
                  <a:srgbClr val="6B6259"/>
                </a:solidFill>
                <a:latin typeface="Aptos"/>
              </a:rPr>
              <a:t>持续跟踪、数据复盘和标准迭代共同验证项目成果的可持续性。</a:t>
            </a:r>
          </a:p>
        </p:txBody>
      </p:sp>
      <p:sp>
        <p:nvSpPr>
          <p:cNvPr id="9" name="Rectangle 8"/>
          <p:cNvSpPr/>
          <p:nvPr/>
        </p:nvSpPr>
        <p:spPr>
          <a:xfrm>
            <a:off x="1005839" y="3172968"/>
            <a:ext cx="9829799" cy="54864"/>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41247" y="2916936"/>
            <a:ext cx="548639" cy="548640"/>
          </a:xfrm>
          <a:prstGeom prst="ellipse">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7" y="2999232"/>
            <a:ext cx="548639" cy="274320"/>
          </a:xfrm>
          <a:prstGeom prst="rect">
            <a:avLst/>
          </a:prstGeom>
          <a:noFill/>
        </p:spPr>
        <p:txBody>
          <a:bodyPr wrap="square" lIns="36575" rIns="36575" tIns="18288" bIns="18288" anchor="ctr">
            <a:spAutoFit/>
          </a:bodyPr>
          <a:lstStyle/>
          <a:p>
            <a:pPr algn="ctr"/>
            <a:r>
              <a:rPr sz="1200" b="1">
                <a:solidFill>
                  <a:srgbClr val="FFFFFF"/>
                </a:solidFill>
                <a:latin typeface="Aptos Mono"/>
              </a:rPr>
              <a:t>01</a:t>
            </a:r>
          </a:p>
        </p:txBody>
      </p:sp>
      <p:sp>
        <p:nvSpPr>
          <p:cNvPr id="12" name="TextBox 11"/>
          <p:cNvSpPr txBox="1"/>
          <p:nvPr/>
        </p:nvSpPr>
        <p:spPr>
          <a:xfrm>
            <a:off x="52120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持续采集</a:t>
            </a:r>
          </a:p>
        </p:txBody>
      </p:sp>
      <p:sp>
        <p:nvSpPr>
          <p:cNvPr id="13" name="TextBox 12"/>
          <p:cNvSpPr txBox="1"/>
          <p:nvPr/>
        </p:nvSpPr>
        <p:spPr>
          <a:xfrm>
            <a:off x="15544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跟踪单车检查时长、平均等待时长和单位时间通行量。</a:t>
            </a:r>
          </a:p>
        </p:txBody>
      </p:sp>
      <p:sp>
        <p:nvSpPr>
          <p:cNvPr id="14" name="Oval 13"/>
          <p:cNvSpPr/>
          <p:nvPr/>
        </p:nvSpPr>
        <p:spPr>
          <a:xfrm>
            <a:off x="3344417" y="2916936"/>
            <a:ext cx="548639" cy="548640"/>
          </a:xfrm>
          <a:prstGeom prst="ellipse">
            <a:avLst/>
          </a:prstGeom>
          <a:solidFill>
            <a:srgbClr val="F5F1EA"/>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44417" y="2999232"/>
            <a:ext cx="548639" cy="274320"/>
          </a:xfrm>
          <a:prstGeom prst="rect">
            <a:avLst/>
          </a:prstGeom>
          <a:noFill/>
        </p:spPr>
        <p:txBody>
          <a:bodyPr wrap="square" lIns="36575" rIns="36575" tIns="18288" bIns="18288" anchor="ctr">
            <a:spAutoFit/>
          </a:bodyPr>
          <a:lstStyle/>
          <a:p>
            <a:pPr algn="ctr"/>
            <a:r>
              <a:rPr sz="1200" b="1">
                <a:solidFill>
                  <a:srgbClr val="1E1E1E"/>
                </a:solidFill>
                <a:latin typeface="Aptos Mono"/>
              </a:rPr>
              <a:t>02</a:t>
            </a:r>
          </a:p>
        </p:txBody>
      </p:sp>
      <p:sp>
        <p:nvSpPr>
          <p:cNvPr id="16" name="TextBox 15"/>
          <p:cNvSpPr txBox="1"/>
          <p:nvPr/>
        </p:nvSpPr>
        <p:spPr>
          <a:xfrm>
            <a:off x="302437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月度复盘</a:t>
            </a:r>
          </a:p>
        </p:txBody>
      </p:sp>
      <p:sp>
        <p:nvSpPr>
          <p:cNvPr id="17" name="TextBox 16"/>
          <p:cNvSpPr txBox="1"/>
          <p:nvPr/>
        </p:nvSpPr>
        <p:spPr>
          <a:xfrm>
            <a:off x="265861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按月召开道口运行分析会。</a:t>
            </a:r>
          </a:p>
        </p:txBody>
      </p:sp>
      <p:sp>
        <p:nvSpPr>
          <p:cNvPr id="18" name="Oval 17"/>
          <p:cNvSpPr/>
          <p:nvPr/>
        </p:nvSpPr>
        <p:spPr>
          <a:xfrm>
            <a:off x="5847587" y="2916936"/>
            <a:ext cx="548639" cy="548640"/>
          </a:xfrm>
          <a:prstGeom prst="ellipse">
            <a:avLst/>
          </a:prstGeom>
          <a:solidFill>
            <a:srgbClr val="F5F1EA"/>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847587" y="2999232"/>
            <a:ext cx="548639" cy="274320"/>
          </a:xfrm>
          <a:prstGeom prst="rect">
            <a:avLst/>
          </a:prstGeom>
          <a:noFill/>
        </p:spPr>
        <p:txBody>
          <a:bodyPr wrap="square" lIns="36575" rIns="36575" tIns="18288" bIns="18288" anchor="ctr">
            <a:spAutoFit/>
          </a:bodyPr>
          <a:lstStyle/>
          <a:p>
            <a:pPr algn="ctr"/>
            <a:r>
              <a:rPr sz="1200" b="1">
                <a:solidFill>
                  <a:srgbClr val="1E1E1E"/>
                </a:solidFill>
                <a:latin typeface="Aptos Mono"/>
              </a:rPr>
              <a:t>03</a:t>
            </a:r>
          </a:p>
        </p:txBody>
      </p:sp>
      <p:sp>
        <p:nvSpPr>
          <p:cNvPr id="20" name="TextBox 19"/>
          <p:cNvSpPr txBox="1"/>
          <p:nvPr/>
        </p:nvSpPr>
        <p:spPr>
          <a:xfrm>
            <a:off x="552754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问题识别</a:t>
            </a:r>
          </a:p>
        </p:txBody>
      </p:sp>
      <p:sp>
        <p:nvSpPr>
          <p:cNvPr id="21" name="TextBox 20"/>
          <p:cNvSpPr txBox="1"/>
          <p:nvPr/>
        </p:nvSpPr>
        <p:spPr>
          <a:xfrm>
            <a:off x="516178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运用数据识别运行波动和新问题。</a:t>
            </a:r>
          </a:p>
        </p:txBody>
      </p:sp>
      <p:sp>
        <p:nvSpPr>
          <p:cNvPr id="22" name="Oval 21"/>
          <p:cNvSpPr/>
          <p:nvPr/>
        </p:nvSpPr>
        <p:spPr>
          <a:xfrm>
            <a:off x="8350757" y="2916936"/>
            <a:ext cx="548639" cy="548640"/>
          </a:xfrm>
          <a:prstGeom prst="ellipse">
            <a:avLst/>
          </a:prstGeom>
          <a:solidFill>
            <a:srgbClr val="F5F1EA"/>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50757" y="2999232"/>
            <a:ext cx="548639" cy="274320"/>
          </a:xfrm>
          <a:prstGeom prst="rect">
            <a:avLst/>
          </a:prstGeom>
          <a:noFill/>
        </p:spPr>
        <p:txBody>
          <a:bodyPr wrap="square" lIns="36575" rIns="36575" tIns="18288" bIns="18288" anchor="ctr">
            <a:spAutoFit/>
          </a:bodyPr>
          <a:lstStyle/>
          <a:p>
            <a:pPr algn="ctr"/>
            <a:r>
              <a:rPr sz="1200" b="1">
                <a:solidFill>
                  <a:srgbClr val="1E1E1E"/>
                </a:solidFill>
                <a:latin typeface="Aptos Mono"/>
              </a:rPr>
              <a:t>04</a:t>
            </a:r>
          </a:p>
        </p:txBody>
      </p:sp>
      <p:sp>
        <p:nvSpPr>
          <p:cNvPr id="24" name="TextBox 23"/>
          <p:cNvSpPr txBox="1"/>
          <p:nvPr/>
        </p:nvSpPr>
        <p:spPr>
          <a:xfrm>
            <a:off x="803071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标准优化</a:t>
            </a:r>
          </a:p>
        </p:txBody>
      </p:sp>
      <p:sp>
        <p:nvSpPr>
          <p:cNvPr id="25" name="TextBox 24"/>
          <p:cNvSpPr txBox="1"/>
          <p:nvPr/>
        </p:nvSpPr>
        <p:spPr>
          <a:xfrm>
            <a:off x="766495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根据复盘结果持续优化作业标准。</a:t>
            </a:r>
          </a:p>
        </p:txBody>
      </p:sp>
      <p:sp>
        <p:nvSpPr>
          <p:cNvPr id="26" name="Oval 25"/>
          <p:cNvSpPr/>
          <p:nvPr/>
        </p:nvSpPr>
        <p:spPr>
          <a:xfrm>
            <a:off x="10853927" y="2916936"/>
            <a:ext cx="548639" cy="548640"/>
          </a:xfrm>
          <a:prstGeom prst="ellipse">
            <a:avLst/>
          </a:prstGeom>
          <a:solidFill>
            <a:srgbClr val="F5F1EA"/>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53927" y="2999232"/>
            <a:ext cx="548639" cy="274320"/>
          </a:xfrm>
          <a:prstGeom prst="rect">
            <a:avLst/>
          </a:prstGeom>
          <a:noFill/>
        </p:spPr>
        <p:txBody>
          <a:bodyPr wrap="square" lIns="36575" rIns="36575" tIns="18288" bIns="18288" anchor="ctr">
            <a:spAutoFit/>
          </a:bodyPr>
          <a:lstStyle/>
          <a:p>
            <a:pPr algn="ctr"/>
            <a:r>
              <a:rPr sz="1200" b="1">
                <a:solidFill>
                  <a:srgbClr val="1E1E1E"/>
                </a:solidFill>
                <a:latin typeface="Aptos Mono"/>
              </a:rPr>
              <a:t>05</a:t>
            </a:r>
          </a:p>
        </p:txBody>
      </p:sp>
      <p:sp>
        <p:nvSpPr>
          <p:cNvPr id="28" name="TextBox 27"/>
          <p:cNvSpPr txBox="1"/>
          <p:nvPr/>
        </p:nvSpPr>
        <p:spPr>
          <a:xfrm>
            <a:off x="10533887" y="3730752"/>
            <a:ext cx="1188719" cy="347472"/>
          </a:xfrm>
          <a:prstGeom prst="rect">
            <a:avLst/>
          </a:prstGeom>
          <a:noFill/>
        </p:spPr>
        <p:txBody>
          <a:bodyPr wrap="square" lIns="36575" rIns="36575" tIns="18288" bIns="18288" anchor="ctr">
            <a:spAutoFit/>
          </a:bodyPr>
          <a:lstStyle/>
          <a:p>
            <a:pPr algn="ctr"/>
            <a:r>
              <a:rPr sz="1500" b="1">
                <a:solidFill>
                  <a:srgbClr val="1E1E1E"/>
                </a:solidFill>
                <a:latin typeface="Aptos"/>
              </a:rPr>
              <a:t>闭环确认</a:t>
            </a:r>
          </a:p>
        </p:txBody>
      </p:sp>
      <p:sp>
        <p:nvSpPr>
          <p:cNvPr id="29" name="TextBox 28"/>
          <p:cNvSpPr txBox="1"/>
          <p:nvPr/>
        </p:nvSpPr>
        <p:spPr>
          <a:xfrm>
            <a:off x="10168127" y="4160520"/>
            <a:ext cx="1920239" cy="594360"/>
          </a:xfrm>
          <a:prstGeom prst="rect">
            <a:avLst/>
          </a:prstGeom>
          <a:noFill/>
        </p:spPr>
        <p:txBody>
          <a:bodyPr wrap="square" lIns="36575" rIns="36575" tIns="18288" bIns="18288" anchor="ctr">
            <a:spAutoFit/>
          </a:bodyPr>
          <a:lstStyle/>
          <a:p>
            <a:pPr algn="ctr"/>
            <a:r>
              <a:rPr sz="1200" b="0">
                <a:solidFill>
                  <a:srgbClr val="6B6259"/>
                </a:solidFill>
                <a:latin typeface="Aptos"/>
              </a:rPr>
              <a:t>通过不少于3个月跟踪确认改进成果稳定性。</a:t>
            </a:r>
          </a:p>
        </p:txBody>
      </p:sp>
      <p:sp>
        <p:nvSpPr>
          <p:cNvPr id="30" name="Rectangle 29"/>
          <p:cNvSpPr/>
          <p:nvPr/>
        </p:nvSpPr>
        <p:spPr>
          <a:xfrm>
            <a:off x="749807" y="5596128"/>
            <a:ext cx="54863" cy="420624"/>
          </a:xfrm>
          <a:prstGeom prst="rect">
            <a:avLst/>
          </a:prstGeom>
          <a:solidFill>
            <a:srgbClr val="D89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2687" y="5605272"/>
            <a:ext cx="9966959" cy="384048"/>
          </a:xfrm>
          <a:prstGeom prst="rect">
            <a:avLst/>
          </a:prstGeom>
          <a:noFill/>
        </p:spPr>
        <p:txBody>
          <a:bodyPr wrap="square" lIns="36575" rIns="36575" tIns="18288" bIns="18288" anchor="ctr">
            <a:spAutoFit/>
          </a:bodyPr>
          <a:lstStyle/>
          <a:p>
            <a:pPr algn="l"/>
            <a:r>
              <a:rPr sz="1100" b="1">
                <a:solidFill>
                  <a:srgbClr val="1E1E1E"/>
                </a:solidFill>
                <a:latin typeface="Aptos Mono"/>
              </a:rPr>
              <a:t>TAKEAWAY 持续跟踪、数据复盘和标准迭代共同验证项目成果的可持续性。</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1EA"/>
        </a:solidFill>
        <a:effectLst/>
      </p:bgPr>
    </p:bg>
    <p:spTree>
      <p:nvGrpSpPr>
        <p:cNvPr id="1" name=""/>
        <p:cNvGrpSpPr/>
        <p:nvPr/>
      </p:nvGrpSpPr>
      <p:grpSpPr/>
      <p:sp>
        <p:nvSpPr>
          <p:cNvPr id="2" name="Rectangle 1"/>
          <p:cNvSpPr/>
          <p:nvPr/>
        </p:nvSpPr>
        <p:spPr>
          <a:xfrm>
            <a:off x="749807" y="310896"/>
            <a:ext cx="10652759" cy="10972"/>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49807" y="6144768"/>
            <a:ext cx="10652759" cy="7315"/>
          </a:xfrm>
          <a:prstGeom prst="rect">
            <a:avLst/>
          </a:prstGeom>
          <a:solidFill>
            <a:srgbClr val="6B6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09727" cy="6858000"/>
          </a:xfrm>
          <a:prstGeom prst="rect">
            <a:avLst/>
          </a:prstGeom>
          <a:solidFill>
            <a:srgbClr val="B84A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9807" y="6355080"/>
            <a:ext cx="2011679" cy="182880"/>
          </a:xfrm>
          <a:prstGeom prst="rect">
            <a:avLst/>
          </a:prstGeom>
          <a:noFill/>
        </p:spPr>
        <p:txBody>
          <a:bodyPr wrap="square" lIns="36575" rIns="36575" tIns="18288" bIns="18288" anchor="ctr">
            <a:spAutoFit/>
          </a:bodyPr>
          <a:lstStyle/>
          <a:p>
            <a:pPr algn="l"/>
            <a:r>
              <a:rPr sz="800" b="0">
                <a:solidFill>
                  <a:srgbClr val="6B6259"/>
                </a:solidFill>
                <a:latin typeface="Aptos Mono"/>
              </a:rPr>
              <a:t>AIWeb / 35</a:t>
            </a:r>
          </a:p>
        </p:txBody>
      </p:sp>
      <p:sp>
        <p:nvSpPr>
          <p:cNvPr id="6" name="TextBox 5"/>
          <p:cNvSpPr txBox="1"/>
          <p:nvPr/>
        </p:nvSpPr>
        <p:spPr>
          <a:xfrm>
            <a:off x="749807" y="914400"/>
            <a:ext cx="2743199" cy="310896"/>
          </a:xfrm>
          <a:prstGeom prst="rect">
            <a:avLst/>
          </a:prstGeom>
          <a:noFill/>
        </p:spPr>
        <p:txBody>
          <a:bodyPr wrap="square" lIns="36575" rIns="36575" tIns="18288" bIns="18288" anchor="ctr">
            <a:spAutoFit/>
          </a:bodyPr>
          <a:lstStyle/>
          <a:p>
            <a:pPr algn="l"/>
            <a:r>
              <a:rPr sz="1200" b="1">
                <a:solidFill>
                  <a:srgbClr val="D89A3D"/>
                </a:solidFill>
                <a:latin typeface="Aptos Mono"/>
              </a:rPr>
              <a:t>管理闭环</a:t>
            </a:r>
          </a:p>
        </p:txBody>
      </p:sp>
      <p:sp>
        <p:nvSpPr>
          <p:cNvPr id="7" name="TextBox 6"/>
          <p:cNvSpPr txBox="1"/>
          <p:nvPr/>
        </p:nvSpPr>
        <p:spPr>
          <a:xfrm>
            <a:off x="731519" y="1508760"/>
            <a:ext cx="9235439" cy="1143000"/>
          </a:xfrm>
          <a:prstGeom prst="rect">
            <a:avLst/>
          </a:prstGeom>
          <a:noFill/>
        </p:spPr>
        <p:txBody>
          <a:bodyPr wrap="square" lIns="36575" rIns="36575" tIns="18288" bIns="18288" anchor="ctr">
            <a:spAutoFit/>
          </a:bodyPr>
          <a:lstStyle/>
          <a:p>
            <a:pPr algn="l"/>
            <a:r>
              <a:rPr sz="3800" b="1">
                <a:solidFill>
                  <a:srgbClr val="1E1E1E"/>
                </a:solidFill>
                <a:latin typeface="Aptos"/>
              </a:rPr>
              <a:t>项目实现了从数据发现到制度固化的闭环管理</a:t>
            </a:r>
          </a:p>
        </p:txBody>
      </p:sp>
      <p:sp>
        <p:nvSpPr>
          <p:cNvPr id="8" name="TextBox 7"/>
          <p:cNvSpPr txBox="1"/>
          <p:nvPr/>
        </p:nvSpPr>
        <p:spPr>
          <a:xfrm>
            <a:off x="777239" y="3017520"/>
            <a:ext cx="8138159" cy="685800"/>
          </a:xfrm>
          <a:prstGeom prst="rect">
            <a:avLst/>
          </a:prstGeom>
          <a:noFill/>
        </p:spPr>
        <p:txBody>
          <a:bodyPr wrap="square" lIns="36575" rIns="36575" tIns="18288" bIns="18288" anchor="ctr">
            <a:spAutoFit/>
          </a:bodyPr>
          <a:lstStyle/>
          <a:p>
            <a:pPr algn="l"/>
            <a:r>
              <a:rPr sz="2100" b="0">
                <a:solidFill>
                  <a:srgbClr val="6B6259"/>
                </a:solidFill>
                <a:latin typeface="Aptos"/>
              </a:rPr>
              <a:t>每个阶段均有明确证据和承接动作</a:t>
            </a:r>
          </a:p>
        </p:txBody>
      </p:sp>
      <p:sp>
        <p:nvSpPr>
          <p:cNvPr id="9" name="Rounded Rectangle 8"/>
          <p:cNvSpPr/>
          <p:nvPr/>
        </p:nvSpPr>
        <p:spPr>
          <a:xfrm>
            <a:off x="768095" y="4572000"/>
            <a:ext cx="3017519" cy="594360"/>
          </a:xfrm>
          <a:prstGeom prst="roundRect">
            <a:avLst/>
          </a:prstGeom>
          <a:solidFill>
            <a:srgbClr val="B84A39"/>
          </a:solidFill>
          <a:ln w="10160">
            <a:solidFill>
              <a:srgbClr val="B84A3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19" y="4718304"/>
            <a:ext cx="2651759" cy="256032"/>
          </a:xfrm>
          <a:prstGeom prst="rect">
            <a:avLst/>
          </a:prstGeom>
          <a:noFill/>
        </p:spPr>
        <p:txBody>
          <a:bodyPr wrap="square" lIns="36575" rIns="36575" tIns="18288" bIns="18288" anchor="ctr">
            <a:spAutoFit/>
          </a:bodyPr>
          <a:lstStyle/>
          <a:p>
            <a:pPr algn="ctr"/>
            <a:r>
              <a:rPr sz="1100" b="1">
                <a:solidFill>
                  <a:srgbClr val="FFFFFF"/>
                </a:solidFill>
                <a:latin typeface="Aptos Mono"/>
              </a:rPr>
              <a:t>DOWNLOAD / EDIT LOCALLY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