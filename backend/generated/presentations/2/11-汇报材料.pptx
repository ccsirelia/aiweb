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汇报材料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01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822960"/>
            <a:ext cx="566927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5B94C"/>
                </a:solidFill>
                <a:latin typeface="Aptos Mono"/>
              </a:rPr>
              <a:t>2026年度CAPSE民航质量提升实践大赛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" y="1353312"/>
            <a:ext cx="5897879" cy="1600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4000" b="1">
                <a:solidFill>
                  <a:srgbClr val="EAF5FF"/>
                </a:solidFill>
                <a:latin typeface="Aptos"/>
              </a:rPr>
              <a:t>缩短高峰时段道口单车进场保障平均时间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39" y="3182112"/>
            <a:ext cx="5577839" cy="7315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6C0D6"/>
                </a:solidFill>
                <a:latin typeface="Aptos"/>
              </a:rPr>
              <a:t>福州机场道口流程质量提升实践汇报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39" y="5175504"/>
            <a:ext cx="1280159" cy="4572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39" y="5321808"/>
            <a:ext cx="420623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5CD6FF"/>
                </a:solidFill>
                <a:latin typeface="Aptos Mono"/>
              </a:rPr>
              <a:t>EDITABLE / DOWNLOAD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02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汇报结论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项目已实现单车平均检查时长由5.53分钟降至3.82分钟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改进后指标低于3.87分钟目标值，项目目标达成。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212848"/>
            <a:ext cx="6172199" cy="7772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A6C0D6"/>
                </a:solidFill>
                <a:latin typeface="Aptos"/>
              </a:rPr>
              <a:t>改进前单车平均检查时长为5.53分钟，目标值为3.87分钟，改进后为3.82分钟。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EAF5FF"/>
                </a:solidFill>
                <a:latin typeface="Aptos Mono"/>
              </a:rPr>
              <a:t>汇报结论 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6C0D6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改进后指标低于3.87分钟目标值，项目目标达成。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03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核心成效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单车平均检查时长缩短1.71分钟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核心指标从5.53分钟/车改善至3.82分钟/车。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39" y="2212848"/>
            <a:ext cx="2971799" cy="242316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1" y="2514600"/>
            <a:ext cx="2331719" cy="8686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"/>
              </a:rPr>
              <a:t>1.71分钟/车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59" y="3547872"/>
            <a:ext cx="2377439" cy="4114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单车平均检查时长缩短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核心指标从5.53分钟/车改善至3.82分钟/车。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04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指标对比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改进后单车平均检查时长低于项目目标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项目不仅达到3.87分钟目标，还进一步改善至3.82分钟。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3" y="2240280"/>
            <a:ext cx="4983479" cy="288036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79" y="2532888"/>
            <a:ext cx="4297679" cy="40233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EAF5FF"/>
                </a:solidFill>
                <a:latin typeface="Aptos"/>
              </a:rPr>
              <a:t>改进前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5567" y="3264408"/>
            <a:ext cx="109727" cy="109728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89887" y="3127248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单车平均检查时长：5.53分钟/车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15567" y="3703320"/>
            <a:ext cx="109727" cy="109728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89887" y="3566160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数据来源：2025年1月至3月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5567" y="4142232"/>
            <a:ext cx="109727" cy="109728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89887" y="4005072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有效样本：1500组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7" y="2240280"/>
            <a:ext cx="4983479" cy="2880360"/>
          </a:xfrm>
          <a:prstGeom prst="roundRect">
            <a:avLst/>
          </a:prstGeom>
          <a:solidFill>
            <a:srgbClr val="F5B94C"/>
          </a:solidFill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3" y="2532888"/>
            <a:ext cx="4297679" cy="40233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EAF5FF"/>
                </a:solidFill>
                <a:latin typeface="Aptos"/>
              </a:rPr>
              <a:t>改进后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65391" y="3264408"/>
            <a:ext cx="109727" cy="109728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39711" y="3127248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单车平均检查时长：3.82分钟/车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65391" y="3703320"/>
            <a:ext cx="109727" cy="109728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9711" y="3566160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数据来源：2026年3月至6月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65391" y="4142232"/>
            <a:ext cx="109727" cy="109728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9711" y="4005072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低于目标值3.87分钟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项目不仅达到3.87分钟目标，还进一步改善至3.82分钟。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05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项目定位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项目聚焦陆侧进入空侧的关键通行节点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道口通行效率同时关系机场运行效率与空防安全。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212848"/>
            <a:ext cx="6172199" cy="7772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A6C0D6"/>
                </a:solidFill>
                <a:latin typeface="Aptos"/>
              </a:rPr>
              <a:t>福州机场道口连接陆侧与空侧，承担保障车辆进入飞行控制区前的安全检查。随着机场业务量持续增长及二期建设即将完成，道口高峰通行压力持续加大。</a:t>
            </a:r>
          </a:p>
        </p:txBody>
      </p:sp>
      <p:sp>
        <p:nvSpPr>
          <p:cNvPr id="28" name="Oval 27"/>
          <p:cNvSpPr/>
          <p:nvPr/>
        </p:nvSpPr>
        <p:spPr>
          <a:xfrm>
            <a:off x="877823" y="3182112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2999" y="3072384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直接服务车辆安全检查与放行</a:t>
            </a:r>
          </a:p>
        </p:txBody>
      </p:sp>
      <p:sp>
        <p:nvSpPr>
          <p:cNvPr id="30" name="Oval 29"/>
          <p:cNvSpPr/>
          <p:nvPr/>
        </p:nvSpPr>
        <p:spPr>
          <a:xfrm>
            <a:off x="877823" y="3749039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2999" y="3639312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影响驻场单位及司乘人员通行体验</a:t>
            </a:r>
          </a:p>
        </p:txBody>
      </p:sp>
      <p:sp>
        <p:nvSpPr>
          <p:cNvPr id="32" name="Oval 31"/>
          <p:cNvSpPr/>
          <p:nvPr/>
        </p:nvSpPr>
        <p:spPr>
          <a:xfrm>
            <a:off x="877823" y="4315968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2999" y="4206239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是机场运行保障的重要节点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EAF5FF"/>
                </a:solidFill>
                <a:latin typeface="Aptos Mono"/>
              </a:rPr>
              <a:t>项目定位 33%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6C0D6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道口通行效率同时关系机场运行效率与空防安全。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06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问题背景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高峰车流集中到达使原有串行检查模式承压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瞬时车流增长与串行作业叠加，造成车辆排队积压。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212848"/>
            <a:ext cx="6172199" cy="7772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A6C0D6"/>
                </a:solidFill>
                <a:latin typeface="Aptos"/>
              </a:rPr>
              <a:t>各类保障车辆、施工车辆集中抵达道口，原有单通道依次排队、串行检查模式难以承载瞬时车流。</a:t>
            </a:r>
          </a:p>
        </p:txBody>
      </p:sp>
      <p:sp>
        <p:nvSpPr>
          <p:cNvPr id="28" name="Oval 27"/>
          <p:cNvSpPr/>
          <p:nvPr/>
        </p:nvSpPr>
        <p:spPr>
          <a:xfrm>
            <a:off x="877823" y="3182112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2999" y="3072384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高峰时段车辆集中到达</a:t>
            </a:r>
          </a:p>
        </p:txBody>
      </p:sp>
      <p:sp>
        <p:nvSpPr>
          <p:cNvPr id="30" name="Oval 29"/>
          <p:cNvSpPr/>
          <p:nvPr/>
        </p:nvSpPr>
        <p:spPr>
          <a:xfrm>
            <a:off x="877823" y="3749039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2999" y="3639312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单通道排队等待时间较长</a:t>
            </a:r>
          </a:p>
        </p:txBody>
      </p:sp>
      <p:sp>
        <p:nvSpPr>
          <p:cNvPr id="32" name="Oval 31"/>
          <p:cNvSpPr/>
          <p:nvPr/>
        </p:nvSpPr>
        <p:spPr>
          <a:xfrm>
            <a:off x="877823" y="4315968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2999" y="4206239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通行压力成为道口保障能力瓶颈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EAF5FF"/>
                </a:solidFill>
                <a:latin typeface="Aptos Mono"/>
              </a:rPr>
              <a:t>问题背景 33%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6C0D6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瞬时车流增长与串行作业叠加，造成车辆排队积压。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07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现状痛点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检查环节衔接不畅会放大前序延误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环节间延误逐级传导，拉长车辆整体通过时间。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212848"/>
            <a:ext cx="6172199" cy="7772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A6C0D6"/>
                </a:solidFill>
                <a:latin typeface="Aptos"/>
              </a:rPr>
              <a:t>车辆到达、证件核验、车辆检查、信息登记、放行等环节之间协同不足，前一环节的延误容易传导至后续环节。</a:t>
            </a:r>
          </a:p>
        </p:txBody>
      </p:sp>
      <p:sp>
        <p:nvSpPr>
          <p:cNvPr id="28" name="Oval 27"/>
          <p:cNvSpPr/>
          <p:nvPr/>
        </p:nvSpPr>
        <p:spPr>
          <a:xfrm>
            <a:off x="877823" y="3182112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2999" y="3072384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车辆到达与证件核验衔接不足</a:t>
            </a:r>
          </a:p>
        </p:txBody>
      </p:sp>
      <p:sp>
        <p:nvSpPr>
          <p:cNvPr id="30" name="Oval 29"/>
          <p:cNvSpPr/>
          <p:nvPr/>
        </p:nvSpPr>
        <p:spPr>
          <a:xfrm>
            <a:off x="877823" y="3749039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2999" y="3639312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车辆检查与信息登记配合不够顺畅</a:t>
            </a:r>
          </a:p>
        </p:txBody>
      </p:sp>
      <p:sp>
        <p:nvSpPr>
          <p:cNvPr id="32" name="Oval 31"/>
          <p:cNvSpPr/>
          <p:nvPr/>
        </p:nvSpPr>
        <p:spPr>
          <a:xfrm>
            <a:off x="877823" y="4315968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2999" y="4206239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放行环节受到前序等待影响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EAF5FF"/>
                </a:solidFill>
                <a:latin typeface="Aptos Mono"/>
              </a:rPr>
              <a:t>现状痛点 33%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6C0D6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环节间延误逐级传导，拉长车辆整体通过时间。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08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现状痛点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异常车辆占用通道会加剧后方积压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证件或车辆检查异常缺少快速响应与分级处置机制。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212848"/>
            <a:ext cx="6172199" cy="7772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A6C0D6"/>
                </a:solidFill>
                <a:latin typeface="Aptos"/>
              </a:rPr>
              <a:t>遇到证件异常、车辆检查异常等情况时，异常车辆可能持续占用通道资源，导致后方车辆积压进一步加剧。</a:t>
            </a:r>
          </a:p>
        </p:txBody>
      </p:sp>
      <p:sp>
        <p:nvSpPr>
          <p:cNvPr id="28" name="Oval 27"/>
          <p:cNvSpPr/>
          <p:nvPr/>
        </p:nvSpPr>
        <p:spPr>
          <a:xfrm>
            <a:off x="877823" y="3182112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2999" y="3072384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异常识别后缺少快速响应</a:t>
            </a:r>
          </a:p>
        </p:txBody>
      </p:sp>
      <p:sp>
        <p:nvSpPr>
          <p:cNvPr id="30" name="Oval 29"/>
          <p:cNvSpPr/>
          <p:nvPr/>
        </p:nvSpPr>
        <p:spPr>
          <a:xfrm>
            <a:off x="877823" y="3749039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2999" y="3639312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异常车辆与正常车辆处置缺少有效分离</a:t>
            </a:r>
          </a:p>
        </p:txBody>
      </p:sp>
      <p:sp>
        <p:nvSpPr>
          <p:cNvPr id="32" name="Oval 31"/>
          <p:cNvSpPr/>
          <p:nvPr/>
        </p:nvSpPr>
        <p:spPr>
          <a:xfrm>
            <a:off x="877823" y="4315968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2999" y="4206239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高峰期拥堵风险被进一步放大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EAF5FF"/>
                </a:solidFill>
                <a:latin typeface="Aptos Mono"/>
              </a:rPr>
              <a:t>现状痛点 33%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6C0D6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证件或车辆检查异常缺少快速响应与分级处置机制。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09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现状痛点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岗位职责与交接标准不清晰导致重复劳动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岗位边界与交接标准需要通过流程固化加以明确。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212848"/>
            <a:ext cx="6172199" cy="7772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A6C0D6"/>
                </a:solidFill>
                <a:latin typeface="Aptos"/>
              </a:rPr>
              <a:t>各检查岗位之间职责边界模糊，交接流程缺少标准化操作规范，容易出现责任空白或重复劳动。</a:t>
            </a:r>
          </a:p>
        </p:txBody>
      </p:sp>
      <p:sp>
        <p:nvSpPr>
          <p:cNvPr id="28" name="Oval 27"/>
          <p:cNvSpPr/>
          <p:nvPr/>
        </p:nvSpPr>
        <p:spPr>
          <a:xfrm>
            <a:off x="877823" y="3182112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2999" y="3072384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岗位职责边界不够明确</a:t>
            </a:r>
          </a:p>
        </p:txBody>
      </p:sp>
      <p:sp>
        <p:nvSpPr>
          <p:cNvPr id="30" name="Oval 29"/>
          <p:cNvSpPr/>
          <p:nvPr/>
        </p:nvSpPr>
        <p:spPr>
          <a:xfrm>
            <a:off x="877823" y="3749039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2999" y="3639312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交接操作缺少统一标准</a:t>
            </a:r>
          </a:p>
        </p:txBody>
      </p:sp>
      <p:sp>
        <p:nvSpPr>
          <p:cNvPr id="32" name="Oval 31"/>
          <p:cNvSpPr/>
          <p:nvPr/>
        </p:nvSpPr>
        <p:spPr>
          <a:xfrm>
            <a:off x="877823" y="4315968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2999" y="4206239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作业方法受个人习惯影响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EAF5FF"/>
                </a:solidFill>
                <a:latin typeface="Aptos Mono"/>
              </a:rPr>
              <a:t>现状痛点 33%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6C0D6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岗位边界与交接标准需要通过流程固化加以明确。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10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现状调查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项目以分层法拆解车辆进场检查全过程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项目先识别关键路径，再定位可改善浪费时间。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39" y="3172968"/>
            <a:ext cx="9829799" cy="54864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1247" y="2916936"/>
            <a:ext cx="548639" cy="548640"/>
          </a:xfrm>
          <a:prstGeom prst="ellipse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Mono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EAF5FF"/>
                </a:solidFill>
                <a:latin typeface="Aptos"/>
              </a:rPr>
              <a:t>流程拆分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A6C0D6"/>
                </a:solidFill>
                <a:latin typeface="Aptos"/>
              </a:rPr>
              <a:t>按车辆进场检查过程拆分各环节。</a:t>
            </a:r>
          </a:p>
        </p:txBody>
      </p:sp>
      <p:sp>
        <p:nvSpPr>
          <p:cNvPr id="32" name="Oval 31"/>
          <p:cNvSpPr/>
          <p:nvPr/>
        </p:nvSpPr>
        <p:spPr>
          <a:xfrm>
            <a:off x="4178807" y="2916936"/>
            <a:ext cx="548639" cy="548640"/>
          </a:xfrm>
          <a:prstGeom prst="ellipse">
            <a:avLst/>
          </a:prstGeom>
          <a:solidFill>
            <a:srgbClr val="102238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7880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EAF5FF"/>
                </a:solidFill>
                <a:latin typeface="Aptos Mono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876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EAF5FF"/>
                </a:solidFill>
                <a:latin typeface="Aptos"/>
              </a:rPr>
              <a:t>数据采集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9300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A6C0D6"/>
                </a:solidFill>
                <a:latin typeface="Aptos"/>
              </a:rPr>
              <a:t>查看监控与安全管理系统中的车辆过检时间。</a:t>
            </a:r>
          </a:p>
        </p:txBody>
      </p:sp>
      <p:sp>
        <p:nvSpPr>
          <p:cNvPr id="36" name="Oval 35"/>
          <p:cNvSpPr/>
          <p:nvPr/>
        </p:nvSpPr>
        <p:spPr>
          <a:xfrm>
            <a:off x="7516367" y="2916936"/>
            <a:ext cx="548639" cy="548640"/>
          </a:xfrm>
          <a:prstGeom prst="ellipse">
            <a:avLst/>
          </a:prstGeom>
          <a:solidFill>
            <a:srgbClr val="102238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1636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EAF5FF"/>
                </a:solidFill>
                <a:latin typeface="Aptos Mono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9632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EAF5FF"/>
                </a:solidFill>
                <a:latin typeface="Aptos"/>
              </a:rPr>
              <a:t>样本覆盖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A6C0D6"/>
                </a:solidFill>
                <a:latin typeface="Aptos"/>
              </a:rPr>
              <a:t>选取2025年1月至3月，覆盖工作日、周末及两个高峰时段。</a:t>
            </a:r>
          </a:p>
        </p:txBody>
      </p:sp>
      <p:sp>
        <p:nvSpPr>
          <p:cNvPr id="40" name="Oval 39"/>
          <p:cNvSpPr/>
          <p:nvPr/>
        </p:nvSpPr>
        <p:spPr>
          <a:xfrm>
            <a:off x="10853927" y="2916936"/>
            <a:ext cx="548639" cy="548640"/>
          </a:xfrm>
          <a:prstGeom prst="ellipse">
            <a:avLst/>
          </a:prstGeom>
          <a:solidFill>
            <a:srgbClr val="102238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5392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EAF5FF"/>
                </a:solidFill>
                <a:latin typeface="Aptos Mono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3388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EAF5FF"/>
                </a:solidFill>
                <a:latin typeface="Aptos"/>
              </a:rPr>
              <a:t>问题识别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6812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A6C0D6"/>
                </a:solidFill>
                <a:latin typeface="Aptos"/>
              </a:rPr>
              <a:t>对各环节实际耗时与标准必要耗时进行分析。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项目先识别关键路径，再定位可改善浪费时间。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11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样本基础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现状判断建立在1500组有效样本之上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项目采用分时段、跨工作日与周末的数据进行现状测量。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39" y="2212848"/>
            <a:ext cx="2971799" cy="242316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1" y="2514600"/>
            <a:ext cx="2331719" cy="8686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"/>
              </a:rPr>
              <a:t>1500组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59" y="3547872"/>
            <a:ext cx="2377439" cy="4114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有效样本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项目采用分时段、跨工作日与周末的数据进行现状测量。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12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关键路径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车辆检查是正常运行条件下的主要耗时环节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单车总时长主要取决于两项并行检查中耗时较长的环节。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212848"/>
            <a:ext cx="6172199" cy="7772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A6C0D6"/>
                </a:solidFill>
                <a:latin typeface="Aptos"/>
              </a:rPr>
              <a:t>车辆拦停与车辆放行为串行关系；关联检查与车辆检查为并行关系。正常运行条件下，关联检查平均完成时间小于车辆检查平均完成时间。</a:t>
            </a:r>
          </a:p>
        </p:txBody>
      </p:sp>
      <p:sp>
        <p:nvSpPr>
          <p:cNvPr id="28" name="Oval 27"/>
          <p:cNvSpPr/>
          <p:nvPr/>
        </p:nvSpPr>
        <p:spPr>
          <a:xfrm>
            <a:off x="877823" y="3182112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2999" y="3072384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关联检查包括证件核验、人身检查及物品检查</a:t>
            </a:r>
          </a:p>
        </p:txBody>
      </p:sp>
      <p:sp>
        <p:nvSpPr>
          <p:cNvPr id="30" name="Oval 29"/>
          <p:cNvSpPr/>
          <p:nvPr/>
        </p:nvSpPr>
        <p:spPr>
          <a:xfrm>
            <a:off x="877823" y="3749039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2999" y="3639312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车辆检查包括车内、车外、车顶、车底检查</a:t>
            </a:r>
          </a:p>
        </p:txBody>
      </p:sp>
      <p:sp>
        <p:nvSpPr>
          <p:cNvPr id="32" name="Oval 31"/>
          <p:cNvSpPr/>
          <p:nvPr/>
        </p:nvSpPr>
        <p:spPr>
          <a:xfrm>
            <a:off x="877823" y="4315968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2999" y="4206239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关联检查通常未形成额外关键路径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EAF5FF"/>
                </a:solidFill>
                <a:latin typeface="Aptos Mono"/>
              </a:rPr>
              <a:t>关键路径 33%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6C0D6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单车总时长主要取决于两项并行检查中耗时较长的环节。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13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浪费识别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流程总浪费时长为2.07分钟/车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现状单车平均时长由标准必要时间与可改善浪费时间构成。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39" y="2212848"/>
            <a:ext cx="2971799" cy="242316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1" y="2514600"/>
            <a:ext cx="2331719" cy="8686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"/>
              </a:rPr>
              <a:t>2.07分钟/车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59" y="3547872"/>
            <a:ext cx="2377439" cy="4114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总浪费时长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现状单车平均时长由标准必要时间与可改善浪费时间构成。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14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关键路径补充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异常条件下关联检查平均浪费约0.1分钟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关联检查在异常情形下可能转化为影响通行效率的关键路径。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39" y="2212848"/>
            <a:ext cx="2971799" cy="242316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1" y="2514600"/>
            <a:ext cx="2331719" cy="8686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"/>
              </a:rPr>
              <a:t>0.1分钟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59" y="3547872"/>
            <a:ext cx="2377439" cy="4114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关联检查成为关键路径时的平均浪费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关联检查在异常情形下可能转化为影响通行效率的关键路径。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15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症结识别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车辆检查环节占可改善浪费时间的88.89%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车辆检查环节超过80%临界值，是改善通行效率的首要切入点。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399" y="5513831"/>
            <a:ext cx="10012679" cy="10972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399" y="5513831"/>
            <a:ext cx="10012679" cy="7315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399" y="4401311"/>
            <a:ext cx="10012679" cy="7315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399" y="3288791"/>
            <a:ext cx="10012679" cy="7315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399" y="2176271"/>
            <a:ext cx="10012679" cy="7315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13047" y="2176272"/>
            <a:ext cx="658367" cy="3337559"/>
          </a:xfrm>
          <a:prstGeom prst="round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79" y="1856231"/>
            <a:ext cx="1060703" cy="2286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AF5FF"/>
                </a:solidFill>
                <a:latin typeface="Aptos Mono"/>
              </a:rPr>
              <a:t>88.89%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8999" y="5623560"/>
            <a:ext cx="1426463" cy="31089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A6C0D6"/>
                </a:solidFill>
                <a:latin typeface="Aptos"/>
              </a:rPr>
              <a:t>车辆检查环节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70063" y="5096683"/>
            <a:ext cx="658367" cy="417148"/>
          </a:xfrm>
          <a:prstGeom prst="round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68895" y="4776643"/>
            <a:ext cx="1060703" cy="2286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AF5FF"/>
                </a:solidFill>
                <a:latin typeface="Aptos Mono"/>
              </a:rPr>
              <a:t>11.11%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5" y="5623560"/>
            <a:ext cx="1426463" cy="31089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A6C0D6"/>
                </a:solidFill>
                <a:latin typeface="Aptos"/>
              </a:rPr>
              <a:t>其他环节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车辆检查环节超过80%临界值，是改善通行效率的首要切入点。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16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目标设定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项目将单车平均通行时间目标设定为3.87分钟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目标值对应流程标准时间3.46分钟加目标浪费时间0.41分钟。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212848"/>
            <a:ext cx="6172199" cy="7772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A6C0D6"/>
                </a:solidFill>
                <a:latin typeface="Aptos"/>
              </a:rPr>
              <a:t>目标浪费时间为0.41分钟，计划缩减浪费时间1.66分钟。测算公式：目标值=x-x*y*0.9。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EAF5FF"/>
                </a:solidFill>
                <a:latin typeface="Aptos Mono"/>
              </a:rPr>
              <a:t>目标设定 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6C0D6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目标值对应流程标准时间3.46分钟加目标浪费时间0.41分钟。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17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分析方法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项目采用5M1E方法逐层拆解主要症结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结构化分析将复杂问题收敛为可验证的末端原因。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212848"/>
            <a:ext cx="6172199" cy="7772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A6C0D6"/>
                </a:solidFill>
                <a:latin typeface="Aptos"/>
              </a:rPr>
              <a:t>项目围绕车辆检查环节开展原因分析，运用5M1E分析法和树图进行逐层拆解。</a:t>
            </a:r>
          </a:p>
        </p:txBody>
      </p:sp>
      <p:sp>
        <p:nvSpPr>
          <p:cNvPr id="28" name="Oval 27"/>
          <p:cNvSpPr/>
          <p:nvPr/>
        </p:nvSpPr>
        <p:spPr>
          <a:xfrm>
            <a:off x="877823" y="3182112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2999" y="3072384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识别6个末端原因</a:t>
            </a:r>
          </a:p>
        </p:txBody>
      </p:sp>
      <p:sp>
        <p:nvSpPr>
          <p:cNvPr id="30" name="Oval 29"/>
          <p:cNvSpPr/>
          <p:nvPr/>
        </p:nvSpPr>
        <p:spPr>
          <a:xfrm>
            <a:off x="877823" y="3749039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2999" y="3639312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剔除不可控因素“人员检查意识待提高”</a:t>
            </a:r>
          </a:p>
        </p:txBody>
      </p:sp>
      <p:sp>
        <p:nvSpPr>
          <p:cNvPr id="32" name="Oval 31"/>
          <p:cNvSpPr/>
          <p:nvPr/>
        </p:nvSpPr>
        <p:spPr>
          <a:xfrm>
            <a:off x="877823" y="4315968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2999" y="4206239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形成5个可验证末端原因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EAF5FF"/>
                </a:solidFill>
                <a:latin typeface="Aptos Mono"/>
              </a:rPr>
              <a:t>分析方法 33%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6C0D6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结构化分析将复杂问题收敛为可验证的末端原因。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18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原因清单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五个末端原因覆盖设备、信息、组织与作业环境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原因范围既包括设备工具，也包括标准、引流和防护。</a:t>
            </a:r>
          </a:p>
        </p:txBody>
      </p:sp>
      <p:sp>
        <p:nvSpPr>
          <p:cNvPr id="27" name="Oval 26"/>
          <p:cNvSpPr/>
          <p:nvPr/>
        </p:nvSpPr>
        <p:spPr>
          <a:xfrm>
            <a:off x="877823" y="3182112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2999" y="3072384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车辆检查设施设备工具落后</a:t>
            </a:r>
          </a:p>
        </p:txBody>
      </p:sp>
      <p:sp>
        <p:nvSpPr>
          <p:cNvPr id="29" name="Oval 28"/>
          <p:cNvSpPr/>
          <p:nvPr/>
        </p:nvSpPr>
        <p:spPr>
          <a:xfrm>
            <a:off x="877823" y="3749039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2999" y="3639312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信息提示与引导不足</a:t>
            </a:r>
          </a:p>
        </p:txBody>
      </p:sp>
      <p:sp>
        <p:nvSpPr>
          <p:cNvPr id="31" name="Oval 30"/>
          <p:cNvSpPr/>
          <p:nvPr/>
        </p:nvSpPr>
        <p:spPr>
          <a:xfrm>
            <a:off x="877823" y="4315968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2999" y="4206239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缺少车辆引流</a:t>
            </a:r>
          </a:p>
        </p:txBody>
      </p:sp>
      <p:sp>
        <p:nvSpPr>
          <p:cNvPr id="33" name="Oval 32"/>
          <p:cNvSpPr/>
          <p:nvPr/>
        </p:nvSpPr>
        <p:spPr>
          <a:xfrm>
            <a:off x="877823" y="4882896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2999" y="4773168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作业标准未量化固化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EAF5FF"/>
                </a:solidFill>
                <a:latin typeface="Aptos Mono"/>
              </a:rPr>
              <a:t>原因清单 20%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6C0D6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原因范围既包括设备工具，也包括标准、引流和防护。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19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要因确认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设备工具落后与作业标准未固化被确认为两项要因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两项要因的影响程度均超过10%，应成为对策制定重点。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3" y="2240280"/>
            <a:ext cx="4983479" cy="288036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79" y="2532888"/>
            <a:ext cx="4297679" cy="40233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EAF5FF"/>
                </a:solidFill>
                <a:latin typeface="Aptos"/>
              </a:rPr>
              <a:t>确认为要因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5567" y="3264408"/>
            <a:ext cx="109727" cy="109728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89887" y="3127248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车辆检查设施设备工具落后：41.30%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15567" y="3703320"/>
            <a:ext cx="109727" cy="109728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89887" y="3566160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作业标准未量化固化：29.35%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7" y="2240280"/>
            <a:ext cx="4983479" cy="2880360"/>
          </a:xfrm>
          <a:prstGeom prst="roundRect">
            <a:avLst/>
          </a:prstGeom>
          <a:solidFill>
            <a:srgbClr val="F5B94C"/>
          </a:solidFill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7103" y="2532888"/>
            <a:ext cx="4297679" cy="40233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EAF5FF"/>
                </a:solidFill>
                <a:latin typeface="Aptos"/>
              </a:rPr>
              <a:t>确认为非要因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65391" y="3264408"/>
            <a:ext cx="109727" cy="109728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39711" y="3127248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信息引导不足：8.15%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65391" y="3703320"/>
            <a:ext cx="109727" cy="109728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39711" y="3566160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缺少车辆引流：2.17%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65391" y="4142232"/>
            <a:ext cx="109727" cy="109728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9711" y="4005072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作业场所防护等级不足：3.80%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两项要因的影响程度均超过10%，应成为对策制定重点。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20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要因验证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设备工具问题的影响程度高于其他已验证原因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车辆检查设施设备工具落后的影响程度达到41.30%，是验证原因中最高项。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399" y="5513831"/>
            <a:ext cx="10012679" cy="10972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399" y="5513831"/>
            <a:ext cx="10012679" cy="7315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399" y="4401311"/>
            <a:ext cx="10012679" cy="7315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399" y="3288791"/>
            <a:ext cx="10012679" cy="7315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399" y="2176271"/>
            <a:ext cx="10012679" cy="7315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034539" y="2176272"/>
            <a:ext cx="658367" cy="3337559"/>
          </a:xfrm>
          <a:prstGeom prst="round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33371" y="1856231"/>
            <a:ext cx="1060703" cy="2286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AF5FF"/>
                </a:solidFill>
                <a:latin typeface="Aptos Mono"/>
              </a:rPr>
              <a:t>41.3%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50491" y="5623560"/>
            <a:ext cx="1426463" cy="31089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A6C0D6"/>
                </a:solidFill>
                <a:latin typeface="Aptos"/>
              </a:rPr>
              <a:t>设备工具落后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13047" y="3141982"/>
            <a:ext cx="658367" cy="2371849"/>
          </a:xfrm>
          <a:prstGeom prst="round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11879" y="2821942"/>
            <a:ext cx="1060703" cy="2286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AF5FF"/>
                </a:solidFill>
                <a:latin typeface="Aptos Mono"/>
              </a:rPr>
              <a:t>29.35%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8999" y="5623560"/>
            <a:ext cx="1426463" cy="31089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A6C0D6"/>
                </a:solidFill>
                <a:latin typeface="Aptos"/>
              </a:rPr>
              <a:t>标准未固化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91555" y="4855209"/>
            <a:ext cx="658367" cy="658622"/>
          </a:xfrm>
          <a:prstGeom prst="round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0387" y="4535169"/>
            <a:ext cx="1060703" cy="2286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AF5FF"/>
                </a:solidFill>
                <a:latin typeface="Aptos Mono"/>
              </a:rPr>
              <a:t>8.15%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07507" y="5623560"/>
            <a:ext cx="1426463" cy="31089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A6C0D6"/>
                </a:solidFill>
                <a:latin typeface="Aptos"/>
              </a:rPr>
              <a:t>信息引导不足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70063" y="5206744"/>
            <a:ext cx="658367" cy="307087"/>
          </a:xfrm>
          <a:prstGeom prst="round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68895" y="4886704"/>
            <a:ext cx="1060703" cy="2286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AF5FF"/>
                </a:solidFill>
                <a:latin typeface="Aptos Mono"/>
              </a:rPr>
              <a:t>3.8%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86015" y="5623560"/>
            <a:ext cx="1426463" cy="31089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A6C0D6"/>
                </a:solidFill>
                <a:latin typeface="Aptos"/>
              </a:rPr>
              <a:t>场所防护不足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8571" y="5338468"/>
            <a:ext cx="658367" cy="175363"/>
          </a:xfrm>
          <a:prstGeom prst="round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47403" y="5018428"/>
            <a:ext cx="1060703" cy="2286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AF5FF"/>
                </a:solidFill>
                <a:latin typeface="Aptos Mono"/>
              </a:rPr>
              <a:t>2.17%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64523" y="5623560"/>
            <a:ext cx="1426463" cy="31089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A6C0D6"/>
                </a:solidFill>
                <a:latin typeface="Aptos"/>
              </a:rPr>
              <a:t>车辆引流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车辆检查设施设备工具落后的影响程度达到41.30%，是验证原因中最高项。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21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设备验证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设备整合使车内外检查平均时间缩短0.76分钟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统一信息系统将车底与车顶检查信息集中呈现，改善了设备检查效率。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3" y="2240280"/>
            <a:ext cx="4983479" cy="288036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79" y="2532888"/>
            <a:ext cx="4297679" cy="40233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EAF5FF"/>
                </a:solidFill>
                <a:latin typeface="Aptos"/>
              </a:rPr>
              <a:t>改善前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5567" y="3264408"/>
            <a:ext cx="109727" cy="109728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89887" y="3127248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车内外检查平均时间：4.48分钟/车次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15567" y="3703320"/>
            <a:ext cx="109727" cy="109728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89887" y="3566160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传统车底、车顶检查方法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5567" y="4142232"/>
            <a:ext cx="109727" cy="109728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89887" y="4005072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车底扫描与车顶检查信息未集中呈现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7" y="2240280"/>
            <a:ext cx="4983479" cy="2880360"/>
          </a:xfrm>
          <a:prstGeom prst="roundRect">
            <a:avLst/>
          </a:prstGeom>
          <a:solidFill>
            <a:srgbClr val="F5B94C"/>
          </a:solidFill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3" y="2532888"/>
            <a:ext cx="4297679" cy="40233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EAF5FF"/>
                </a:solidFill>
                <a:latin typeface="Aptos"/>
              </a:rPr>
              <a:t>改善后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65391" y="3264408"/>
            <a:ext cx="109727" cy="109728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39711" y="3127248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车内外检查平均时间：3.72分钟/车次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65391" y="3703320"/>
            <a:ext cx="109727" cy="109728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9711" y="3566160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配置车顶检查镜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65391" y="4142232"/>
            <a:ext cx="109727" cy="109728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9711" y="4005072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整合车底扫描仪与车顶球机监控设备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统一信息系统将车底与车顶检查信息集中呈现，改善了设备检查效率。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22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设备对策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五个道口完成车底与车顶检查设备整合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设备接入统一信息系统，并配套开展人员操作技能培训。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176272"/>
            <a:ext cx="4754879" cy="8046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A6C0D6"/>
                </a:solidFill>
                <a:latin typeface="Aptos"/>
              </a:rPr>
              <a:t>车底扫描图片、车顶实时视频集中在单块屏幕同步查看，传统车底、车顶检查方式更换为监控设备后台检查。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19" y="2057400"/>
            <a:ext cx="5074919" cy="3401568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799" y="3337560"/>
            <a:ext cx="420623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EAF5FF"/>
                </a:solidFill>
                <a:latin typeface="Aptos"/>
              </a:rPr>
              <a:t>预留：车底扫描仪、车顶球机监控设备及统一信息系统屏幕现场图片；资料未提供原图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设备接入统一信息系统，并配套开展人员操作技能培训。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23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标准验证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标准化检查法使车内检查平均时间缩短0.54分钟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标准动作减少重复与无效操作，车内检查效率得到改善。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3" y="2240280"/>
            <a:ext cx="4983479" cy="288036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79" y="2532888"/>
            <a:ext cx="4297679" cy="40233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EAF5FF"/>
                </a:solidFill>
                <a:latin typeface="Aptos"/>
              </a:rPr>
              <a:t>改善前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5567" y="3264408"/>
            <a:ext cx="109727" cy="109728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89887" y="3127248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按个人习惯自行检查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15567" y="3703320"/>
            <a:ext cx="109727" cy="109728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89887" y="3566160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车内检查平均耗时：2.95分钟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5567" y="4142232"/>
            <a:ext cx="109727" cy="109728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89887" y="4005072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无效耗时约0.8分钟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7" y="2240280"/>
            <a:ext cx="4983479" cy="2880360"/>
          </a:xfrm>
          <a:prstGeom prst="roundRect">
            <a:avLst/>
          </a:prstGeom>
          <a:solidFill>
            <a:srgbClr val="F5B94C"/>
          </a:solidFill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3" y="2532888"/>
            <a:ext cx="4297679" cy="40233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EAF5FF"/>
                </a:solidFill>
                <a:latin typeface="Aptos"/>
              </a:rPr>
              <a:t>改善后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65391" y="3264408"/>
            <a:ext cx="109727" cy="109728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39711" y="3127248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推行标准化检查法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65391" y="3703320"/>
            <a:ext cx="109727" cy="109728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9711" y="3566160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车内检查平均耗时：2.41分钟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65391" y="4142232"/>
            <a:ext cx="109727" cy="109728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9711" y="4005072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EAF5FF"/>
                </a:solidFill>
                <a:latin typeface="Aptos"/>
              </a:rPr>
              <a:t>无效耗时降至0.26分钟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标准动作减少重复与无效操作，车内检查效率得到改善。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24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流程对策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“由里向外、由上至下、由前至后”成为车内检查口诀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以可记忆、可执行的动作顺序固化车内检查标准。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212848"/>
            <a:ext cx="6172199" cy="7772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A6C0D6"/>
                </a:solidFill>
                <a:latin typeface="Aptos"/>
              </a:rPr>
              <a:t>车内检查以车内后视镜为起始点，逐步向扶手箱区域检查；中间区域完成后，按由上至下顺序核查副驾驶区域，最后检查车门。</a:t>
            </a:r>
          </a:p>
        </p:txBody>
      </p:sp>
      <p:sp>
        <p:nvSpPr>
          <p:cNvPr id="28" name="Oval 27"/>
          <p:cNvSpPr/>
          <p:nvPr/>
        </p:nvSpPr>
        <p:spPr>
          <a:xfrm>
            <a:off x="877823" y="3182112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2999" y="3072384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明确检查起始点</a:t>
            </a:r>
          </a:p>
        </p:txBody>
      </p:sp>
      <p:sp>
        <p:nvSpPr>
          <p:cNvPr id="30" name="Oval 29"/>
          <p:cNvSpPr/>
          <p:nvPr/>
        </p:nvSpPr>
        <p:spPr>
          <a:xfrm>
            <a:off x="877823" y="3749039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2999" y="3639312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统一空间检查顺序</a:t>
            </a:r>
          </a:p>
        </p:txBody>
      </p:sp>
      <p:sp>
        <p:nvSpPr>
          <p:cNvPr id="32" name="Oval 31"/>
          <p:cNvSpPr/>
          <p:nvPr/>
        </p:nvSpPr>
        <p:spPr>
          <a:xfrm>
            <a:off x="877823" y="4315968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2999" y="4206239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将操作图示上墙公示</a:t>
            </a:r>
          </a:p>
        </p:txBody>
      </p:sp>
      <p:sp>
        <p:nvSpPr>
          <p:cNvPr id="34" name="Oval 33"/>
          <p:cNvSpPr/>
          <p:nvPr/>
        </p:nvSpPr>
        <p:spPr>
          <a:xfrm>
            <a:off x="877823" y="4882896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2999" y="4773168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开展全员培训考核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EAF5FF"/>
                </a:solidFill>
                <a:latin typeface="Aptos Mono"/>
              </a:rPr>
              <a:t>流程对策 25%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6C0D6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以可记忆、可执行的动作顺序固化车内检查标准。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25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流程优化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车外检查改由副驾驶室直接开始以减少无效走动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优化原主驾驶检查方法，减少车辆检查过程中的无效移动。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212848"/>
            <a:ext cx="6172199" cy="7772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A6C0D6"/>
                </a:solidFill>
                <a:latin typeface="Aptos"/>
              </a:rPr>
              <a:t>车顶、车底检查结束后，车检员由副驾驶室直接开展检查，优化原来从主驾驶侧开始的检查方式。</a:t>
            </a:r>
          </a:p>
        </p:txBody>
      </p:sp>
      <p:sp>
        <p:nvSpPr>
          <p:cNvPr id="28" name="Oval 27"/>
          <p:cNvSpPr/>
          <p:nvPr/>
        </p:nvSpPr>
        <p:spPr>
          <a:xfrm>
            <a:off x="877823" y="3182112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2999" y="3072384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减少检查人员往返移动</a:t>
            </a:r>
          </a:p>
        </p:txBody>
      </p:sp>
      <p:sp>
        <p:nvSpPr>
          <p:cNvPr id="30" name="Oval 29"/>
          <p:cNvSpPr/>
          <p:nvPr/>
        </p:nvSpPr>
        <p:spPr>
          <a:xfrm>
            <a:off x="877823" y="3749039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2999" y="3639312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缩短小幅检查时长</a:t>
            </a:r>
          </a:p>
        </p:txBody>
      </p:sp>
      <p:sp>
        <p:nvSpPr>
          <p:cNvPr id="32" name="Oval 31"/>
          <p:cNvSpPr/>
          <p:nvPr/>
        </p:nvSpPr>
        <p:spPr>
          <a:xfrm>
            <a:off x="877823" y="4315968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2999" y="4206239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车辆检查流程整体重新梳理固化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EAF5FF"/>
                </a:solidFill>
                <a:latin typeface="Aptos Mono"/>
              </a:rPr>
              <a:t>流程优化 33%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6C0D6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优化原主驾驶检查方法，减少车辆检查过程中的无效移动。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26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实施成效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流程优化使单车车辆检查时间平均缩短0.95分钟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两项实施对策分别从设备能力和作业标准切入车辆检查浪费。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39" y="2212848"/>
            <a:ext cx="2971799" cy="242316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1" y="2514600"/>
            <a:ext cx="2331719" cy="8686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"/>
              </a:rPr>
              <a:t>0.95分钟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59" y="3547872"/>
            <a:ext cx="2377439" cy="4114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流程优化带来的单车车辆检查时间缩短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两项实施对策分别从设备能力和作业标准切入车辆检查浪费。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27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实施路径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项目按“设备整合、流程优化、培训验证”推进实施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设备和流程同步改进，并通过培训与现场验证确保措施落地。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39" y="3172968"/>
            <a:ext cx="9829799" cy="54864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1247" y="2916936"/>
            <a:ext cx="548639" cy="548640"/>
          </a:xfrm>
          <a:prstGeom prst="ellipse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Mono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EAF5FF"/>
                </a:solidFill>
                <a:latin typeface="Aptos"/>
              </a:rPr>
              <a:t>设备整合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A6C0D6"/>
                </a:solidFill>
                <a:latin typeface="Aptos"/>
              </a:rPr>
              <a:t>五个道口整合车底扫描仪与车顶球机监控设备，接入统一信息系统。</a:t>
            </a:r>
          </a:p>
        </p:txBody>
      </p:sp>
      <p:sp>
        <p:nvSpPr>
          <p:cNvPr id="32" name="Oval 31"/>
          <p:cNvSpPr/>
          <p:nvPr/>
        </p:nvSpPr>
        <p:spPr>
          <a:xfrm>
            <a:off x="4178807" y="2916936"/>
            <a:ext cx="548639" cy="548640"/>
          </a:xfrm>
          <a:prstGeom prst="ellipse">
            <a:avLst/>
          </a:prstGeom>
          <a:solidFill>
            <a:srgbClr val="102238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7880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EAF5FF"/>
                </a:solidFill>
                <a:latin typeface="Aptos Mono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876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EAF5FF"/>
                </a:solidFill>
                <a:latin typeface="Aptos"/>
              </a:rPr>
              <a:t>流程优化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9300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A6C0D6"/>
                </a:solidFill>
                <a:latin typeface="Aptos"/>
              </a:rPr>
              <a:t>重新梳理车辆检查流程，固化车内检查口诀与车外检查路径。</a:t>
            </a:r>
          </a:p>
        </p:txBody>
      </p:sp>
      <p:sp>
        <p:nvSpPr>
          <p:cNvPr id="36" name="Oval 35"/>
          <p:cNvSpPr/>
          <p:nvPr/>
        </p:nvSpPr>
        <p:spPr>
          <a:xfrm>
            <a:off x="7516367" y="2916936"/>
            <a:ext cx="548639" cy="548640"/>
          </a:xfrm>
          <a:prstGeom prst="ellipse">
            <a:avLst/>
          </a:prstGeom>
          <a:solidFill>
            <a:srgbClr val="102238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1636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EAF5FF"/>
                </a:solidFill>
                <a:latin typeface="Aptos Mono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9632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EAF5FF"/>
                </a:solidFill>
                <a:latin typeface="Aptos"/>
              </a:rPr>
              <a:t>能力培训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A6C0D6"/>
                </a:solidFill>
                <a:latin typeface="Aptos"/>
              </a:rPr>
              <a:t>开展设备操作技能培训及标准化检查流程培训考核。</a:t>
            </a:r>
          </a:p>
        </p:txBody>
      </p:sp>
      <p:sp>
        <p:nvSpPr>
          <p:cNvPr id="40" name="Oval 39"/>
          <p:cNvSpPr/>
          <p:nvPr/>
        </p:nvSpPr>
        <p:spPr>
          <a:xfrm>
            <a:off x="10853927" y="2916936"/>
            <a:ext cx="548639" cy="548640"/>
          </a:xfrm>
          <a:prstGeom prst="ellipse">
            <a:avLst/>
          </a:prstGeom>
          <a:solidFill>
            <a:srgbClr val="102238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5392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EAF5FF"/>
                </a:solidFill>
                <a:latin typeface="Aptos Mono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3388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EAF5FF"/>
                </a:solidFill>
                <a:latin typeface="Aptos"/>
              </a:rPr>
              <a:t>效果验证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6812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A6C0D6"/>
                </a:solidFill>
                <a:latin typeface="Aptos"/>
              </a:rPr>
              <a:t>选取与现状调查相同的时间段采集2026年3月至6月效果数据。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设备和流程同步改进，并通过培训与现场验证确保措施落地。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28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运行效益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高峰期平均排队等待时间由15分钟降至11分钟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通行效率改善直接降低了车辆在道口的高峰等待时间。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399" y="5513831"/>
            <a:ext cx="10012679" cy="10972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399" y="5513831"/>
            <a:ext cx="10012679" cy="7315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399" y="4401311"/>
            <a:ext cx="10012679" cy="7315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399" y="3288791"/>
            <a:ext cx="10012679" cy="7315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399" y="2176271"/>
            <a:ext cx="10012679" cy="7315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13047" y="2176271"/>
            <a:ext cx="658367" cy="3337560"/>
          </a:xfrm>
          <a:prstGeom prst="round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79" y="1856231"/>
            <a:ext cx="1060703" cy="2286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AF5FF"/>
                </a:solidFill>
                <a:latin typeface="Aptos Mono"/>
              </a:rPr>
              <a:t>15分钟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8999" y="5623560"/>
            <a:ext cx="1426463" cy="31089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A6C0D6"/>
                </a:solidFill>
                <a:latin typeface="Aptos"/>
              </a:rPr>
              <a:t>改进前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70063" y="3066287"/>
            <a:ext cx="658367" cy="2447544"/>
          </a:xfrm>
          <a:prstGeom prst="round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68895" y="2746247"/>
            <a:ext cx="1060703" cy="2286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AF5FF"/>
                </a:solidFill>
                <a:latin typeface="Aptos Mono"/>
              </a:rPr>
              <a:t>11分钟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5" y="5623560"/>
            <a:ext cx="1426463" cy="31089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A6C0D6"/>
                </a:solidFill>
                <a:latin typeface="Aptos"/>
              </a:rPr>
              <a:t>改进后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通行效率改善直接降低了车辆在道口的高峰等待时间。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29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通行能力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单通道理论服务能力由10.85辆/小时提升至15.71辆/小时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单通道理论服务能力提升44.8%，道口高峰承载能力增强。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399" y="5513831"/>
            <a:ext cx="10012679" cy="10972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399" y="5513831"/>
            <a:ext cx="10012679" cy="7315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399" y="4401311"/>
            <a:ext cx="10012679" cy="7315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399" y="3288791"/>
            <a:ext cx="10012679" cy="7315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399" y="2176271"/>
            <a:ext cx="10012679" cy="7315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13047" y="3208769"/>
            <a:ext cx="658367" cy="2305062"/>
          </a:xfrm>
          <a:prstGeom prst="round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79" y="2888729"/>
            <a:ext cx="1060703" cy="2286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AF5FF"/>
                </a:solidFill>
                <a:latin typeface="Aptos Mono"/>
              </a:rPr>
              <a:t>10.85辆/小时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8999" y="5623560"/>
            <a:ext cx="1426463" cy="31089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A6C0D6"/>
                </a:solidFill>
                <a:latin typeface="Aptos"/>
              </a:rPr>
              <a:t>改进前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70063" y="2176271"/>
            <a:ext cx="658367" cy="3337560"/>
          </a:xfrm>
          <a:prstGeom prst="round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68895" y="1856231"/>
            <a:ext cx="1060703" cy="2286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EAF5FF"/>
                </a:solidFill>
                <a:latin typeface="Aptos Mono"/>
              </a:rPr>
              <a:t>15.71辆/小时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5" y="5623560"/>
            <a:ext cx="1426463" cy="31089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A6C0D6"/>
                </a:solidFill>
                <a:latin typeface="Aptos"/>
              </a:rPr>
              <a:t>改进后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单通道理论服务能力提升44.8%，道口高峰承载能力增强。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30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安全与体验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效率改善同时提升了检查规范性与通行体验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项目改善不仅减少等待，也增强了检查的一致性和岗位协同。</a:t>
            </a:r>
          </a:p>
        </p:txBody>
      </p:sp>
      <p:sp>
        <p:nvSpPr>
          <p:cNvPr id="27" name="Oval 26"/>
          <p:cNvSpPr/>
          <p:nvPr/>
        </p:nvSpPr>
        <p:spPr>
          <a:xfrm>
            <a:off x="877823" y="3182112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2999" y="3072384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司乘人员通行体验显著改善</a:t>
            </a:r>
          </a:p>
        </p:txBody>
      </p:sp>
      <p:sp>
        <p:nvSpPr>
          <p:cNvPr id="29" name="Oval 28"/>
          <p:cNvSpPr/>
          <p:nvPr/>
        </p:nvSpPr>
        <p:spPr>
          <a:xfrm>
            <a:off x="877823" y="3749039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2999" y="3639312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道口排队长度明显缩短</a:t>
            </a:r>
          </a:p>
        </p:txBody>
      </p:sp>
      <p:sp>
        <p:nvSpPr>
          <p:cNvPr id="31" name="Oval 30"/>
          <p:cNvSpPr/>
          <p:nvPr/>
        </p:nvSpPr>
        <p:spPr>
          <a:xfrm>
            <a:off x="877823" y="4315968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2999" y="4206239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岗位职责与交接标准更加清晰</a:t>
            </a:r>
          </a:p>
        </p:txBody>
      </p:sp>
      <p:sp>
        <p:nvSpPr>
          <p:cNvPr id="33" name="Oval 32"/>
          <p:cNvSpPr/>
          <p:nvPr/>
        </p:nvSpPr>
        <p:spPr>
          <a:xfrm>
            <a:off x="877823" y="4882896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2999" y="4773168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员工操作疲劳度降低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EAF5FF"/>
                </a:solidFill>
                <a:latin typeface="Aptos Mono"/>
              </a:rPr>
              <a:t>安全与体验 20%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6C0D6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项目改善不仅减少等待，也增强了检查的一致性和岗位协同。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31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管理收益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项目在未增加人力投入的前提下提升道口通过能力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通过作业方式优化释放现有岗位和设备的保障能力。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212848"/>
            <a:ext cx="6172199" cy="7772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A6C0D6"/>
                </a:solidFill>
                <a:latin typeface="Aptos"/>
              </a:rPr>
              <a:t>设备升级与流程优化减少车辆检查时间，在未增加人力投入的前提下提升道口通过能力，人力资源配置效率得到优化。</a:t>
            </a:r>
          </a:p>
        </p:txBody>
      </p:sp>
      <p:sp>
        <p:nvSpPr>
          <p:cNvPr id="28" name="Oval 27"/>
          <p:cNvSpPr/>
          <p:nvPr/>
        </p:nvSpPr>
        <p:spPr>
          <a:xfrm>
            <a:off x="877823" y="3182112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2999" y="3072384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降低车辆等待造成的怠速油耗与运营成本</a:t>
            </a:r>
          </a:p>
        </p:txBody>
      </p:sp>
      <p:sp>
        <p:nvSpPr>
          <p:cNvPr id="30" name="Oval 29"/>
          <p:cNvSpPr/>
          <p:nvPr/>
        </p:nvSpPr>
        <p:spPr>
          <a:xfrm>
            <a:off x="877823" y="3749039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2999" y="3639312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减少驻场单位车辆等待时间</a:t>
            </a:r>
          </a:p>
        </p:txBody>
      </p:sp>
      <p:sp>
        <p:nvSpPr>
          <p:cNvPr id="32" name="Oval 31"/>
          <p:cNvSpPr/>
          <p:nvPr/>
        </p:nvSpPr>
        <p:spPr>
          <a:xfrm>
            <a:off x="877823" y="4315968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2999" y="4206239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改善岗位作业环境</a:t>
            </a:r>
          </a:p>
        </p:txBody>
      </p:sp>
      <p:sp>
        <p:nvSpPr>
          <p:cNvPr id="34" name="Oval 33"/>
          <p:cNvSpPr/>
          <p:nvPr/>
        </p:nvSpPr>
        <p:spPr>
          <a:xfrm>
            <a:off x="877823" y="4882896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2999" y="4773168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形成可复制的道口精益管理模式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EAF5FF"/>
                </a:solidFill>
                <a:latin typeface="Aptos Mono"/>
              </a:rPr>
              <a:t>管理收益 25%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6C0D6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通过作业方式优化释放现有岗位和设备的保障能力。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32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标准化固化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有效措施已纳入《道口车辆检查手册》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项目成果通过手册化实现从项目措施到日常作业标准的转化。</a:t>
            </a:r>
          </a:p>
        </p:txBody>
      </p:sp>
      <p:sp>
        <p:nvSpPr>
          <p:cNvPr id="27" name="Oval 26"/>
          <p:cNvSpPr/>
          <p:nvPr/>
        </p:nvSpPr>
        <p:spPr>
          <a:xfrm>
            <a:off x="877823" y="3182112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2999" y="3072384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车辆分类分流方案</a:t>
            </a:r>
          </a:p>
        </p:txBody>
      </p:sp>
      <p:sp>
        <p:nvSpPr>
          <p:cNvPr id="29" name="Oval 28"/>
          <p:cNvSpPr/>
          <p:nvPr/>
        </p:nvSpPr>
        <p:spPr>
          <a:xfrm>
            <a:off x="877823" y="3749039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2999" y="3639312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岗位职责与交接标准</a:t>
            </a:r>
          </a:p>
        </p:txBody>
      </p:sp>
      <p:sp>
        <p:nvSpPr>
          <p:cNvPr id="31" name="Oval 30"/>
          <p:cNvSpPr/>
          <p:nvPr/>
        </p:nvSpPr>
        <p:spPr>
          <a:xfrm>
            <a:off x="877823" y="4315968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2999" y="4206239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设备操作规程</a:t>
            </a:r>
          </a:p>
        </p:txBody>
      </p:sp>
      <p:sp>
        <p:nvSpPr>
          <p:cNvPr id="33" name="Oval 32"/>
          <p:cNvSpPr/>
          <p:nvPr/>
        </p:nvSpPr>
        <p:spPr>
          <a:xfrm>
            <a:off x="877823" y="4882896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2999" y="4773168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高峰弹性保障预案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EAF5FF"/>
                </a:solidFill>
                <a:latin typeface="Aptos Mono"/>
              </a:rPr>
              <a:t>标准化固化 25%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6C0D6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项目成果通过手册化实现从项目措施到日常作业标准的转化。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33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长效机制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三项机制支撑改进成果持续稳定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改进成果需要通过持续监测和制度化执行避免反弹。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39" y="3172968"/>
            <a:ext cx="9829799" cy="54864"/>
          </a:xfrm>
          <a:prstGeom prst="rect">
            <a:avLst/>
          </a:prstGeom>
          <a:solidFill>
            <a:srgbClr val="A6C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1247" y="2916936"/>
            <a:ext cx="548639" cy="548640"/>
          </a:xfrm>
          <a:prstGeom prst="ellipse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Mono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EAF5FF"/>
                </a:solidFill>
                <a:latin typeface="Aptos"/>
              </a:rPr>
              <a:t>指标监测机制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A6C0D6"/>
                </a:solidFill>
                <a:latin typeface="Aptos"/>
              </a:rPr>
              <a:t>持续跟踪单车检查时长、平均等待时长、单位时间通行量等关键指标。</a:t>
            </a:r>
          </a:p>
        </p:txBody>
      </p:sp>
      <p:sp>
        <p:nvSpPr>
          <p:cNvPr id="32" name="Oval 31"/>
          <p:cNvSpPr/>
          <p:nvPr/>
        </p:nvSpPr>
        <p:spPr>
          <a:xfrm>
            <a:off x="5847587" y="2916936"/>
            <a:ext cx="548639" cy="548640"/>
          </a:xfrm>
          <a:prstGeom prst="ellipse">
            <a:avLst/>
          </a:prstGeom>
          <a:solidFill>
            <a:srgbClr val="102238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4758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EAF5FF"/>
                </a:solidFill>
                <a:latin typeface="Aptos Mono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2754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EAF5FF"/>
                </a:solidFill>
                <a:latin typeface="Aptos"/>
              </a:rPr>
              <a:t>定期复盘机制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178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A6C0D6"/>
                </a:solidFill>
                <a:latin typeface="Aptos"/>
              </a:rPr>
              <a:t>按月召开道口运行分析会，运用数据复盘持续优化作业标准。</a:t>
            </a:r>
          </a:p>
        </p:txBody>
      </p:sp>
      <p:sp>
        <p:nvSpPr>
          <p:cNvPr id="36" name="Oval 35"/>
          <p:cNvSpPr/>
          <p:nvPr/>
        </p:nvSpPr>
        <p:spPr>
          <a:xfrm>
            <a:off x="10853927" y="2916936"/>
            <a:ext cx="548639" cy="548640"/>
          </a:xfrm>
          <a:prstGeom prst="ellipse">
            <a:avLst/>
          </a:prstGeom>
          <a:solidFill>
            <a:srgbClr val="102238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5392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EAF5FF"/>
                </a:solidFill>
                <a:latin typeface="Aptos Mono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3388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EAF5FF"/>
                </a:solidFill>
                <a:latin typeface="Aptos"/>
              </a:rPr>
              <a:t>培训固化机制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812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A6C0D6"/>
                </a:solidFill>
                <a:latin typeface="Aptos"/>
              </a:rPr>
              <a:t>将新流程、新标准纳入岗前培训和复训体系，确保执行一致性。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改进成果需要通过持续监测和制度化执行避免反弹。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34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INSIGHT / 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风险与边界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围绕核心目标提炼一条可验证、可执行的结论。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212848"/>
            <a:ext cx="6172199" cy="7772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A6C0D6"/>
                </a:solidFill>
                <a:latin typeface="Aptos"/>
              </a:rPr>
              <a:t>围绕“根据参考资料自行生成一份汇报PPT，国企风格，要求稳重不浮夸”把事实、判断和动作放在同一页中。</a:t>
            </a:r>
          </a:p>
        </p:txBody>
      </p:sp>
      <p:sp>
        <p:nvSpPr>
          <p:cNvPr id="28" name="Oval 27"/>
          <p:cNvSpPr/>
          <p:nvPr/>
        </p:nvSpPr>
        <p:spPr>
          <a:xfrm>
            <a:off x="877823" y="3182112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2999" y="3072384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用事实描述当前状态</a:t>
            </a:r>
          </a:p>
        </p:txBody>
      </p:sp>
      <p:sp>
        <p:nvSpPr>
          <p:cNvPr id="30" name="Oval 29"/>
          <p:cNvSpPr/>
          <p:nvPr/>
        </p:nvSpPr>
        <p:spPr>
          <a:xfrm>
            <a:off x="877823" y="3749039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2999" y="3639312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指出影响最大的变量</a:t>
            </a:r>
          </a:p>
        </p:txBody>
      </p:sp>
      <p:sp>
        <p:nvSpPr>
          <p:cNvPr id="32" name="Oval 31"/>
          <p:cNvSpPr/>
          <p:nvPr/>
        </p:nvSpPr>
        <p:spPr>
          <a:xfrm>
            <a:off x="877823" y="4315968"/>
            <a:ext cx="128015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2999" y="4206239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给出本周可以启动的动作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EAF5FF"/>
                </a:solidFill>
                <a:latin typeface="Aptos Mono"/>
              </a:rPr>
              <a:t>INSIGHT / 28 33%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6C0D6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围绕核心目标提炼一条可验证、可执行的结论。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1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9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3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799" y="502920"/>
            <a:ext cx="5486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19" y="914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19" y="18288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19" y="27432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19" y="36576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19" y="45720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19" y="5486400"/>
            <a:ext cx="1115567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79" y="530351"/>
            <a:ext cx="1417319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35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" y="914400"/>
            <a:ext cx="2743199" cy="31089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5B94C"/>
                </a:solidFill>
                <a:latin typeface="Aptos Mono"/>
              </a:rPr>
              <a:t>汇报结论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" y="1508760"/>
            <a:ext cx="9235439" cy="11430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EAF5FF"/>
                </a:solidFill>
                <a:latin typeface="Aptos"/>
              </a:rPr>
              <a:t>以设备整合和标准固化持续提升道口保障能力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39" y="3017520"/>
            <a:ext cx="8138159" cy="6858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100" b="0">
                <a:solidFill>
                  <a:srgbClr val="A6C0D6"/>
                </a:solidFill>
                <a:latin typeface="Aptos"/>
              </a:rPr>
              <a:t>项目已完成阶段性目标并形成持续改进基础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5" y="4572000"/>
            <a:ext cx="3017519" cy="59436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19" y="4718304"/>
            <a:ext cx="265175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DOWNLOAD / EDIT LOCALLY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