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专项工作汇报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658368"/>
            <a:ext cx="73151" cy="5138928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" y="658368"/>
            <a:ext cx="1874519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39" y="658368"/>
            <a:ext cx="1737359" cy="2011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Aptos Mono"/>
              </a:rPr>
              <a:t>01 /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822960"/>
            <a:ext cx="566927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5B9BD5"/>
                </a:solidFill>
                <a:latin typeface="Aptos Mono"/>
              </a:rPr>
              <a:t>专项工作汇报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353312"/>
            <a:ext cx="5897879" cy="1600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263238"/>
                </a:solidFill>
                <a:latin typeface="Aptos"/>
              </a:rPr>
              <a:t>道口质量改进已实现单车平均检查时长低于目标值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39" y="3182112"/>
            <a:ext cx="5577839" cy="7315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5B6472"/>
                </a:solidFill>
                <a:latin typeface="Aptos"/>
              </a:rPr>
              <a:t>公司领导班子及相关职能部门决策汇报｜效果验证期：2026年3月—6月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39" y="5175504"/>
            <a:ext cx="1280159" cy="4572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39" y="5321808"/>
            <a:ext cx="420623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内部资料 / INTERNAL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0B5A9A"/>
                </a:solidFill>
                <a:latin typeface="Aptos Mono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B5A9A"/>
                </a:solidFill>
                <a:latin typeface="Aptos Mono"/>
              </a:rPr>
              <a:t>核心结论与需决策事项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项目目标已经达成，当前应转入标准固化和持续验证阶段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3.82分钟实测值低于3.87分钟目标值，建议以实测值验收，并同步固化标准、建立机制、明确责任和决定参赛安排。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" y="2148840"/>
            <a:ext cx="91439" cy="2240280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39" y="2148840"/>
            <a:ext cx="813815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263238"/>
                </a:solidFill>
                <a:latin typeface="Aptos"/>
              </a:rPr>
              <a:t>核心证据：改进前单车平均检查时长5.53分钟/车；2026年3月至6月实测3.82分钟/车；高峰期平均排队等待时间由15分钟降至11分钟；单通道理论服务能力由10.85辆/小时提升至15.71辆/小时。来源原文：“单车平均检查时长为3.82分钟，低于目标值3.87分钟，目标达成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1" y="3886200"/>
            <a:ext cx="8503919" cy="5029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Aptos"/>
              </a:rPr>
              <a:t>确认以3.82分钟/车作为效果验收结果，并将3.87分钟/车明确为目标值 · 审议将有效措施纳入日常作业标准和《道口车辆检查手册》 · 审议建立指标监测、月度复盘和培训固化三项长效机制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3.82分钟实测值低于3.87分钟目标值，建议以实测值验收，并同步固化标准、建立机制、明确责任和决定参赛安排。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E4E79"/>
                </a:solidFill>
                <a:latin typeface="Aptos Mono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E4E79"/>
                </a:solidFill>
                <a:latin typeface="Aptos Mono"/>
              </a:rPr>
              <a:t>汇报主线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本次汇报按照“事实判断—成果验证—风险决策”逐层展开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汇报依次回答为什么改、改什么、进展如何、效果怎样、还缺什么以及需要作出哪些决定。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" y="2084831"/>
            <a:ext cx="3246119" cy="2999232"/>
          </a:xfrm>
          <a:prstGeom prst="rect">
            <a:avLst/>
          </a:prstGeom>
          <a:solidFill>
            <a:srgbClr val="1E4E79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1" y="2359152"/>
            <a:ext cx="2615183" cy="5029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核心判断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3" y="2999232"/>
            <a:ext cx="2670047" cy="16276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内容严格依据申报资料和事实蓝图组织；实测值、目标值、理论测算值和定性效益分别标识，不对缺失信息作推断性补造。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7" y="2267712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4E79"/>
                </a:solidFill>
                <a:latin typeface="Aptos Mono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8927" y="2267712"/>
            <a:ext cx="36575" cy="402336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2194560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背景、目标与统计范围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2980944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4E79"/>
                </a:solidFill>
                <a:latin typeface="Aptos Mono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2980944"/>
            <a:ext cx="36575" cy="402336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2907791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现状进展与主要症结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7" y="3694176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4E79"/>
                </a:solidFill>
                <a:latin typeface="Aptos Mono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7" y="3694176"/>
            <a:ext cx="36575" cy="402336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3621024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要因确认与对策实施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7" y="4407408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4E79"/>
                </a:solidFill>
                <a:latin typeface="Aptos Mono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7" y="4407408"/>
            <a:ext cx="36575" cy="402336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59" y="4334256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效果验证与关键成果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汇报依次回答为什么改、改什么、进展如何、效果怎样、还缺什么以及需要作出哪些决定。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3" y="960120"/>
            <a:ext cx="109727" cy="4160520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1" y="1097280"/>
            <a:ext cx="292607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7E8FB"/>
                </a:solidFill>
                <a:latin typeface="Aptos Mono"/>
              </a:rPr>
              <a:t>第一部分｜背景与目标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5" y="1874519"/>
            <a:ext cx="9418319" cy="1051559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高峰时段串行瓶颈已成为道口保障效率的主要制约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1" y="3337560"/>
            <a:ext cx="7955279" cy="6400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D7E8FB"/>
                </a:solidFill>
                <a:latin typeface="Aptos"/>
              </a:rPr>
              <a:t>道口承担空防安全检查职责，高峰集中到达与环节衔接不畅要求实施流程质量改进。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00479D"/>
                </a:solidFill>
                <a:latin typeface="Aptos Mono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0479D"/>
                </a:solidFill>
                <a:latin typeface="Aptos Mono"/>
              </a:rPr>
              <a:t>工作背景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道口通行压力与协同不足共同放大了高峰保障矛盾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高峰车辆集中、流程衔接不畅、异常处置不足和职责边界不清，是资料明确列示的四类现场痛点。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" y="2084831"/>
            <a:ext cx="3246119" cy="2999232"/>
          </a:xfrm>
          <a:prstGeom prst="rect">
            <a:avLst/>
          </a:prstGeom>
          <a:solidFill>
            <a:srgbClr val="00479D"/>
          </a:solidFill>
          <a:ln w="1016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1" y="2359152"/>
            <a:ext cx="2615183" cy="5029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核心判断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3" y="2999232"/>
            <a:ext cx="2670047" cy="16276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福州机场道口承担各类保障车辆进入飞行控制区的安全检查职责。资料将业务量持续增长、二期建设即将完成与通行压力加大并列为项目背景，但未提供业务量和建设节点数据。来源原文：“高峰时段车辆集中到达、检查环节衔接不畅、异常处置效率不足等问题日渐突出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7" y="2267712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8927" y="2267712"/>
            <a:ext cx="36575" cy="40233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2194560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车辆集中到达，单通道依次排队模式难以承载瞬时车流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2980944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2980944"/>
            <a:ext cx="36575" cy="40233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2907791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证件核验、车辆检查、信息登记和放行之间协同不足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7" y="3694176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7" y="3694176"/>
            <a:ext cx="36575" cy="40233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3621024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异常车辆占用通道资源，可能加剧后方车辆积压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7" y="4407408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0479D"/>
                </a:solidFill>
                <a:latin typeface="Aptos Mono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7" y="4407408"/>
            <a:ext cx="36575" cy="40233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59" y="4334256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岗位职责与交接标准不清晰，存在责任空白或重复劳动风险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高峰车辆集中、流程衔接不畅、异常处置不足和职责边界不清，是资料明确列示的四类现场痛点。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90471" y="54864"/>
            <a:ext cx="676655" cy="676656"/>
          </a:xfrm>
          <a:prstGeom prst="ellipse">
            <a:avLst/>
          </a:prstGeom>
          <a:solidFill>
            <a:srgbClr val="0B5A9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0471" y="173736"/>
            <a:ext cx="676655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0191" y="164592"/>
            <a:ext cx="310895" cy="14630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64239" y="164592"/>
            <a:ext cx="457199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7" y="146304"/>
            <a:ext cx="33832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7E8FB"/>
                </a:solidFill>
                <a:latin typeface="Aptos Mono"/>
              </a:rPr>
              <a:t>目标与范围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7" y="347472"/>
            <a:ext cx="7452359" cy="3200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1500组基线样本形成5.53分钟现状值并支撑3.87分钟目标设定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024128"/>
            <a:ext cx="1024127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项目聚焦高峰时段单车检查效率，基线统计范围、时段和计时起止点已有明确口径。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39" y="2212848"/>
            <a:ext cx="2971799" cy="2423160"/>
          </a:xfrm>
          <a:prstGeom prst="roundRect">
            <a:avLst/>
          </a:prstGeom>
          <a:solidFill>
            <a:srgbClr val="0B5A9A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1" y="2514600"/>
            <a:ext cx="2331719" cy="8686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1500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59" y="3547872"/>
            <a:ext cx="2377439" cy="4114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2025年1月至3月有效样本（组）</a:t>
            </a:r>
          </a:p>
        </p:txBody>
      </p:sp>
      <p:sp>
        <p:nvSpPr>
          <p:cNvPr id="15" name="Oval 14"/>
          <p:cNvSpPr/>
          <p:nvPr/>
        </p:nvSpPr>
        <p:spPr>
          <a:xfrm>
            <a:off x="4315967" y="2423160"/>
            <a:ext cx="155447" cy="155448"/>
          </a:xfrm>
          <a:prstGeom prst="ellipse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2331720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案例名称：缩短高峰时段道口单车进场保障平均时间</a:t>
            </a:r>
          </a:p>
        </p:txBody>
      </p:sp>
      <p:sp>
        <p:nvSpPr>
          <p:cNvPr id="17" name="Oval 16"/>
          <p:cNvSpPr/>
          <p:nvPr/>
        </p:nvSpPr>
        <p:spPr>
          <a:xfrm>
            <a:off x="4315967" y="3264408"/>
            <a:ext cx="155447" cy="155448"/>
          </a:xfrm>
          <a:prstGeom prst="ellipse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3172968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案例分类：D，流程类提升</a:t>
            </a:r>
          </a:p>
        </p:txBody>
      </p:sp>
      <p:sp>
        <p:nvSpPr>
          <p:cNvPr id="19" name="Oval 18"/>
          <p:cNvSpPr/>
          <p:nvPr/>
        </p:nvSpPr>
        <p:spPr>
          <a:xfrm>
            <a:off x="4315967" y="4105655"/>
            <a:ext cx="155447" cy="155448"/>
          </a:xfrm>
          <a:prstGeom prst="ellipse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4014215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目标分类：A，自定目标案例实践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项目聚焦高峰时段单车检查效率，基线统计范围、时段和计时起止点已有明确口径。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E4E79"/>
                </a:solidFill>
                <a:latin typeface="Aptos Mono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E4E79"/>
                </a:solidFill>
                <a:latin typeface="Aptos Mono"/>
              </a:rPr>
              <a:t>流程口径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并行检查中的较长环节决定单车总时长，车辆检查因此成为关键路径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车辆拦停和放行为串行作业，关联检查与车辆检查并行开展，正常情况下车辆检查耗时更长。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39" y="3172968"/>
            <a:ext cx="9829799" cy="54864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2916936"/>
            <a:ext cx="548639" cy="548640"/>
          </a:xfrm>
          <a:prstGeom prst="ellipse">
            <a:avLst/>
          </a:prstGeom>
          <a:solidFill>
            <a:srgbClr val="1E4E79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车辆进入检查位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车辆完成拦停并进入道口检查位置。</a:t>
            </a:r>
          </a:p>
        </p:txBody>
      </p:sp>
      <p:sp>
        <p:nvSpPr>
          <p:cNvPr id="15" name="Oval 14"/>
          <p:cNvSpPr/>
          <p:nvPr/>
        </p:nvSpPr>
        <p:spPr>
          <a:xfrm>
            <a:off x="4178807" y="2916936"/>
            <a:ext cx="548639" cy="548640"/>
          </a:xfrm>
          <a:prstGeom prst="ellipse">
            <a:avLst/>
          </a:prstGeom>
          <a:solidFill>
            <a:srgbClr val="FAFCFE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两类检查并行开展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关联检查人员核验证件、人员和物品；车辆检查人员检查车内、车外、车顶和车底。</a:t>
            </a:r>
          </a:p>
        </p:txBody>
      </p:sp>
      <p:sp>
        <p:nvSpPr>
          <p:cNvPr id="19" name="Oval 18"/>
          <p:cNvSpPr/>
          <p:nvPr/>
        </p:nvSpPr>
        <p:spPr>
          <a:xfrm>
            <a:off x="7516367" y="2916936"/>
            <a:ext cx="548639" cy="548640"/>
          </a:xfrm>
          <a:prstGeom prst="ellipse">
            <a:avLst/>
          </a:prstGeom>
          <a:solidFill>
            <a:srgbClr val="FAFCFE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较长环节形成关键路径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正常条件下关联检查平均完成时间小于车辆检查平均完成时间。</a:t>
            </a:r>
          </a:p>
        </p:txBody>
      </p:sp>
      <p:sp>
        <p:nvSpPr>
          <p:cNvPr id="23" name="Oval 22"/>
          <p:cNvSpPr/>
          <p:nvPr/>
        </p:nvSpPr>
        <p:spPr>
          <a:xfrm>
            <a:off x="10853927" y="2916936"/>
            <a:ext cx="548639" cy="548640"/>
          </a:xfrm>
          <a:prstGeom prst="ellipse">
            <a:avLst/>
          </a:prstGeom>
          <a:solidFill>
            <a:srgbClr val="FAFCFE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5392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3388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完成检查并放行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812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并行检查完成后进入车辆放行环节。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车辆拦停和放行为串行作业，关联检查与车辆检查并行开展，正常情况下车辆检查耗时更长。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35A86"/>
                </a:solidFill>
                <a:latin typeface="Aptos Mono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35A86"/>
                </a:solidFill>
                <a:latin typeface="Aptos Mono"/>
              </a:rPr>
              <a:t>症结识别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车辆检查环节占可改善浪费时间88.89%，是首要改善对象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现状流程标准检查时间为3.46分钟/车，总浪费时长为2.07分钟/车，其中车辆检查环节占88.89%。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39" y="2212848"/>
            <a:ext cx="2971799" cy="2423160"/>
          </a:xfrm>
          <a:prstGeom prst="roundRect">
            <a:avLst/>
          </a:prstGeom>
          <a:solidFill>
            <a:srgbClr val="135A86"/>
          </a:solidFill>
          <a:ln w="10160">
            <a:solidFill>
              <a:srgbClr val="135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1" y="2514600"/>
            <a:ext cx="2331719" cy="8686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88.89%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59" y="3547872"/>
            <a:ext cx="2377439" cy="4114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车辆检查环节占总可改善浪费时间的比例</a:t>
            </a:r>
          </a:p>
        </p:txBody>
      </p:sp>
      <p:sp>
        <p:nvSpPr>
          <p:cNvPr id="13" name="Oval 12"/>
          <p:cNvSpPr/>
          <p:nvPr/>
        </p:nvSpPr>
        <p:spPr>
          <a:xfrm>
            <a:off x="4315967" y="2423160"/>
            <a:ext cx="155447" cy="155448"/>
          </a:xfrm>
          <a:prstGeom prst="ellipse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2331720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流程平均标准检查时间：3.46分钟/车</a:t>
            </a:r>
          </a:p>
        </p:txBody>
      </p:sp>
      <p:sp>
        <p:nvSpPr>
          <p:cNvPr id="15" name="Oval 14"/>
          <p:cNvSpPr/>
          <p:nvPr/>
        </p:nvSpPr>
        <p:spPr>
          <a:xfrm>
            <a:off x="4315967" y="3264408"/>
            <a:ext cx="155447" cy="155448"/>
          </a:xfrm>
          <a:prstGeom prst="ellipse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3172968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总浪费时长：2.07分钟/车</a:t>
            </a:r>
          </a:p>
        </p:txBody>
      </p:sp>
      <p:sp>
        <p:nvSpPr>
          <p:cNvPr id="17" name="Oval 16"/>
          <p:cNvSpPr/>
          <p:nvPr/>
        </p:nvSpPr>
        <p:spPr>
          <a:xfrm>
            <a:off x="4315967" y="4105655"/>
            <a:ext cx="155447" cy="155448"/>
          </a:xfrm>
          <a:prstGeom prst="ellipse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4014215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车辆检查环节浪费占比：88.89%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现状流程标准检查时间为3.46分钟/车，总浪费时长为2.07分钟/车，其中车辆检查环节占88.89%。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90471" y="54864"/>
            <a:ext cx="676655" cy="676656"/>
          </a:xfrm>
          <a:prstGeom prst="ellipse">
            <a:avLst/>
          </a:prstGeom>
          <a:solidFill>
            <a:srgbClr val="00479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0471" y="173736"/>
            <a:ext cx="676655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0191" y="164592"/>
            <a:ext cx="841247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7" y="146304"/>
            <a:ext cx="33832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7E8FB"/>
                </a:solidFill>
                <a:latin typeface="Aptos Mono"/>
              </a:rPr>
              <a:t>要因确认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7" y="347472"/>
            <a:ext cx="7452359" cy="3200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设备工具落后和作业标准未固化是仅有的两个主要原因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024128"/>
            <a:ext cx="1024127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五个可确认末端原因中，仅设备工具落后41.30%和作业标准未量化固化29.35%超过10%标准。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5B6472"/>
                </a:solidFill>
                <a:latin typeface="Aptos"/>
              </a:rPr>
              <a:t>项目组运用5M1E分析法拆解出6个末端原因，剔除被定义为不可控的“人员检查意识待提高”后，对5个原因进行定量确认。资料未提供该不可控因素的剔除标准。</a:t>
            </a:r>
          </a:p>
        </p:txBody>
      </p:sp>
      <p:sp>
        <p:nvSpPr>
          <p:cNvPr id="12" name="Oval 11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要因：车辆检查设施设备工具落后，影响程度41.30%</a:t>
            </a:r>
          </a:p>
        </p:txBody>
      </p:sp>
      <p:sp>
        <p:nvSpPr>
          <p:cNvPr id="14" name="Oval 13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要因：作业标准未量化固化，影响程度29.35%</a:t>
            </a:r>
          </a:p>
        </p:txBody>
      </p:sp>
      <p:sp>
        <p:nvSpPr>
          <p:cNvPr id="16" name="Oval 15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非要因：信息引导不足8.15%、作业场所防护等级不足3.80%、缺少车辆引流2.17%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3567" y="2212848"/>
            <a:ext cx="54863" cy="2907792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487168"/>
            <a:ext cx="251459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00479D"/>
                </a:solidFill>
                <a:latin typeface="Aptos Mono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218688"/>
            <a:ext cx="251459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要因判定标准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315968"/>
            <a:ext cx="2514599" cy="3200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B6472"/>
                </a:solidFill>
                <a:latin typeface="Aptos Mono"/>
              </a:rPr>
              <a:t>事实 · 判断 · 动作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五个可确认末端原因中，仅设备工具落后41.30%和作业标准未量化固化29.35%超过10%标准。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3" y="960120"/>
            <a:ext cx="109727" cy="4160520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1" y="1097280"/>
            <a:ext cx="292607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7E8FB"/>
                </a:solidFill>
                <a:latin typeface="Aptos Mono"/>
              </a:rPr>
              <a:t>第二部分｜进展与实施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5" y="1874519"/>
            <a:ext cx="9418319" cy="1051559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项目已完成症结识别、要因确认和两项核心对策实施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1" y="3337560"/>
            <a:ext cx="7955279" cy="6400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D7E8FB"/>
                </a:solidFill>
                <a:latin typeface="Aptos"/>
              </a:rPr>
              <a:t>五个道口设备整合、统一系统接入、流程优化和操作培训均已按资料记载完成。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E4E79"/>
                </a:solidFill>
                <a:latin typeface="Aptos Mono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E4E79"/>
                </a:solidFill>
                <a:latin typeface="Aptos Mono"/>
              </a:rPr>
              <a:t>当前进展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项目已从现状调查推进至对策实施和效果验证阶段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基线测量、原因分析、对策选择、设备流程改造及2026年3月至6月效果采集均已开展。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39" y="3172968"/>
            <a:ext cx="9829799" cy="54864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2916936"/>
            <a:ext cx="548639" cy="548640"/>
          </a:xfrm>
          <a:prstGeom prst="ellipse">
            <a:avLst/>
          </a:prstGeom>
          <a:solidFill>
            <a:srgbClr val="1E4E79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2025年1月至3月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采集1500组有效样本，形成5.53分钟/车基线值。</a:t>
            </a:r>
          </a:p>
        </p:txBody>
      </p:sp>
      <p:sp>
        <p:nvSpPr>
          <p:cNvPr id="15" name="Oval 14"/>
          <p:cNvSpPr/>
          <p:nvPr/>
        </p:nvSpPr>
        <p:spPr>
          <a:xfrm>
            <a:off x="4178807" y="2916936"/>
            <a:ext cx="548639" cy="548640"/>
          </a:xfrm>
          <a:prstGeom prst="ellipse">
            <a:avLst/>
          </a:prstGeom>
          <a:solidFill>
            <a:srgbClr val="FAFCFE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现状与原因分析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锁定车辆检查环节，并确认设备工具和作业标准两个要因。</a:t>
            </a:r>
          </a:p>
        </p:txBody>
      </p:sp>
      <p:sp>
        <p:nvSpPr>
          <p:cNvPr id="19" name="Oval 18"/>
          <p:cNvSpPr/>
          <p:nvPr/>
        </p:nvSpPr>
        <p:spPr>
          <a:xfrm>
            <a:off x="7516367" y="2916936"/>
            <a:ext cx="548639" cy="548640"/>
          </a:xfrm>
          <a:prstGeom prst="ellipse">
            <a:avLst/>
          </a:prstGeom>
          <a:solidFill>
            <a:srgbClr val="FAFCFE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对策实施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完成五个道口设备整合、统一系统接入、流程固化和人员培训。</a:t>
            </a:r>
          </a:p>
        </p:txBody>
      </p:sp>
      <p:sp>
        <p:nvSpPr>
          <p:cNvPr id="23" name="Oval 22"/>
          <p:cNvSpPr/>
          <p:nvPr/>
        </p:nvSpPr>
        <p:spPr>
          <a:xfrm>
            <a:off x="10853927" y="2916936"/>
            <a:ext cx="548639" cy="548640"/>
          </a:xfrm>
          <a:prstGeom prst="ellipse">
            <a:avLst/>
          </a:prstGeom>
          <a:solidFill>
            <a:srgbClr val="FAFCFE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5392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3388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2026年3月至6月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812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按资料所述选取与现状调查相同时间段开展效果采集。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基线测量、原因分析、对策选择、设备流程改造及2026年3月至6月效果采集均已开展。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35A86"/>
                </a:solidFill>
                <a:latin typeface="Aptos Mono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35A86"/>
                </a:solidFill>
                <a:latin typeface="Aptos Mono"/>
              </a:rPr>
              <a:t>设备对策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五个道口完成监控设备整合，车辆检查时间平均缩短0.76分钟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设备整合把传统车底、车顶现场检查调整为监控设备后台检查，并配套开展操作技能培训。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" y="2176272"/>
            <a:ext cx="91439" cy="1572768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03119"/>
            <a:ext cx="9555479" cy="166420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263238"/>
                </a:solidFill>
                <a:latin typeface="Aptos"/>
              </a:rPr>
              <a:t>来源原文：“五个道口均整合车底扫描仪与车顶球机监控设备，接入统一信息系统”“单车车辆检查时间平均缩短0.76分钟。”资料未提供系统截图、设备清单、培训考核记录或验收材料。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" y="4160520"/>
            <a:ext cx="3172967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1" y="4315968"/>
            <a:ext cx="475487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35A86"/>
                </a:solidFill>
                <a:latin typeface="Apto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79" y="4242815"/>
            <a:ext cx="2258567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整合车底扫描仪与车顶球机监控设备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2231" y="4160520"/>
            <a:ext cx="3172967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1" y="4315968"/>
            <a:ext cx="475487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35A86"/>
                </a:solidFill>
                <a:latin typeface="Apto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39" y="4242815"/>
            <a:ext cx="2258567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接入统一信息系统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1" y="4160520"/>
            <a:ext cx="3172967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4315968"/>
            <a:ext cx="475487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35A86"/>
                </a:solidFill>
                <a:latin typeface="Apto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4242815"/>
            <a:ext cx="2258567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263238"/>
                </a:solidFill>
                <a:latin typeface="Aptos"/>
              </a:rPr>
              <a:t>单屏同步查看车底扫描图片和车顶实时视频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设备整合把传统车底、车顶现场检查调整为监控设备后台检查，并配套开展操作技能培训。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00479D"/>
                </a:solidFill>
                <a:latin typeface="Aptos Mono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0479D"/>
                </a:solidFill>
                <a:latin typeface="Aptos Mono"/>
              </a:rPr>
              <a:t>流程对策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标准化检查顺序减少重复动作和无效走动，平均缩短0.95分钟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流程优化统一了车外转入车内的路径以及车内检查起点、方向和结束位置。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39" y="3172968"/>
            <a:ext cx="9829799" cy="54864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2916936"/>
            <a:ext cx="548639" cy="548640"/>
          </a:xfrm>
          <a:prstGeom prst="ellipse">
            <a:avLst/>
          </a:prstGeom>
          <a:solidFill>
            <a:srgbClr val="00479D"/>
          </a:solidFill>
          <a:ln w="1016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车顶、车底检查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按优化后的车辆检查流程完成外部相关检查。</a:t>
            </a:r>
          </a:p>
        </p:txBody>
      </p:sp>
      <p:sp>
        <p:nvSpPr>
          <p:cNvPr id="15" name="Oval 14"/>
          <p:cNvSpPr/>
          <p:nvPr/>
        </p:nvSpPr>
        <p:spPr>
          <a:xfrm>
            <a:off x="4178807" y="2916936"/>
            <a:ext cx="548639" cy="548640"/>
          </a:xfrm>
          <a:prstGeom prst="ellipse">
            <a:avLst/>
          </a:prstGeom>
          <a:solidFill>
            <a:srgbClr val="FAFCFE"/>
          </a:solidFill>
          <a:ln w="1016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从副驾驶室直接进入检查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优化原主驾驶侧检查路径，减少车辆检查过程中的无效走动。</a:t>
            </a:r>
          </a:p>
        </p:txBody>
      </p:sp>
      <p:sp>
        <p:nvSpPr>
          <p:cNvPr id="19" name="Oval 18"/>
          <p:cNvSpPr/>
          <p:nvPr/>
        </p:nvSpPr>
        <p:spPr>
          <a:xfrm>
            <a:off x="7516367" y="2916936"/>
            <a:ext cx="548639" cy="548640"/>
          </a:xfrm>
          <a:prstGeom prst="ellipse">
            <a:avLst/>
          </a:prstGeom>
          <a:solidFill>
            <a:srgbClr val="FAFCFE"/>
          </a:solidFill>
          <a:ln w="1016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以后视镜为车内起点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逐步向扶手箱区域检查。</a:t>
            </a:r>
          </a:p>
        </p:txBody>
      </p:sp>
      <p:sp>
        <p:nvSpPr>
          <p:cNvPr id="23" name="Oval 22"/>
          <p:cNvSpPr/>
          <p:nvPr/>
        </p:nvSpPr>
        <p:spPr>
          <a:xfrm>
            <a:off x="10853927" y="2916936"/>
            <a:ext cx="548639" cy="548640"/>
          </a:xfrm>
          <a:prstGeom prst="ellipse">
            <a:avLst/>
          </a:prstGeom>
          <a:solidFill>
            <a:srgbClr val="FAFCFE"/>
          </a:solidFill>
          <a:ln w="1016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5392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3388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由上至下核查副驾驶区域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812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中间区域完成后按固定顺序核查，最后检查车门。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流程优化统一了车外转入车内的路径以及车内检查起点、方向和结束位置。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0B5A9A"/>
                </a:solidFill>
                <a:latin typeface="Aptos Mono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B5A9A"/>
                </a:solidFill>
                <a:latin typeface="Aptos Mono"/>
              </a:rPr>
              <a:t>措施验证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两项核心对策均形成前后对比数据，但效果叠加关系尚未说明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设备整合使车内外检查由4.48降至3.72分钟/车次，标准化检查使车内检查由2.95降至2.41分钟。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48256"/>
            <a:ext cx="10149839" cy="6217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5B6472"/>
                </a:solidFill>
                <a:latin typeface="Aptos"/>
              </a:rPr>
              <a:t>设备验证以车辆检查环节浪费平均时间1.84分钟/车次为影响程度计算分母；流程验证同时记录无效耗时由约0.8分钟降至0.26分钟。各组数据来自资料列示的不同日期区间。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2816352"/>
            <a:ext cx="10195559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2816352"/>
            <a:ext cx="73151" cy="658368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3" y="2926080"/>
            <a:ext cx="530351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5A9A"/>
                </a:solidFill>
                <a:latin typeface="Apto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3" y="2871216"/>
            <a:ext cx="8979407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263238"/>
                </a:solidFill>
                <a:latin typeface="Aptos"/>
              </a:rPr>
              <a:t>设备整合使车内外检查由4.48降至3.72分钟/车次，标准化检查使车内检查由2.95降至2.41分钟。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设备整合使车内外检查由4.48降至3.72分钟/车次，标准化检查使车内检查由2.95降至2.41分钟。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3" y="960120"/>
            <a:ext cx="109727" cy="4160520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1" y="1097280"/>
            <a:ext cx="292607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7E8FB"/>
                </a:solidFill>
                <a:latin typeface="Aptos Mono"/>
              </a:rPr>
              <a:t>第三部分｜成果与风险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5" y="1874519"/>
            <a:ext cx="9418319" cy="1051559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核心效率指标实现改善，但验收口径和证据链仍需补齐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1" y="3337560"/>
            <a:ext cx="7955279" cy="6400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D7E8FB"/>
                </a:solidFill>
                <a:latin typeface="Aptos"/>
              </a:rPr>
              <a:t>效果期时长、排队等待和理论服务能力均呈改善，同时存在3.82与3.87分钟字段不一致等资料问题。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90471" y="54864"/>
            <a:ext cx="676655" cy="676656"/>
          </a:xfrm>
          <a:prstGeom prst="ellipse">
            <a:avLst/>
          </a:prstGeom>
          <a:solidFill>
            <a:srgbClr val="135A8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90471" y="173736"/>
            <a:ext cx="676655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Mono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80191" y="164592"/>
            <a:ext cx="310895" cy="14630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64239" y="164592"/>
            <a:ext cx="457199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7" y="146304"/>
            <a:ext cx="33832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7E8FB"/>
                </a:solidFill>
                <a:latin typeface="Aptos Mono"/>
              </a:rPr>
              <a:t>目标完成情况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7" y="347472"/>
            <a:ext cx="7452359" cy="3200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效果期单车平均检查时长为3.82分钟，低于3.87分钟目标值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024128"/>
            <a:ext cx="1024127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按效果验证部分的明确表述，项目目标已经达成，3.82分钟应作为实测结果、3.87分钟应作为目标值。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39" y="2212848"/>
            <a:ext cx="2971799" cy="2423160"/>
          </a:xfrm>
          <a:prstGeom prst="roundRect">
            <a:avLst/>
          </a:prstGeom>
          <a:solidFill>
            <a:srgbClr val="135A86"/>
          </a:solidFill>
          <a:ln w="10160">
            <a:solidFill>
              <a:srgbClr val="135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1" y="2514600"/>
            <a:ext cx="2331719" cy="8686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3.82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59" y="3547872"/>
            <a:ext cx="2377439" cy="4114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2026年3月至6月效果期实测值（分钟/车）</a:t>
            </a:r>
          </a:p>
        </p:txBody>
      </p:sp>
      <p:sp>
        <p:nvSpPr>
          <p:cNvPr id="15" name="Oval 14"/>
          <p:cNvSpPr/>
          <p:nvPr/>
        </p:nvSpPr>
        <p:spPr>
          <a:xfrm>
            <a:off x="4315967" y="2423160"/>
            <a:ext cx="155447" cy="155448"/>
          </a:xfrm>
          <a:prstGeom prst="ellipse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2331720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基线值：5.53分钟/车</a:t>
            </a:r>
          </a:p>
        </p:txBody>
      </p:sp>
      <p:sp>
        <p:nvSpPr>
          <p:cNvPr id="17" name="Oval 16"/>
          <p:cNvSpPr/>
          <p:nvPr/>
        </p:nvSpPr>
        <p:spPr>
          <a:xfrm>
            <a:off x="4315967" y="3264408"/>
            <a:ext cx="155447" cy="155448"/>
          </a:xfrm>
          <a:prstGeom prst="ellipse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3172968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目标值：3.87分钟/车</a:t>
            </a:r>
          </a:p>
        </p:txBody>
      </p:sp>
      <p:sp>
        <p:nvSpPr>
          <p:cNvPr id="19" name="Oval 18"/>
          <p:cNvSpPr/>
          <p:nvPr/>
        </p:nvSpPr>
        <p:spPr>
          <a:xfrm>
            <a:off x="4315967" y="4105655"/>
            <a:ext cx="155447" cy="155448"/>
          </a:xfrm>
          <a:prstGeom prst="ellipse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4014215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263238"/>
                </a:solidFill>
                <a:latin typeface="Aptos"/>
              </a:rPr>
              <a:t>效果期实测值：3.82分钟/车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按效果验证部分的明确表述，项目目标已经达成，3.82分钟应作为实测结果、3.87分钟应作为目标值。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00479D"/>
                </a:solidFill>
                <a:latin typeface="Aptos Mono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0479D"/>
                </a:solidFill>
                <a:latin typeface="Aptos Mono"/>
              </a:rPr>
              <a:t>直接效益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排队等待下降与理论服务能力提升共同验证了效率改善方向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高峰期平均排队等待时间由15分钟降至11分钟，单通道理论服务能力由10.85辆/小时升至15.71辆/小时。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3" y="2240280"/>
            <a:ext cx="4983479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3" y="2240280"/>
            <a:ext cx="73151" cy="288036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79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63238"/>
                </a:solidFill>
                <a:latin typeface="Aptos"/>
              </a:rPr>
              <a:t>高峰期平均排队等待时间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7" y="3264408"/>
            <a:ext cx="109727" cy="109728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7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改进前：15分钟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5567" y="3703320"/>
            <a:ext cx="109727" cy="109728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7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改进后：11分钟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7" y="4142232"/>
            <a:ext cx="109727" cy="109728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7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资料列示降幅：26.7%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2240280"/>
            <a:ext cx="4983479" cy="2880360"/>
          </a:xfrm>
          <a:prstGeom prst="rect">
            <a:avLst/>
          </a:prstGeom>
          <a:solidFill>
            <a:srgbClr val="EAF3FA"/>
          </a:solidFill>
          <a:ln w="1016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7" y="2240280"/>
            <a:ext cx="73151" cy="28803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3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63238"/>
                </a:solidFill>
                <a:latin typeface="Aptos"/>
              </a:rPr>
              <a:t>单通道理论服务能力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1" y="3264408"/>
            <a:ext cx="109727" cy="10972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1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改进前：10.85辆/小时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1" y="3703320"/>
            <a:ext cx="109727" cy="10972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1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改进后：15.71辆/小时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5391" y="4142232"/>
            <a:ext cx="109727" cy="10972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1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资料列示提升：44.8%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高峰期平均排队等待时间由15分钟降至11分钟，单通道理论服务能力由10.85辆/小时升至15.71辆/小时。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0B5A9A"/>
                </a:solidFill>
                <a:latin typeface="Aptos Mono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B5A9A"/>
                </a:solidFill>
                <a:latin typeface="Aptos Mono"/>
              </a:rPr>
              <a:t>核心指标对比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三组前后指标均指向通行效率提升，但数据属性必须分别标识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时长与等待指标下降，理论服务能力上升，三类指标不能混用为同一统计口径。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" y="2084831"/>
            <a:ext cx="3246119" cy="2999232"/>
          </a:xfrm>
          <a:prstGeom prst="rect">
            <a:avLst/>
          </a:prstGeom>
          <a:solidFill>
            <a:srgbClr val="0B5A9A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1" y="2359152"/>
            <a:ext cx="2615183" cy="5029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核心判断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3" y="2999232"/>
            <a:ext cx="2670047" cy="16276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图表仅使用资料已核验数值。单车平均检查时长的基线为2025年1月至3月1500组样本；效果期样本量、车型构成、道口范围和异常样本处理规则未提供。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7" y="2267712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5A9A"/>
                </a:solidFill>
                <a:latin typeface="Aptos Mono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8927" y="2267712"/>
            <a:ext cx="36575" cy="402336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2194560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单车平均检查时长：5.53→3.82分钟/车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2980944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5A9A"/>
                </a:solidFill>
                <a:latin typeface="Aptos Mono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2980944"/>
            <a:ext cx="36575" cy="402336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2907791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高峰期平均排队等待时间：15→11分钟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7" y="3694176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B5A9A"/>
                </a:solidFill>
                <a:latin typeface="Aptos Mono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7" y="3694176"/>
            <a:ext cx="36575" cy="402336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3621024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单通道理论服务能力：10.85→15.71辆/小时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时长与等待指标下降，理论服务能力上升，三类指标不能混用为同一统计口径。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E4E79"/>
                </a:solidFill>
                <a:latin typeface="Aptos Mono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E4E79"/>
                </a:solidFill>
                <a:latin typeface="Aptos Mono"/>
              </a:rPr>
              <a:t>存在问题及原因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效果口径、样本说明和证明材料不足是当前验收的主要短板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现有资料能够支持方向性结论，但尚不足以形成完整、可追溯的验收与申报证据链。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" y="2084831"/>
            <a:ext cx="3246119" cy="2999232"/>
          </a:xfrm>
          <a:prstGeom prst="rect">
            <a:avLst/>
          </a:prstGeom>
          <a:solidFill>
            <a:srgbClr val="1E4E79"/>
          </a:solidFill>
          <a:ln w="10160"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1" y="2359152"/>
            <a:ext cx="2615183" cy="5029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核心判断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3" y="2999232"/>
            <a:ext cx="2670047" cy="16276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资料明确要求“需提供相关证明材料”，当前图片资料清单为无，也未提供原始数据、统计图、系统截图、培训记录、制度文件和审批记录。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7" y="2267712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4E79"/>
                </a:solidFill>
                <a:latin typeface="Aptos Mono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8927" y="2267712"/>
            <a:ext cx="36575" cy="402336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2194560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口径差异：汇总栏“改进后3.87分钟/车”与效果实测3.82分钟/车不一致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2980944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4E79"/>
                </a:solidFill>
                <a:latin typeface="Aptos Mono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2980944"/>
            <a:ext cx="36575" cy="402336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2907791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样本缺口：效果期样本量、道口范围、车型权重和异常样本规则未说明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7" y="3694176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4E79"/>
                </a:solidFill>
                <a:latin typeface="Aptos Mono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7" y="3694176"/>
            <a:ext cx="36575" cy="402336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3621024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方法缺口：排队等待采样方法及理论服务能力测算细节未提供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7" y="4407408"/>
            <a:ext cx="56692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E4E79"/>
                </a:solidFill>
                <a:latin typeface="Aptos Mono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7" y="4407408"/>
            <a:ext cx="36575" cy="402336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59" y="4334256"/>
            <a:ext cx="5413247" cy="530351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Aptos"/>
              </a:rPr>
              <a:t>证据缺口：缺少1500组原始数据、帕累托图、前后现场资料和培训考核记录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现有资料能够支持方向性结论，但尚不足以形成完整、可追溯的验收与申报证据链。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35A86"/>
                </a:solidFill>
                <a:latin typeface="Aptos Mono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35A86"/>
                </a:solidFill>
                <a:latin typeface="Aptos Mono"/>
              </a:rPr>
              <a:t>风险影响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不先完成口径统一和合规核验，将削弱决策依据与参赛材料可靠性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验收、推广和参赛均依赖统一口径、完整证据以及涉密与版权审查。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3" y="2240280"/>
            <a:ext cx="4983479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35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3" y="2240280"/>
            <a:ext cx="73151" cy="2880360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79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63238"/>
                </a:solidFill>
                <a:latin typeface="Aptos"/>
              </a:rPr>
              <a:t>当前缺口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7" y="3264408"/>
            <a:ext cx="109727" cy="109728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7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3.82与3.87分钟字段含义未统一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5567" y="3703320"/>
            <a:ext cx="109727" cy="109728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7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效果期样本和测算方法说明不足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7" y="4142232"/>
            <a:ext cx="109727" cy="109728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7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证明材料、审批记录和制度文件未归集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567" y="4581144"/>
            <a:ext cx="109727" cy="109728"/>
          </a:xfrm>
          <a:prstGeom prst="rect">
            <a:avLst/>
          </a:prstGeom>
          <a:solidFill>
            <a:srgbClr val="135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7" y="4443983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涉密、肖像权、著作权等审查状态不明确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2240280"/>
            <a:ext cx="4983479" cy="2880360"/>
          </a:xfrm>
          <a:prstGeom prst="rect">
            <a:avLst/>
          </a:prstGeom>
          <a:solidFill>
            <a:srgbClr val="EAF3FA"/>
          </a:solidFill>
          <a:ln w="10160">
            <a:solidFill>
              <a:srgbClr val="84B4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7" y="2240280"/>
            <a:ext cx="73151" cy="2880360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3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63238"/>
                </a:solidFill>
                <a:latin typeface="Aptos"/>
              </a:rPr>
              <a:t>可能影响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1" y="3264408"/>
            <a:ext cx="109727" cy="109728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1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效果验收依据不完整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5391" y="3703320"/>
            <a:ext cx="109727" cy="109728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1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复制推广条件难以准确界定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1" y="4142232"/>
            <a:ext cx="109727" cy="109728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1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申报材料真实性与可复核性不足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5391" y="4581144"/>
            <a:ext cx="109727" cy="109728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1" y="4443983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3238"/>
                </a:solidFill>
                <a:latin typeface="Aptos"/>
              </a:rPr>
              <a:t>提交后发现错误将无法修改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84B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验收、推广和参赛均依赖统一口径、完整证据以及涉密与版权审查。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3" y="960120"/>
            <a:ext cx="109727" cy="4160520"/>
          </a:xfrm>
          <a:prstGeom prst="rect">
            <a:avLst/>
          </a:prstGeom>
          <a:solidFill>
            <a:srgbClr val="8D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1" y="1097280"/>
            <a:ext cx="292607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D7E8FB"/>
                </a:solidFill>
                <a:latin typeface="Aptos Mono"/>
              </a:rPr>
              <a:t>第四部分｜计划与决策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5" y="1874519"/>
            <a:ext cx="9418319" cy="1051559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下一阶段应以标准化、长效机制和责任闭环巩固改进成果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1" y="3337560"/>
            <a:ext cx="7955279" cy="6400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D7E8FB"/>
                </a:solidFill>
                <a:latin typeface="Aptos"/>
              </a:rPr>
              <a:t>后续重点不是继续扩展未经验证的效益结论，而是完成标准固化、持续跟踪、责任落位和申报决策。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0B5A9A"/>
                </a:solidFill>
                <a:latin typeface="Aptos Mono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0B5A9A"/>
                </a:solidFill>
                <a:latin typeface="Aptos Mono"/>
              </a:rPr>
              <a:t>下一阶段计划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标准纳入、机制运行和不少于3个月跟踪应形成完整闭环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下一阶段应先统一验收口径和补齐证据，再固化标准、运行三项机制并验证成果稳定性。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39" y="3172968"/>
            <a:ext cx="9829799" cy="54864"/>
          </a:xfrm>
          <a:prstGeom prst="rect">
            <a:avLst/>
          </a:prstGeom>
          <a:solidFill>
            <a:srgbClr val="5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2916936"/>
            <a:ext cx="548639" cy="548640"/>
          </a:xfrm>
          <a:prstGeom prst="ellipse">
            <a:avLst/>
          </a:prstGeom>
          <a:solidFill>
            <a:srgbClr val="0B5A9A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统一口径并补齐证据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明确3.82分钟为实测值、3.87分钟为目标值，归集原始数据、图表、系统及培训材料。</a:t>
            </a:r>
          </a:p>
        </p:txBody>
      </p:sp>
      <p:sp>
        <p:nvSpPr>
          <p:cNvPr id="15" name="Oval 14"/>
          <p:cNvSpPr/>
          <p:nvPr/>
        </p:nvSpPr>
        <p:spPr>
          <a:xfrm>
            <a:off x="3344417" y="2916936"/>
            <a:ext cx="548639" cy="548640"/>
          </a:xfrm>
          <a:prstGeom prst="ellipse">
            <a:avLst/>
          </a:prstGeom>
          <a:solidFill>
            <a:srgbClr val="F5F8FC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441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437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修订并发布作业标准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861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将车辆分类分流、岗位职责、交接标准、设备规程和高峰弹性预案纳入检查手册。</a:t>
            </a:r>
          </a:p>
        </p:txBody>
      </p:sp>
      <p:sp>
        <p:nvSpPr>
          <p:cNvPr id="19" name="Oval 18"/>
          <p:cNvSpPr/>
          <p:nvPr/>
        </p:nvSpPr>
        <p:spPr>
          <a:xfrm>
            <a:off x="5847587" y="2916936"/>
            <a:ext cx="548639" cy="548640"/>
          </a:xfrm>
          <a:prstGeom prst="ellipse">
            <a:avLst/>
          </a:prstGeom>
          <a:solidFill>
            <a:srgbClr val="F5F8FC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758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754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运行三项长效机制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178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持续监测指标、按月复盘、开展岗前培训和复训。</a:t>
            </a:r>
          </a:p>
        </p:txBody>
      </p:sp>
      <p:sp>
        <p:nvSpPr>
          <p:cNvPr id="23" name="Oval 22"/>
          <p:cNvSpPr/>
          <p:nvPr/>
        </p:nvSpPr>
        <p:spPr>
          <a:xfrm>
            <a:off x="8350757" y="2916936"/>
            <a:ext cx="548639" cy="548640"/>
          </a:xfrm>
          <a:prstGeom prst="ellipse">
            <a:avLst/>
          </a:prstGeom>
          <a:solidFill>
            <a:srgbClr val="F5F8FC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075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071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开展持续稳定性验证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495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跟踪不少于3个月，明确异常纠偏、阶段评价和验收要求。</a:t>
            </a:r>
          </a:p>
        </p:txBody>
      </p:sp>
      <p:sp>
        <p:nvSpPr>
          <p:cNvPr id="27" name="Oval 26"/>
          <p:cNvSpPr/>
          <p:nvPr/>
        </p:nvSpPr>
        <p:spPr>
          <a:xfrm>
            <a:off x="10853927" y="2916936"/>
            <a:ext cx="548639" cy="548640"/>
          </a:xfrm>
          <a:prstGeom prst="ellipse">
            <a:avLst/>
          </a:prstGeom>
          <a:solidFill>
            <a:srgbClr val="F5F8FC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5392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3238"/>
                </a:solidFill>
                <a:latin typeface="Aptos Mon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3388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评估推广与参赛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812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Aptos"/>
              </a:rPr>
              <a:t>依据验证结果确定复制范围，并在截止日期前完成申报审核与提交。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78A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下一阶段应先统一验收口径和补齐证据，再固化标准、运行三项机制并验证成果稳定性。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411480"/>
            <a:ext cx="1005839" cy="4572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10511" y="411480"/>
            <a:ext cx="384047" cy="45720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25327" y="347472"/>
            <a:ext cx="658367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1E4E79"/>
                </a:solidFill>
                <a:latin typeface="Aptos Mono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6309360"/>
            <a:ext cx="38404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72"/>
                </a:solidFill>
                <a:latin typeface="Aptos Mono"/>
              </a:rPr>
              <a:t>汇报材料 / INTERNAL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" y="530351"/>
            <a:ext cx="4023359" cy="21945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1E4E79"/>
                </a:solidFill>
                <a:latin typeface="Aptos Mono"/>
              </a:rPr>
              <a:t>责任分工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" y="804672"/>
            <a:ext cx="9966959" cy="56692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63238"/>
                </a:solidFill>
                <a:latin typeface="Aptos"/>
              </a:rPr>
              <a:t>五类任务必须逐项明确牵头、配合、节点和验收标准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3" y="1444752"/>
            <a:ext cx="10058399" cy="43891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Aptos"/>
              </a:rPr>
              <a:t>责任矩阵应覆盖标准、监测、培训、推广和申报，避免以未核验部门名称代替正式授权。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" y="2176272"/>
            <a:ext cx="91439" cy="1572768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103119"/>
            <a:ext cx="9555479" cy="166420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263238"/>
                </a:solidFill>
                <a:latin typeface="Aptos"/>
              </a:rPr>
              <a:t>建议领导班子在决策后形成正式任务清单；牵头部门、配合部门、责任人和完成节点均留待审批确定，不在本汇报中补造。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6C9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63238"/>
                </a:solidFill>
                <a:latin typeface="Aptos Mono"/>
              </a:rPr>
              <a:t>TAKEAWAY 责任矩阵应覆盖标准、监测、培训、推广和申报，避免以未核验部门名称代替正式授权。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" y="658368"/>
            <a:ext cx="73151" cy="5138928"/>
          </a:xfrm>
          <a:prstGeom prst="rect">
            <a:avLst/>
          </a:prstGeom>
          <a:solidFill>
            <a:srgbClr val="0B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" y="658368"/>
            <a:ext cx="1874519" cy="10972"/>
          </a:xfrm>
          <a:prstGeom prst="rect">
            <a:avLst/>
          </a:prstGeom>
          <a:solidFill>
            <a:srgbClr val="7AA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39" y="658368"/>
            <a:ext cx="1737359" cy="2011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5B6472"/>
                </a:solidFill>
                <a:latin typeface="Aptos Mono"/>
              </a:rPr>
              <a:t>24 /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" y="6199632"/>
            <a:ext cx="10698479" cy="10972"/>
          </a:xfrm>
          <a:prstGeom prst="rect">
            <a:avLst/>
          </a:prstGeom>
          <a:solidFill>
            <a:srgbClr val="7AA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" y="914400"/>
            <a:ext cx="2743199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7AA8C5"/>
                </a:solidFill>
                <a:latin typeface="Aptos Mono"/>
              </a:rPr>
              <a:t>请示事项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508760"/>
            <a:ext cx="9235439" cy="11430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263238"/>
                </a:solidFill>
                <a:latin typeface="Aptos"/>
              </a:rPr>
              <a:t>请领导班子围绕成果确认、机制固化、责任落位和参赛安排作出决定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39" y="3017520"/>
            <a:ext cx="8138159" cy="6858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100" b="0">
                <a:solidFill>
                  <a:srgbClr val="5B6472"/>
                </a:solidFill>
                <a:latin typeface="Aptos"/>
              </a:rPr>
              <a:t>各事项均可形成明确的同意、调整或暂缓意见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5" y="4572000"/>
            <a:ext cx="3017519" cy="594360"/>
          </a:xfrm>
          <a:prstGeom prst="roundRect">
            <a:avLst/>
          </a:prstGeom>
          <a:solidFill>
            <a:srgbClr val="0B5A9A"/>
          </a:solidFill>
          <a:ln w="10160">
            <a:solidFill>
              <a:srgbClr val="0B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4718304"/>
            <a:ext cx="265175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下一步 / NEXT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