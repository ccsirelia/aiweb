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访谈分析</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01</a:t>
            </a:r>
          </a:p>
        </p:txBody>
      </p:sp>
      <p:sp>
        <p:nvSpPr>
          <p:cNvPr id="4" name="TextBox 3"/>
          <p:cNvSpPr txBox="1"/>
          <p:nvPr/>
        </p:nvSpPr>
        <p:spPr>
          <a:xfrm>
            <a:off x="749808" y="822960"/>
            <a:ext cx="5303520" cy="320040"/>
          </a:xfrm>
          <a:prstGeom prst="rect">
            <a:avLst/>
          </a:prstGeom>
          <a:noFill/>
        </p:spPr>
        <p:txBody>
          <a:bodyPr wrap="square" lIns="36576" rIns="36576" tIns="18288" bIns="18288" anchor="ctr">
            <a:spAutoFit/>
          </a:bodyPr>
          <a:lstStyle/>
          <a:p>
            <a:pPr algn="l"/>
            <a:r>
              <a:rPr sz="1300" b="1">
                <a:solidFill>
                  <a:srgbClr val="D89A3D"/>
                </a:solidFill>
                <a:latin typeface="Aptos"/>
              </a:rPr>
              <a:t>PRESENTATION / AIWEB</a:t>
            </a:r>
          </a:p>
        </p:txBody>
      </p:sp>
      <p:sp>
        <p:nvSpPr>
          <p:cNvPr id="5" name="TextBox 4"/>
          <p:cNvSpPr txBox="1"/>
          <p:nvPr/>
        </p:nvSpPr>
        <p:spPr>
          <a:xfrm>
            <a:off x="731520" y="1417320"/>
            <a:ext cx="5852160" cy="1417320"/>
          </a:xfrm>
          <a:prstGeom prst="rect">
            <a:avLst/>
          </a:prstGeom>
          <a:noFill/>
        </p:spPr>
        <p:txBody>
          <a:bodyPr wrap="square" lIns="36576" rIns="36576" tIns="18288" bIns="18288" anchor="ctr">
            <a:spAutoFit/>
          </a:bodyPr>
          <a:lstStyle/>
          <a:p>
            <a:pPr algn="l"/>
            <a:r>
              <a:rPr sz="4000" b="1">
                <a:solidFill>
                  <a:srgbClr val="1E1E1E"/>
                </a:solidFill>
                <a:latin typeface="Aptos"/>
              </a:rPr>
              <a:t>访谈分析</a:t>
            </a:r>
          </a:p>
        </p:txBody>
      </p:sp>
      <p:sp>
        <p:nvSpPr>
          <p:cNvPr id="6" name="TextBox 5"/>
          <p:cNvSpPr txBox="1"/>
          <p:nvPr/>
        </p:nvSpPr>
        <p:spPr>
          <a:xfrm>
            <a:off x="777240" y="3154680"/>
            <a:ext cx="5303520" cy="731520"/>
          </a:xfrm>
          <a:prstGeom prst="rect">
            <a:avLst/>
          </a:prstGeom>
          <a:noFill/>
        </p:spPr>
        <p:txBody>
          <a:bodyPr wrap="square" lIns="36576" rIns="36576" tIns="18288" bIns="18288" anchor="ctr">
            <a:spAutoFit/>
          </a:bodyPr>
          <a:lstStyle/>
          <a:p>
            <a:pPr algn="l"/>
            <a:r>
              <a:rPr sz="2000" b="0">
                <a:solidFill>
                  <a:srgbClr val="6B6259"/>
                </a:solidFill>
                <a:latin typeface="Aptos"/>
              </a:rPr>
              <a:t>华峰华锦集团有限公司 IT咨询规划项目</a:t>
            </a:r>
          </a:p>
        </p:txBody>
      </p:sp>
      <p:sp>
        <p:nvSpPr>
          <p:cNvPr id="7" name="TextBox 6"/>
          <p:cNvSpPr txBox="1"/>
          <p:nvPr/>
        </p:nvSpPr>
        <p:spPr>
          <a:xfrm>
            <a:off x="777240" y="5285232"/>
            <a:ext cx="5303520" cy="320040"/>
          </a:xfrm>
          <a:prstGeom prst="rect">
            <a:avLst/>
          </a:prstGeom>
          <a:noFill/>
        </p:spPr>
        <p:txBody>
          <a:bodyPr wrap="square" lIns="36576" rIns="36576" tIns="18288" bIns="18288" anchor="ctr">
            <a:spAutoFit/>
          </a:bodyPr>
          <a:lstStyle/>
          <a:p>
            <a:pPr algn="l"/>
            <a:r>
              <a:rPr sz="1200" b="0">
                <a:solidFill>
                  <a:srgbClr val="B84A39"/>
                </a:solidFill>
                <a:latin typeface="Aptos"/>
              </a:rPr>
              <a:t>结构化内容 · 本地可编辑 · 下载即用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02</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一页结论</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访谈显示，集团采购职能经历多次调整，但组织权责、采购策略、计划管理和系统支撑尚未形成稳定闭环。财务端承担大量人工核对与风险判断，采购端则面临需求反复、主数据混乱和审批效率低等问题。</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状态判断：业务问题清晰，管理机制与系统蓝图仍需决策确认</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主要矛盾：集团统管与事业部自主经营之间缺少可执行的边界设计</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核心风险：错误入库、价格失控、合同缺失、付款依据不足及数据不可追溯</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资源重点：需要集团层面牵头组织、主数据治理、流程设计与业务数据支持</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02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03</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访谈范围与分析框架</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本次分析聚焦采购管理中心与财务共享中心应付组，覆盖采购组织与战略、采购执行、供应商管理、合同与付款、入库与对账、固定资产以及报表绩效。</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组织：总部与事业部的职责、汇报和管控关系</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流程：请购、寻源、定标、合同、订单、入库、请款与付款</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数据：物料编码、供应商、价格、合同、订单与库存数据质量</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系统：NC、采购云、环思、OA等系统之间的协同与断点</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03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04</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项目状态总览</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当前系统能够承载部分采购与财务业务，但业务规则、基础数据和跨部门协同不足，使系统无法稳定反映真实业务状态。项目不宜仅以系统上线作为成功标准，而应同步推进管理机制和数据基础建设。</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组织成熟度：中低，采购职能多次拆分，权责边界不稳定</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流程成熟度：中低，审批链条较长，后端反复核验</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数据成熟度：低，约50%的物料主数据存在问题</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系统成熟度：中低，多系统并行，采购云尚未覆盖全部对账场景</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04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05</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核心矛盾一：集团统管与事业部经营的张力</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集团曾尝试总部负责前端寻源、事业部负责后端执行，也曾尝试由总部统一采购，两种模式均未完全解决效率与管控的平衡问题。当前总部保留固定资产、职能中心物料和供应商准入管理，其他采购职能主要下沉至事业部。</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总部希望发挥集中寻源、规模议价和统一监督优势</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事业部强调快速响应、自负盈亏和业务灵活性</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现状容易形成一物多价、采购标准不一和管理责任模糊</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关键决策：明确集团采购、事业部采购及共享服务的权责边界</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05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06</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核心矛盾二：采购计划不足导致业务被动</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目前采购计划来源分散，既有NC销售预测与生产计划，也有环思系统、OA和研发部门直接采购。销售需求反复、计划制定不规范以及缺少库存计划，使采购活动频繁发生，难以形成集中采购和价格优势。</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纱线等生产物资存在需求重复、反复询价现象</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非生产性物资数量多、金额分散，消耗大量采购精力</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五金配件按车间临时申购，缺少稳定的补货机制</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办公、劳保、清洁、IT耗品等部分品类具备月度或季度集采条件</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06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07</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核心矛盾三：主数据质量限制采购管理</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集团物料规模超过10万项，访谈估计约50%的物料主数据存在问题。业务人员不熟悉编码规则时直接新建料号，形成一号多物、一物多号，进一步影响需求合并、询价比价、库存分析和报表准确性。</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缺少专门的物料管理或主数据管理职能</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需求部门提交物资时，标准、品牌和规格经常不完整</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供应商面对不同描述无法统一报价，采购价格缺乏可比性</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重复物料导致计划无法合并，增加审批、询价和库存占用</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07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08</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采购流程现状：审批多、单据多、周期长</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采购活动涉及请购单、定标单、合同、请款和付款等多个环节，并需经过多级主管、副经理、经理及董事长审批。部分请款需要附带六七份单据，管理层每天面对大量审批，业务周期和决策效率受到影响。</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董事长每天约审批20至30单</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林总、程总每天约审批100单左右</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后端审批承担了大量前端需求不清和合同缺失带来的风险</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采购建议加强需求源头审核，减少后续重复审批和重复附件</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08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09</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财务应付环节：人工核对成为主要工作负担</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财务付款前需要核对合同、比价单、供应商对账单、订单、入库和验收等信息。由于委外价格多为人工录入、比价单未关联订单、对账仍在线下进行，财务承担了大量逐笔核验工作。</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采购人员变动未及时交接，形成历史遗留账务</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合同未及时签订，采购已下单但付款缺少合规依据</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委外染整、织造、鞋类订单价格人工录入，财务需重复审核</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环思成衣、环思染整无法在线区分已对账与未对账</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09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10</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高风险场景：订单、入库与付款条件脱节</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外协项目订单审核后会自动生成入库单，存在项目尚未实施、尚未验收却已形成系统入库的风险。访谈还提到历史上曾出现工程未实施但系统自动入库并涉及大额款项的问题，说明系统动作与业务事实之间需要增加控制。</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外协项目类型复杂，修理、修缮、设备安装等项目难以用单一物料表达</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多个需求挂在同一料号，导致验收、结算和责任追踪困难</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未达到入库或付款条件时，自动入库会产生合规与资金风险</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外协业务应区分订单确认、服务完成、验收、开票和付款节点</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010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11</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委外加工：价格与履约过程缺少系统证据链</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委外染整、织造和鞋类业务普遍存在比价单手工维护、价格未与采购订单关联、请款缺少汇总表以及出入库单据未完整上传系统等问题。品检、入库、损耗率与预付、月结付款之间也缺乏统一规则。</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比价单与订单脱节，订单单价存在人工录入风险</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请款时财务需要逐条比对，核验时间长且容易遗漏</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品检未完成或尚未入库时申请付款的急单较多</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系统应记录委外加工订单、加工数量、单价、损耗、检验和入库状态</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011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12</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固定资产与项目采购：进度不可视</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部分固定资产已经发生预付款，但总部采购仍通过手工台账管理，系统无法显示订单、付款、到货现场和验收进度。因未达到验收条件，仓库无法入库，财务也难以判断预付款对应的资产和履约状态。</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固定资产采购缺少统一的订单至验收全过程状态</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预付款无法准确对应具体资产、供应商和交付节点</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项目采购若不细化需求和料号，后续验收与结算难以追踪</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建议建立固定资产采购台账与系统业务单据的关联机制</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012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13</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供应商管理：已有考核基础，但数据依赖人工</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总部采购部门已开展交货及时率、来料合格率、订单准确率等考核，供应商管理组按月对约50%的供应商进行人工评价。当前考核数据获取困难，成本指标尚未明确，供应商绩效难以持续反映到采购策略中。</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总部采购考核包含交付、质量和订单准确性指标</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供应商考核主要依赖人工统计，系统自动取数能力不足</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4月曾有800余家发生入库的供应商，实际参与考评约400家</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需明确核心供应商范围，例如年度采购金额累计80%的供应商</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013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14</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财务能力与共享模式：需要配套组织调整</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目前财务人员按公司划分职责，一人负责一至两个公司，对人员专业性和全面性要求较高。财务共享系统上线后，计划按项目进行分工，以提升核算专业能力和跨部门沟通能力。</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当前财务人员需要同时承担核算、沟通、合规和异常判断</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采购与财务之间缺少稳定、明确、可执行的协同制度</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共享模式调整不仅是系统切换，也涉及岗位职责与能力模型变化</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应同步设计异常处理、退回、补充材料和升级审批机制</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014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15</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报表与指标现状：管理层缺少统一事实来源</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采购部门已有交货及时率、来料合格率、订单准确率和供应商开发等指标，但部分数据无法从系统自动获取。财务希望获得采购单价、请款分析及自动化报表，用于付款审核、成本管控和异常识别。</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采购绩效数据仍需线下汇总，统计耗时且口径易不一致</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供应商考核缺少订单、入库、质量和付款数据的自动关联</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采购成本考核指标尚未形成统一定义和计算公式</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财务需要能够区分已对账、未对账、已入库和待验收状态</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015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16</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目标蓝图：形成采购到付款的闭环</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目标状态应实现需求、预算、寻源、定标、合同、订单、收货验收、对账、请款和付款的连续追踪。每个关键节点都应有明确的责任人、业务条件和系统状态，减少人工核验与线下补充。</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预算前置：在授权范围内控制采购活动，减少无预算采购</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计划驱动：按月度、季度和库存策略归集需求，提升议价能力</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标准采购：统一物料编码、命名、品牌、规格与供应商报价口径</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节点控制：合同、验收、对账和开票成为付款前置条件</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016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17</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建议的管控模型：集团定规则，事业部保效率</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集团不必重新集中所有采购职能，而应围绕高价值、通用性强、风险高或具备规模效应的品类实施集团治理。事业部在预算和授权边界内快速执行，集团负责标准、策略、供应商和关键风险控制。</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集团层面：采购政策、品类策略、主数据标准、供应商准入与绩效</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事业部层面：需求计划、预算内采购、订单执行、交付跟踪和业务响应</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共享服务层面：合同校验、对账、应付审核、异常处理和付款支持</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按金额、品类、风险、供应商集中度设置不同审批与授权规则</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017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18</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优先落地场景</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建议采用分阶段推进方式，优先选择能够快速验证管理价值的业务场景。首批场景既要覆盖财务痛点，也要能带动采购、仓储、供应商和系统数据的协同。</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委外加工：订单价格、加工数量、检验、入库、对账和付款联动</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外协项目：需求细化、验收、开票、入库和付款条件控制</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固定资产：请购、订单、预付款、到货、验收和入账全过程跟踪</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通用非生产性物资：月度或季度集中采购与目录化管理</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018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19</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路线图：四个阶段推进</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项目推进应以业务可执行为前提，避免在主数据和职责未明确时直接扩大系统范围。每一阶段均应设置明确产出和决策门槛，确保投入与业务价值匹配。</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阶段一：明确集团与事业部权责，确定品类分层和审批授权原则</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阶段二：开展物料、供应商、价格和组织主数据治理，建立责任机制</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阶段三：选择委外加工、固定资产或外协项目进行端到端试点</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阶段四：扩展采购计划、供应商绩效、对账和管理驾驶舱</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019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6428232"/>
            <a:ext cx="2011680" cy="201168"/>
          </a:xfrm>
          <a:prstGeom prst="rect">
            <a:avLst/>
          </a:prstGeom>
          <a:noFill/>
        </p:spPr>
        <p:txBody>
          <a:bodyPr wrap="square" lIns="36576" rIns="36576" tIns="18288" bIns="18288" anchor="ctr">
            <a:spAutoFit/>
          </a:bodyPr>
          <a:lstStyle/>
          <a:p>
            <a:pPr algn="l"/>
            <a:r>
              <a:rPr sz="900" b="0">
                <a:solidFill>
                  <a:srgbClr val="6B6259"/>
                </a:solidFill>
                <a:latin typeface="Aptos"/>
              </a:rPr>
              <a:t>AIWeb / 20</a:t>
            </a:r>
          </a:p>
        </p:txBody>
      </p:sp>
      <p:sp>
        <p:nvSpPr>
          <p:cNvPr id="4" name="TextBox 3"/>
          <p:cNvSpPr txBox="1"/>
          <p:nvPr/>
        </p:nvSpPr>
        <p:spPr>
          <a:xfrm>
            <a:off x="749808" y="658368"/>
            <a:ext cx="9966960" cy="685800"/>
          </a:xfrm>
          <a:prstGeom prst="rect">
            <a:avLst/>
          </a:prstGeom>
          <a:noFill/>
        </p:spPr>
        <p:txBody>
          <a:bodyPr wrap="square" lIns="36576" rIns="36576" tIns="18288" bIns="18288" anchor="ctr">
            <a:spAutoFit/>
          </a:bodyPr>
          <a:lstStyle/>
          <a:p>
            <a:pPr algn="l"/>
            <a:r>
              <a:rPr sz="3000" b="1">
                <a:solidFill>
                  <a:srgbClr val="1E1E1E"/>
                </a:solidFill>
                <a:latin typeface="Aptos"/>
              </a:rPr>
              <a:t>决策者需要支持的事项</a:t>
            </a:r>
          </a:p>
        </p:txBody>
      </p:sp>
      <p:sp>
        <p:nvSpPr>
          <p:cNvPr id="5" name="TextBox 4"/>
          <p:cNvSpPr txBox="1"/>
          <p:nvPr/>
        </p:nvSpPr>
        <p:spPr>
          <a:xfrm>
            <a:off x="804672" y="1600200"/>
            <a:ext cx="6400800" cy="914400"/>
          </a:xfrm>
          <a:prstGeom prst="rect">
            <a:avLst/>
          </a:prstGeom>
          <a:noFill/>
        </p:spPr>
        <p:txBody>
          <a:bodyPr wrap="square" lIns="36576" rIns="36576" tIns="18288" bIns="18288" anchor="ctr">
            <a:spAutoFit/>
          </a:bodyPr>
          <a:lstStyle/>
          <a:p>
            <a:pPr algn="l"/>
            <a:r>
              <a:rPr sz="1900" b="0">
                <a:solidFill>
                  <a:srgbClr val="6B6259"/>
                </a:solidFill>
                <a:latin typeface="Aptos"/>
              </a:rPr>
              <a:t>访谈暴露的问题跨越采购、财务、仓储、生产、研发和事业部管理边界。若没有集团层面的统一决策和资源投入，项目容易停留在局部优化，无法解决根因。</a:t>
            </a:r>
          </a:p>
        </p:txBody>
      </p:sp>
      <p:sp>
        <p:nvSpPr>
          <p:cNvPr id="6" name="Oval 5"/>
          <p:cNvSpPr/>
          <p:nvPr/>
        </p:nvSpPr>
        <p:spPr>
          <a:xfrm>
            <a:off x="822960" y="2852928"/>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743200"/>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指定集团级项目负责人，对跨部门流程和规则拥有协调权</a:t>
            </a:r>
          </a:p>
        </p:txBody>
      </p:sp>
      <p:sp>
        <p:nvSpPr>
          <p:cNvPr id="8" name="Oval 7"/>
          <p:cNvSpPr/>
          <p:nvPr/>
        </p:nvSpPr>
        <p:spPr>
          <a:xfrm>
            <a:off x="822960" y="3511296"/>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15568" y="3401568"/>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明确采购管理中心、事业部采购、财务共享和仓储的职责边界</a:t>
            </a:r>
          </a:p>
        </p:txBody>
      </p:sp>
      <p:sp>
        <p:nvSpPr>
          <p:cNvPr id="10" name="Oval 9"/>
          <p:cNvSpPr/>
          <p:nvPr/>
        </p:nvSpPr>
        <p:spPr>
          <a:xfrm>
            <a:off x="822960" y="4169663"/>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15568" y="4059935"/>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授权主数据治理专项，指定物料、供应商和价格数据责任人</a:t>
            </a:r>
          </a:p>
        </p:txBody>
      </p:sp>
      <p:sp>
        <p:nvSpPr>
          <p:cNvPr id="12" name="Oval 11"/>
          <p:cNvSpPr/>
          <p:nvPr/>
        </p:nvSpPr>
        <p:spPr>
          <a:xfrm>
            <a:off x="822960" y="4828032"/>
            <a:ext cx="146304" cy="146304"/>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15568" y="4718304"/>
            <a:ext cx="5897880" cy="438912"/>
          </a:xfrm>
          <a:prstGeom prst="rect">
            <a:avLst/>
          </a:prstGeom>
          <a:noFill/>
        </p:spPr>
        <p:txBody>
          <a:bodyPr wrap="square" lIns="36576" rIns="36576" tIns="18288" bIns="18288" anchor="ctr">
            <a:spAutoFit/>
          </a:bodyPr>
          <a:lstStyle/>
          <a:p>
            <a:pPr algn="l"/>
            <a:r>
              <a:rPr sz="1700" b="0">
                <a:solidFill>
                  <a:srgbClr val="1E1E1E"/>
                </a:solidFill>
                <a:latin typeface="Aptos"/>
              </a:rPr>
              <a:t>提供近6个月采购绩效、核心供应商及1至5月采购入库原始数据</a:t>
            </a:r>
          </a:p>
        </p:txBody>
      </p:sp>
      <p:sp>
        <p:nvSpPr>
          <p:cNvPr id="14" name="Rounded Rectangle 13"/>
          <p:cNvSpPr/>
          <p:nvPr/>
        </p:nvSpPr>
        <p:spPr>
          <a:xfrm>
            <a:off x="8001000" y="1554480"/>
            <a:ext cx="3246120" cy="3611880"/>
          </a:xfrm>
          <a:prstGeom prst="roundRect">
            <a:avLst/>
          </a:prstGeom>
          <a:solidFill>
            <a:srgbClr val="B84A39"/>
          </a:solidFill>
          <a:ln>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240280"/>
            <a:ext cx="2377440" cy="1188720"/>
          </a:xfrm>
          <a:prstGeom prst="rect">
            <a:avLst/>
          </a:prstGeom>
          <a:noFill/>
        </p:spPr>
        <p:txBody>
          <a:bodyPr wrap="square" lIns="36576" rIns="36576" tIns="18288" bIns="18288" anchor="ctr">
            <a:spAutoFit/>
          </a:bodyPr>
          <a:lstStyle/>
          <a:p>
            <a:pPr algn="ctr"/>
            <a:r>
              <a:rPr sz="2700" b="1">
                <a:solidFill>
                  <a:srgbClr val="1E1E1E"/>
                </a:solidFill>
                <a:latin typeface="Aptos"/>
              </a:rPr>
              <a:t>020 SIGNAL</a:t>
            </a:r>
          </a:p>
        </p:txBody>
      </p:sp>
      <p:sp>
        <p:nvSpPr>
          <p:cNvPr id="16" name="TextBox 15"/>
          <p:cNvSpPr txBox="1"/>
          <p:nvPr/>
        </p:nvSpPr>
        <p:spPr>
          <a:xfrm>
            <a:off x="8339327" y="3840480"/>
            <a:ext cx="2377440" cy="731520"/>
          </a:xfrm>
          <a:prstGeom prst="rect">
            <a:avLst/>
          </a:prstGeom>
          <a:noFill/>
        </p:spPr>
        <p:txBody>
          <a:bodyPr wrap="square" lIns="36576" rIns="36576" tIns="18288" bIns="18288" anchor="ctr">
            <a:spAutoFit/>
          </a:bodyPr>
          <a:lstStyle/>
          <a:p>
            <a:pPr algn="ctr"/>
            <a:r>
              <a:rPr sz="1500" b="0">
                <a:solidFill>
                  <a:srgbClr val="6B6259"/>
                </a:solidFill>
                <a:latin typeface="Aptos"/>
              </a:rPr>
              <a:t>重点内容 可继续编辑</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