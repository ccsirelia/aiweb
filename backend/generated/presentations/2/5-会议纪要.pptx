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会议纪要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会议纪要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会议纪要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会议纪要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会议纪要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会议纪要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会议纪要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会议纪要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会议纪要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AIWeb user brief: 会议纪要</a:t>
            </a:r>
          </a:p>
          <a:p>
            <a:r>
              <a:t>Uploaded references are user-provided materials.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39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5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391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12679" y="384048"/>
            <a:ext cx="1463039" cy="10972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24159" y="4846320"/>
            <a:ext cx="1097279" cy="1097280"/>
          </a:xfrm>
          <a:prstGeom prst="ellipse">
            <a:avLst/>
          </a:prstGeom>
          <a:noFill/>
          <a:ln w="10160"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98479" y="5120640"/>
            <a:ext cx="548639" cy="548640"/>
          </a:xfrm>
          <a:prstGeom prst="ellipse">
            <a:avLst/>
          </a:prstGeom>
          <a:noFill/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8B4CC"/>
                </a:solidFill>
                <a:latin typeface="Aptos Mono"/>
              </a:rPr>
              <a:t>01 / AIWEB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" y="822960"/>
            <a:ext cx="566927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 Mono"/>
              </a:rPr>
              <a:t>IT咨询规划项目｜访谈纪要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19" y="1353312"/>
            <a:ext cx="5897879" cy="1600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4000" b="1">
                <a:solidFill>
                  <a:srgbClr val="F8FAFC"/>
                </a:solidFill>
                <a:latin typeface="Aptos"/>
              </a:rPr>
              <a:t>采购与财务协同：从人工核对走向端到端管控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39" y="3182112"/>
            <a:ext cx="5577839" cy="7315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900" b="0">
                <a:solidFill>
                  <a:srgbClr val="A8B4CC"/>
                </a:solidFill>
                <a:latin typeface="Aptos"/>
              </a:rPr>
              <a:t>华峰华锦集团有限公司｜总部采购管理中心、财务共享中心应付组｜2022年6月访谈资料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39" y="5175504"/>
            <a:ext cx="1280159" cy="4572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39" y="5321808"/>
            <a:ext cx="420623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5B7CFF"/>
                </a:solidFill>
                <a:latin typeface="Aptos Mono"/>
              </a:rPr>
              <a:t>EDITABLE / DOWNLOAD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39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5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391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12679" y="384048"/>
            <a:ext cx="1463039" cy="10972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24159" y="4846320"/>
            <a:ext cx="1097279" cy="1097280"/>
          </a:xfrm>
          <a:prstGeom prst="ellipse">
            <a:avLst/>
          </a:prstGeom>
          <a:noFill/>
          <a:ln w="10160"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98479" y="5120640"/>
            <a:ext cx="548639" cy="548640"/>
          </a:xfrm>
          <a:prstGeom prst="ellipse">
            <a:avLst/>
          </a:prstGeom>
          <a:noFill/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8B4CC"/>
                </a:solidFill>
                <a:latin typeface="Aptos Mono"/>
              </a:rPr>
              <a:t>02 / AIWEB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8B4CC"/>
                </a:solidFill>
                <a:latin typeface="Aptos Mono"/>
              </a:rPr>
              <a:t>AIWeb /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B7CFF"/>
                </a:solidFill>
                <a:latin typeface="Aptos Mono"/>
              </a:rPr>
              <a:t>管理层结论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先统一“规则与数据”，再优化“权责与流程”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8B4CC"/>
                </a:solidFill>
                <a:latin typeface="Aptos"/>
              </a:rPr>
              <a:t>应以主数据、预算计划和订单到付款闭环为共同底座，减少人工判断和跨部门反复核验。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212848"/>
            <a:ext cx="6172199" cy="7772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A8B4CC"/>
                </a:solidFill>
                <a:latin typeface="Aptos"/>
              </a:rPr>
              <a:t>目前采购执行中存在一物多号、一号多物、规格标准不统一、订单价格人工录入等问题；财务在请款阶段被动补做合同、比价、对账和验收核验，既拉长周期，也放大付款风险。</a:t>
            </a:r>
          </a:p>
        </p:txBody>
      </p:sp>
      <p:sp>
        <p:nvSpPr>
          <p:cNvPr id="15" name="Oval 14"/>
          <p:cNvSpPr/>
          <p:nvPr/>
        </p:nvSpPr>
        <p:spPr>
          <a:xfrm>
            <a:off x="877823" y="3182112"/>
            <a:ext cx="128015" cy="12801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2999" y="3072384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建立集团级物料、供应商、价格与合同主数据标准</a:t>
            </a:r>
          </a:p>
        </p:txBody>
      </p:sp>
      <p:sp>
        <p:nvSpPr>
          <p:cNvPr id="17" name="Oval 16"/>
          <p:cNvSpPr/>
          <p:nvPr/>
        </p:nvSpPr>
        <p:spPr>
          <a:xfrm>
            <a:off x="877823" y="3749039"/>
            <a:ext cx="128015" cy="12801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2999" y="3639312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将预算、计划和授权前置到采购发起环节</a:t>
            </a:r>
          </a:p>
        </p:txBody>
      </p:sp>
      <p:sp>
        <p:nvSpPr>
          <p:cNvPr id="19" name="Oval 18"/>
          <p:cNvSpPr/>
          <p:nvPr/>
        </p:nvSpPr>
        <p:spPr>
          <a:xfrm>
            <a:off x="877823" y="4315968"/>
            <a:ext cx="128015" cy="12801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2999" y="4206239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以系统校验替代财务逐笔人工复核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09559" y="2103119"/>
            <a:ext cx="3246119" cy="3246120"/>
          </a:xfrm>
          <a:prstGeom prst="roundRect">
            <a:avLst/>
          </a:prstGeom>
          <a:solidFill>
            <a:srgbClr val="5B7CFF"/>
          </a:solidFill>
          <a:ln w="10160"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9" y="2743200"/>
            <a:ext cx="2606039" cy="1325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F8FAFC"/>
                </a:solidFill>
                <a:latin typeface="Aptos Mono"/>
              </a:rPr>
              <a:t>管理层结论 01 33%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4325112"/>
            <a:ext cx="2514599" cy="5486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A8B4CC"/>
                </a:solidFill>
                <a:latin typeface="Aptos"/>
              </a:rPr>
              <a:t>重点内容 可继续编辑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 Mono"/>
              </a:rPr>
              <a:t>TAKEAWAY 应以主数据、预算计划和订单到付款闭环为共同底座，减少人工判断和跨部门反复核验。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39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5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391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12679" y="384048"/>
            <a:ext cx="1463039" cy="10972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24159" y="4846320"/>
            <a:ext cx="1097279" cy="1097280"/>
          </a:xfrm>
          <a:prstGeom prst="ellipse">
            <a:avLst/>
          </a:prstGeom>
          <a:noFill/>
          <a:ln w="10160"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98479" y="5120640"/>
            <a:ext cx="548639" cy="548640"/>
          </a:xfrm>
          <a:prstGeom prst="ellipse">
            <a:avLst/>
          </a:prstGeom>
          <a:noFill/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8B4CC"/>
                </a:solidFill>
                <a:latin typeface="Aptos Mono"/>
              </a:rPr>
              <a:t>03 / AIWEB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8B4CC"/>
                </a:solidFill>
                <a:latin typeface="Aptos Mono"/>
              </a:rPr>
              <a:t>AIWeb / 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B7CFF"/>
                </a:solidFill>
                <a:latin typeface="Aptos Mono"/>
              </a:rPr>
              <a:t>关键诊断数据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高频审批、低质量主数据与大规模人工考评叠加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8B4CC"/>
                </a:solidFill>
                <a:latin typeface="Aptos"/>
              </a:rPr>
              <a:t>系统无法自动抓取关键数据，导致管理人员、采购与财务均陷入高频审批和线下核对。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39" y="2212848"/>
            <a:ext cx="2971799" cy="2423160"/>
          </a:xfrm>
          <a:prstGeom prst="roundRect">
            <a:avLst/>
          </a:prstGeom>
          <a:solidFill>
            <a:srgbClr val="5B7CFF"/>
          </a:solidFill>
          <a:ln w="10160"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1" y="2514600"/>
            <a:ext cx="2331719" cy="8686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Aptos"/>
              </a:rPr>
              <a:t>约50%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59" y="3547872"/>
            <a:ext cx="2377439" cy="4114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ptos"/>
              </a:rPr>
              <a:t>物料主数据存在问题（访谈估计）</a:t>
            </a:r>
          </a:p>
        </p:txBody>
      </p:sp>
      <p:sp>
        <p:nvSpPr>
          <p:cNvPr id="17" name="Oval 16"/>
          <p:cNvSpPr/>
          <p:nvPr/>
        </p:nvSpPr>
        <p:spPr>
          <a:xfrm>
            <a:off x="4315967" y="2423160"/>
            <a:ext cx="155447" cy="15544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39" y="2331720"/>
            <a:ext cx="6217919" cy="47548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董事长日审批约20—30单</a:t>
            </a:r>
          </a:p>
        </p:txBody>
      </p:sp>
      <p:sp>
        <p:nvSpPr>
          <p:cNvPr id="19" name="Oval 18"/>
          <p:cNvSpPr/>
          <p:nvPr/>
        </p:nvSpPr>
        <p:spPr>
          <a:xfrm>
            <a:off x="4315967" y="3264408"/>
            <a:ext cx="155447" cy="15544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3439" y="3172968"/>
            <a:ext cx="6217919" cy="47548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相关负责人日审批约100单</a:t>
            </a:r>
          </a:p>
        </p:txBody>
      </p:sp>
      <p:sp>
        <p:nvSpPr>
          <p:cNvPr id="21" name="Oval 20"/>
          <p:cNvSpPr/>
          <p:nvPr/>
        </p:nvSpPr>
        <p:spPr>
          <a:xfrm>
            <a:off x="4315967" y="4105655"/>
            <a:ext cx="155447" cy="155448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39" y="4014215"/>
            <a:ext cx="6217919" cy="47548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700" b="0">
                <a:solidFill>
                  <a:srgbClr val="F8FAFC"/>
                </a:solidFill>
                <a:latin typeface="Aptos"/>
              </a:rPr>
              <a:t>物料约10万条，访谈估计约50%存在问题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 Mono"/>
              </a:rPr>
              <a:t>TAKEAWAY 系统无法自动抓取关键数据，导致管理人员、采购与财务均陷入高频审批和线下核对。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39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5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391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12679" y="384048"/>
            <a:ext cx="1463039" cy="10972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24159" y="4846320"/>
            <a:ext cx="1097279" cy="1097280"/>
          </a:xfrm>
          <a:prstGeom prst="ellipse">
            <a:avLst/>
          </a:prstGeom>
          <a:noFill/>
          <a:ln w="10160"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98479" y="5120640"/>
            <a:ext cx="548639" cy="548640"/>
          </a:xfrm>
          <a:prstGeom prst="ellipse">
            <a:avLst/>
          </a:prstGeom>
          <a:noFill/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8B4CC"/>
                </a:solidFill>
                <a:latin typeface="Aptos Mono"/>
              </a:rPr>
              <a:t>04 / AIWEB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8B4CC"/>
                </a:solidFill>
                <a:latin typeface="Aptos Mono"/>
              </a:rPr>
              <a:t>AIWeb /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B7CFF"/>
                </a:solidFill>
                <a:latin typeface="Aptos Mono"/>
              </a:rPr>
              <a:t>管理决策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采购管控应从“收与放”二选一，转向“标准集中、执行授权”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8B4CC"/>
                </a:solidFill>
                <a:latin typeface="Aptos"/>
              </a:rPr>
              <a:t>集团应集中掌握标准、供应商准入、品类策略和数据监督；事业部应在预算与授权范围内快速执行。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3" y="2240280"/>
            <a:ext cx="4983479" cy="2880360"/>
          </a:xfrm>
          <a:prstGeom prst="roundRect">
            <a:avLst/>
          </a:prstGeom>
          <a:solidFill>
            <a:srgbClr val="5B7CFF"/>
          </a:solidFill>
          <a:ln w="10160"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79" y="2532888"/>
            <a:ext cx="4297679" cy="40233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F8FAFC"/>
                </a:solidFill>
                <a:latin typeface="Aptos"/>
              </a:rPr>
              <a:t>建议总部集中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15567" y="3264408"/>
            <a:ext cx="109727" cy="109728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7" y="3127248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供应商准入、分级与核心供应商策略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15567" y="3703320"/>
            <a:ext cx="109727" cy="109728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7" y="3566160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通用品类标准、物料主数据与目录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15567" y="4142232"/>
            <a:ext cx="109727" cy="109728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9887" y="4005072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集团集采、价格框架与合同模板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15567" y="4581144"/>
            <a:ext cx="109727" cy="109728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7" y="4443983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采购绩效、成本分析与风险监控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7" y="2240280"/>
            <a:ext cx="4983479" cy="2880360"/>
          </a:xfrm>
          <a:prstGeom prst="roundRect">
            <a:avLst/>
          </a:prstGeom>
          <a:solidFill>
            <a:srgbClr val="2DD4BF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3" y="2532888"/>
            <a:ext cx="4297679" cy="40233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F8FAFC"/>
                </a:solidFill>
                <a:latin typeface="Aptos"/>
              </a:rPr>
              <a:t>建议事业部授权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65391" y="3264408"/>
            <a:ext cx="109727" cy="10972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9711" y="3127248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预算内、目录内的日常采购执行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65391" y="3703320"/>
            <a:ext cx="109727" cy="10972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9711" y="3566160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订单下达、跟单、收货协同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65391" y="4142232"/>
            <a:ext cx="109727" cy="10972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9711" y="4005072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本地化紧急需求与经营响应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65391" y="4581144"/>
            <a:ext cx="109727" cy="10972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39711" y="4443983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在统一规则下的供应商履约管理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 Mono"/>
              </a:rPr>
              <a:t>TAKEAWAY 集团应集中掌握标准、供应商准入、品类策略和数据监督；事业部应在预算与授权范围内快速执行。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39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5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391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12679" y="384048"/>
            <a:ext cx="1463039" cy="10972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24159" y="4846320"/>
            <a:ext cx="1097279" cy="1097280"/>
          </a:xfrm>
          <a:prstGeom prst="ellipse">
            <a:avLst/>
          </a:prstGeom>
          <a:noFill/>
          <a:ln w="10160"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98479" y="5120640"/>
            <a:ext cx="548639" cy="548640"/>
          </a:xfrm>
          <a:prstGeom prst="ellipse">
            <a:avLst/>
          </a:prstGeom>
          <a:noFill/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8B4CC"/>
                </a:solidFill>
                <a:latin typeface="Aptos Mono"/>
              </a:rPr>
              <a:t>05 / AIWEB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8B4CC"/>
                </a:solidFill>
                <a:latin typeface="Aptos Mono"/>
              </a:rPr>
              <a:t>AIWeb /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B7CFF"/>
                </a:solidFill>
                <a:latin typeface="Aptos Mono"/>
              </a:rPr>
              <a:t>业务风险聚焦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委外、外协与固定资产付款链路存在“信息断点”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8B4CC"/>
                </a:solidFill>
                <a:latin typeface="Aptos"/>
              </a:rPr>
              <a:t>优先将高风险付款场景纳入系统闭环，确保“有依据才能立账、有验收才能付款”。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212848"/>
            <a:ext cx="6172199" cy="7772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A8B4CC"/>
                </a:solidFill>
                <a:latin typeface="Aptos"/>
              </a:rPr>
              <a:t>委外加工比价单未关联订单，订单价格依赖人工录入、微信审批；鞋类和服工序委外出入库单据未完整上系统。外协项目比价无法关联订单，订单审核后自动生成入库单，存在未实际完成即触发入库和付款的风险。固定资产预付款在系统中缺少到货、验收与付款进度追踪。</a:t>
            </a:r>
          </a:p>
        </p:txBody>
      </p:sp>
      <p:sp>
        <p:nvSpPr>
          <p:cNvPr id="15" name="Oval 14"/>
          <p:cNvSpPr/>
          <p:nvPr/>
        </p:nvSpPr>
        <p:spPr>
          <a:xfrm>
            <a:off x="877823" y="3182112"/>
            <a:ext cx="128015" cy="12801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2999" y="3072384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委外订单价格由系统带出并保留审批版本</a:t>
            </a:r>
          </a:p>
        </p:txBody>
      </p:sp>
      <p:sp>
        <p:nvSpPr>
          <p:cNvPr id="17" name="Oval 16"/>
          <p:cNvSpPr/>
          <p:nvPr/>
        </p:nvSpPr>
        <p:spPr>
          <a:xfrm>
            <a:off x="877823" y="3749039"/>
            <a:ext cx="128015" cy="12801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2999" y="3639312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委外加工出入库、品检和损耗信息完整入系统</a:t>
            </a:r>
          </a:p>
        </p:txBody>
      </p:sp>
      <p:sp>
        <p:nvSpPr>
          <p:cNvPr id="19" name="Oval 18"/>
          <p:cNvSpPr/>
          <p:nvPr/>
        </p:nvSpPr>
        <p:spPr>
          <a:xfrm>
            <a:off x="877823" y="4315968"/>
            <a:ext cx="128015" cy="12801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2999" y="4206239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外协项目按“需求—料号—订单—验收—入库—发票—付款”闭环管控</a:t>
            </a:r>
          </a:p>
        </p:txBody>
      </p:sp>
      <p:sp>
        <p:nvSpPr>
          <p:cNvPr id="21" name="Oval 20"/>
          <p:cNvSpPr/>
          <p:nvPr/>
        </p:nvSpPr>
        <p:spPr>
          <a:xfrm>
            <a:off x="877823" y="4882896"/>
            <a:ext cx="128015" cy="12801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2999" y="4773168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固定资产建立请购、订单、预付款、到货、验收全程台账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9559" y="2103119"/>
            <a:ext cx="3246119" cy="3246120"/>
          </a:xfrm>
          <a:prstGeom prst="roundRect">
            <a:avLst/>
          </a:prstGeom>
          <a:solidFill>
            <a:srgbClr val="5B7CFF"/>
          </a:solidFill>
          <a:ln w="10160"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9" y="2743200"/>
            <a:ext cx="2606039" cy="1325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F8FAFC"/>
                </a:solidFill>
                <a:latin typeface="Aptos Mono"/>
              </a:rPr>
              <a:t>业务风险聚焦 25%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4325112"/>
            <a:ext cx="2514599" cy="5486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A8B4CC"/>
                </a:solidFill>
                <a:latin typeface="Aptos"/>
              </a:rPr>
              <a:t>重点内容 可继续编辑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 Mono"/>
              </a:rPr>
              <a:t>TAKEAWAY 优先将高风险付款场景纳入系统闭环，确保“有依据才能立账、有验收才能付款”。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39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5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391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12679" y="384048"/>
            <a:ext cx="1463039" cy="10972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24159" y="4846320"/>
            <a:ext cx="1097279" cy="1097280"/>
          </a:xfrm>
          <a:prstGeom prst="ellipse">
            <a:avLst/>
          </a:prstGeom>
          <a:noFill/>
          <a:ln w="10160"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98479" y="5120640"/>
            <a:ext cx="548639" cy="548640"/>
          </a:xfrm>
          <a:prstGeom prst="ellipse">
            <a:avLst/>
          </a:prstGeom>
          <a:noFill/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8B4CC"/>
                </a:solidFill>
                <a:latin typeface="Aptos Mono"/>
              </a:rPr>
              <a:t>06 / AIWEB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8B4CC"/>
                </a:solidFill>
                <a:latin typeface="Aptos Mono"/>
              </a:rPr>
              <a:t>AIWeb /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B7CFF"/>
                </a:solidFill>
                <a:latin typeface="Aptos Mono"/>
              </a:rPr>
              <a:t>建设路线图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分三阶段推进：先止损、再贯通、后优化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8B4CC"/>
                </a:solidFill>
                <a:latin typeface="Aptos"/>
              </a:rPr>
              <a:t>建议在统一标准的前提下，分阶段实现流程闭环、数据可视与经营优化。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39" y="3172968"/>
            <a:ext cx="9829799" cy="54864"/>
          </a:xfrm>
          <a:prstGeom prst="rect">
            <a:avLst/>
          </a:prstGeom>
          <a:solidFill>
            <a:srgbClr val="A8B4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7" y="2916936"/>
            <a:ext cx="548639" cy="548640"/>
          </a:xfrm>
          <a:prstGeom prst="ellipse">
            <a:avLst/>
          </a:prstGeom>
          <a:solidFill>
            <a:srgbClr val="5B7CFF"/>
          </a:solidFill>
          <a:ln w="10160"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 Mono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阶段一｜0—3个月：规则与止损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A8B4CC"/>
                </a:solidFill>
                <a:latin typeface="Aptos"/>
              </a:rPr>
              <a:t>梳理物料、供应商、合同、价格和验收规则；清理高频物料主数据；关闭不满足验收条件的自动入库与付款触发风险。</a:t>
            </a:r>
          </a:p>
        </p:txBody>
      </p:sp>
      <p:sp>
        <p:nvSpPr>
          <p:cNvPr id="19" name="Oval 18"/>
          <p:cNvSpPr/>
          <p:nvPr/>
        </p:nvSpPr>
        <p:spPr>
          <a:xfrm>
            <a:off x="5847587" y="2916936"/>
            <a:ext cx="548639" cy="548640"/>
          </a:xfrm>
          <a:prstGeom prst="ellipse">
            <a:avLst/>
          </a:prstGeom>
          <a:solidFill>
            <a:srgbClr val="0B1020"/>
          </a:solidFill>
          <a:ln w="10160"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4758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 Mono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2754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阶段二｜3—6个月：流程与数据贯通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178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A8B4CC"/>
                </a:solidFill>
                <a:latin typeface="Aptos"/>
              </a:rPr>
              <a:t>建设委外、外协、固定资产及对账请款闭环；打通比价、订单、入库、验收、发票和付款的关键控制点。</a:t>
            </a:r>
          </a:p>
        </p:txBody>
      </p:sp>
      <p:sp>
        <p:nvSpPr>
          <p:cNvPr id="23" name="Oval 22"/>
          <p:cNvSpPr/>
          <p:nvPr/>
        </p:nvSpPr>
        <p:spPr>
          <a:xfrm>
            <a:off x="10853927" y="2916936"/>
            <a:ext cx="548639" cy="548640"/>
          </a:xfrm>
          <a:prstGeom prst="ellipse">
            <a:avLst/>
          </a:prstGeom>
          <a:solidFill>
            <a:srgbClr val="0B1020"/>
          </a:solidFill>
          <a:ln w="10160"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53927" y="2999232"/>
            <a:ext cx="548639" cy="2743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 Mono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33887" y="3730752"/>
            <a:ext cx="118871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Aptos"/>
              </a:rPr>
              <a:t>阶段三｜6—12个月：计划与经营优化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68127" y="4160520"/>
            <a:ext cx="1920239" cy="59436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200" b="0">
                <a:solidFill>
                  <a:srgbClr val="A8B4CC"/>
                </a:solidFill>
                <a:latin typeface="Aptos"/>
              </a:rPr>
              <a:t>推进预算前置、目录采购、集采策略、供应商绩效自动化和采购成本分析，实现分层授权与持续运营。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 Mono"/>
              </a:rPr>
              <a:t>TAKEAWAY 建议在统一标准的前提下，分阶段实现流程闭环、数据可视与经营优化。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39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5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391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12679" y="384048"/>
            <a:ext cx="1463039" cy="10972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24159" y="4846320"/>
            <a:ext cx="1097279" cy="1097280"/>
          </a:xfrm>
          <a:prstGeom prst="ellipse">
            <a:avLst/>
          </a:prstGeom>
          <a:noFill/>
          <a:ln w="10160"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98479" y="5120640"/>
            <a:ext cx="548639" cy="548640"/>
          </a:xfrm>
          <a:prstGeom prst="ellipse">
            <a:avLst/>
          </a:prstGeom>
          <a:noFill/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8B4CC"/>
                </a:solidFill>
                <a:latin typeface="Aptos Mono"/>
              </a:rPr>
              <a:t>07 / AIWEB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8B4CC"/>
                </a:solidFill>
                <a:latin typeface="Aptos Mono"/>
              </a:rPr>
              <a:t>AIWeb /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B7CFF"/>
                </a:solidFill>
                <a:latin typeface="Aptos Mono"/>
              </a:rPr>
              <a:t>访谈原声提炼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“前端审核要把关，后续流程要简化。”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8B4CC"/>
                </a:solidFill>
                <a:latin typeface="Aptos"/>
              </a:rPr>
              <a:t>流程优化的正确方向不是简单减少审批，而是在需求、预算、标准和授权阶段加强控制，释放后端执行效率。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39" y="2011680"/>
            <a:ext cx="640079" cy="118872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7000" b="1">
                <a:solidFill>
                  <a:srgbClr val="5B7CFF"/>
                </a:solidFill>
                <a:latin typeface="Georgia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19" y="2331720"/>
            <a:ext cx="8961119" cy="1325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Georgia"/>
              </a:rPr>
              <a:t>当前采购活动覆盖请购、定标、合同、请款、付款等多类单据，且请款常需附六七份材料。建议建立基于金额、品类、预算、合同覆盖和异常情形的规则引擎，减少重复审批与重复提交。来源：总部采购管理中心访谈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39" y="4114800"/>
            <a:ext cx="685799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8B4CC"/>
                </a:solidFill>
                <a:latin typeface="Aptos Mono"/>
              </a:rPr>
              <a:t>采购管理中心对审批优化的核心诉求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 Mono"/>
              </a:rPr>
              <a:t>TAKEAWAY 流程优化的正确方向不是简单减少审批，而是在需求、预算、标准和授权阶段加强控制，释放后端执行效率。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39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5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391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12679" y="384048"/>
            <a:ext cx="1463039" cy="10972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24159" y="4846320"/>
            <a:ext cx="1097279" cy="1097280"/>
          </a:xfrm>
          <a:prstGeom prst="ellipse">
            <a:avLst/>
          </a:prstGeom>
          <a:noFill/>
          <a:ln w="10160"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98479" y="5120640"/>
            <a:ext cx="548639" cy="548640"/>
          </a:xfrm>
          <a:prstGeom prst="ellipse">
            <a:avLst/>
          </a:prstGeom>
          <a:noFill/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8B4CC"/>
                </a:solidFill>
                <a:latin typeface="Aptos Mono"/>
              </a:rPr>
              <a:t>08 / AIWEB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8B4CC"/>
                </a:solidFill>
                <a:latin typeface="Aptos Mono"/>
              </a:rPr>
              <a:t>AIWeb /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B7CFF"/>
                </a:solidFill>
                <a:latin typeface="Aptos Mono"/>
              </a:rPr>
              <a:t>经营与报表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报表建设应围绕“价格、请款、交付、质量、供应商”五类决策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8B4CC"/>
                </a:solidFill>
                <a:latin typeface="Aptos"/>
              </a:rPr>
              <a:t>报表不是独立交付物，必须由统一主数据和业务闭环自动沉淀，才能形成可信的经营看板。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212848"/>
            <a:ext cx="6172199" cy="7772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800" b="0">
                <a:solidFill>
                  <a:srgbClr val="A8B4CC"/>
                </a:solidFill>
                <a:latin typeface="Aptos"/>
              </a:rPr>
              <a:t>财务期望采购单价、请款分析报表自动化；采购期望系统自动抓取供应商考核数据，并补充成本考核。环思成衣、环思染整仍以手工方式对账，无法清晰区分已对账与未对账状态。</a:t>
            </a:r>
          </a:p>
        </p:txBody>
      </p:sp>
      <p:sp>
        <p:nvSpPr>
          <p:cNvPr id="15" name="Oval 14"/>
          <p:cNvSpPr/>
          <p:nvPr/>
        </p:nvSpPr>
        <p:spPr>
          <a:xfrm>
            <a:off x="877823" y="3182112"/>
            <a:ext cx="128015" cy="12801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2999" y="3072384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价格分析：同物料多价、合同价与订单价偏差、议价节约</a:t>
            </a:r>
          </a:p>
        </p:txBody>
      </p:sp>
      <p:sp>
        <p:nvSpPr>
          <p:cNvPr id="17" name="Oval 16"/>
          <p:cNvSpPr/>
          <p:nvPr/>
        </p:nvSpPr>
        <p:spPr>
          <a:xfrm>
            <a:off x="877823" y="3749039"/>
            <a:ext cx="128015" cy="12801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2999" y="3639312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请款分析：预付款占比、账龄、待验收待开票与付款预测</a:t>
            </a:r>
          </a:p>
        </p:txBody>
      </p:sp>
      <p:sp>
        <p:nvSpPr>
          <p:cNvPr id="19" name="Oval 18"/>
          <p:cNvSpPr/>
          <p:nvPr/>
        </p:nvSpPr>
        <p:spPr>
          <a:xfrm>
            <a:off x="877823" y="4315968"/>
            <a:ext cx="128015" cy="12801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2999" y="4206239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交付质量：交货及时率、来料合格率、订单准确率</a:t>
            </a:r>
          </a:p>
        </p:txBody>
      </p:sp>
      <p:sp>
        <p:nvSpPr>
          <p:cNvPr id="21" name="Oval 20"/>
          <p:cNvSpPr/>
          <p:nvPr/>
        </p:nvSpPr>
        <p:spPr>
          <a:xfrm>
            <a:off x="877823" y="4882896"/>
            <a:ext cx="128015" cy="128016"/>
          </a:xfrm>
          <a:prstGeom prst="ellipse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2999" y="4773168"/>
            <a:ext cx="5989319" cy="39319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供应商画像：准入、履约、质量、成本、集中度与淘汰建议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09559" y="2103119"/>
            <a:ext cx="3246119" cy="3246120"/>
          </a:xfrm>
          <a:prstGeom prst="roundRect">
            <a:avLst/>
          </a:prstGeom>
          <a:solidFill>
            <a:srgbClr val="5B7CFF"/>
          </a:solidFill>
          <a:ln w="10160"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599" y="2743200"/>
            <a:ext cx="2606039" cy="1325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2500" b="1">
                <a:solidFill>
                  <a:srgbClr val="F8FAFC"/>
                </a:solidFill>
                <a:latin typeface="Aptos Mono"/>
              </a:rPr>
              <a:t>经营与报表 20%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9" y="4325112"/>
            <a:ext cx="2514599" cy="54864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300" b="0">
                <a:solidFill>
                  <a:srgbClr val="A8B4CC"/>
                </a:solidFill>
                <a:latin typeface="Aptos"/>
              </a:rPr>
              <a:t>重点内容 可继续编辑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 Mono"/>
              </a:rPr>
              <a:t>TAKEAWAY 报表不是独立交付物，必须由统一主数据和业务闭环自动沉淀，才能形成可信的经营看板。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39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5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391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12679" y="384048"/>
            <a:ext cx="1463039" cy="10972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24159" y="4846320"/>
            <a:ext cx="1097279" cy="1097280"/>
          </a:xfrm>
          <a:prstGeom prst="ellipse">
            <a:avLst/>
          </a:prstGeom>
          <a:noFill/>
          <a:ln w="10160"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98479" y="5120640"/>
            <a:ext cx="548639" cy="548640"/>
          </a:xfrm>
          <a:prstGeom prst="ellipse">
            <a:avLst/>
          </a:prstGeom>
          <a:noFill/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8B4CC"/>
                </a:solidFill>
                <a:latin typeface="Aptos Mono"/>
              </a:rPr>
              <a:t>09 / AIWEB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8B4CC"/>
                </a:solidFill>
                <a:latin typeface="Aptos Mono"/>
              </a:rPr>
              <a:t>AIWeb / 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" y="512064"/>
            <a:ext cx="429767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000" b="1">
                <a:solidFill>
                  <a:srgbClr val="5B7CFF"/>
                </a:solidFill>
                <a:latin typeface="Aptos Mono"/>
              </a:rPr>
              <a:t>优先级排序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" y="822960"/>
            <a:ext cx="9784079" cy="65836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优先解决付款风险与人工核对，再释放集采和成本优化价值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1517904"/>
            <a:ext cx="9875519" cy="4572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A8B4CC"/>
                </a:solidFill>
                <a:latin typeface="Aptos"/>
              </a:rPr>
              <a:t>首批项目应聚焦委外、外协、固定资产和对账请款四类场景，同时启动主数据治理作为共同依赖。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6383" y="2240280"/>
            <a:ext cx="4983479" cy="2880360"/>
          </a:xfrm>
          <a:prstGeom prst="roundRect">
            <a:avLst/>
          </a:prstGeom>
          <a:solidFill>
            <a:srgbClr val="5B7CFF"/>
          </a:solidFill>
          <a:ln w="10160"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79" y="2532888"/>
            <a:ext cx="4297679" cy="40233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F8FAFC"/>
                </a:solidFill>
                <a:latin typeface="Aptos"/>
              </a:rPr>
              <a:t>P0｜立即纳入一期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15567" y="3264408"/>
            <a:ext cx="109727" cy="109728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7" y="3127248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委外订单价格、比价、出入库与请款关联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15567" y="3703320"/>
            <a:ext cx="109727" cy="109728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7" y="3566160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外协项目验收入库控制，避免自动入库风险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15567" y="4142232"/>
            <a:ext cx="109727" cy="109728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9887" y="4005072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固定资产预付款与到货验收进度追踪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15567" y="4581144"/>
            <a:ext cx="109727" cy="109728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7" y="4443983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环思成衣、染整线上对账状态管理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7" y="2240280"/>
            <a:ext cx="4983479" cy="2880360"/>
          </a:xfrm>
          <a:prstGeom prst="roundRect">
            <a:avLst/>
          </a:prstGeom>
          <a:solidFill>
            <a:srgbClr val="2DD4BF"/>
          </a:solidFill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47103" y="2532888"/>
            <a:ext cx="4297679" cy="40233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900" b="1">
                <a:solidFill>
                  <a:srgbClr val="F8FAFC"/>
                </a:solidFill>
                <a:latin typeface="Aptos"/>
              </a:rPr>
              <a:t>P1｜与一期并行奠基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65391" y="3264408"/>
            <a:ext cx="109727" cy="10972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9711" y="3127248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物料编码、命名、规格、品牌标准治理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65391" y="3703320"/>
            <a:ext cx="109727" cy="10972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9711" y="3566160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供应商主数据与准入分级统一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65391" y="4142232"/>
            <a:ext cx="109727" cy="10972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9711" y="4005072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预算、计划、库存策略与采购授权衔接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65391" y="4581144"/>
            <a:ext cx="109727" cy="109728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39711" y="4443983"/>
            <a:ext cx="4023359" cy="34747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F8FAFC"/>
                </a:solidFill>
                <a:latin typeface="Aptos"/>
              </a:rPr>
              <a:t>采购与供应商绩效指标口径统一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7" y="5596128"/>
            <a:ext cx="54863" cy="420624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7" y="5605272"/>
            <a:ext cx="9966959" cy="384048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100" b="1">
                <a:solidFill>
                  <a:srgbClr val="F8FAFC"/>
                </a:solidFill>
                <a:latin typeface="Aptos Mono"/>
              </a:rPr>
              <a:t>TAKEAWAY 首批项目应聚焦委外、外协、固定资产和对账请款四类场景，同时启动主数据治理作为共同依赖。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39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85215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0391" y="320040"/>
            <a:ext cx="155447" cy="10972"/>
          </a:xfrm>
          <a:prstGeom prst="rect">
            <a:avLst/>
          </a:prstGeom>
          <a:solidFill>
            <a:srgbClr val="2DD4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012679" y="384048"/>
            <a:ext cx="1463039" cy="10972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424159" y="4846320"/>
            <a:ext cx="1097279" cy="1097280"/>
          </a:xfrm>
          <a:prstGeom prst="ellipse">
            <a:avLst/>
          </a:prstGeom>
          <a:noFill/>
          <a:ln w="10160"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98479" y="5120640"/>
            <a:ext cx="548639" cy="548640"/>
          </a:xfrm>
          <a:prstGeom prst="ellipse">
            <a:avLst/>
          </a:prstGeom>
          <a:noFill/>
          <a:ln w="1016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38359" y="6336792"/>
            <a:ext cx="169163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r"/>
            <a:r>
              <a:rPr sz="800" b="0">
                <a:solidFill>
                  <a:srgbClr val="A8B4CC"/>
                </a:solidFill>
                <a:latin typeface="Aptos Mono"/>
              </a:rPr>
              <a:t>10 / AIWEB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0"/>
            <a:ext cx="109727" cy="6858000"/>
          </a:xfrm>
          <a:prstGeom prst="rect">
            <a:avLst/>
          </a:prstGeom>
          <a:solidFill>
            <a:srgbClr val="5B7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" y="6355080"/>
            <a:ext cx="2011679" cy="18288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800" b="0">
                <a:solidFill>
                  <a:srgbClr val="A8B4CC"/>
                </a:solidFill>
                <a:latin typeface="Aptos Mono"/>
              </a:rPr>
              <a:t>AIWeb /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" y="914400"/>
            <a:ext cx="2743199" cy="310896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1200" b="1">
                <a:solidFill>
                  <a:srgbClr val="2DD4BF"/>
                </a:solidFill>
                <a:latin typeface="Aptos Mono"/>
              </a:rPr>
              <a:t>会议结论与待办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1508760"/>
            <a:ext cx="9235439" cy="11430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3800" b="1">
                <a:solidFill>
                  <a:srgbClr val="F8FAFC"/>
                </a:solidFill>
                <a:latin typeface="Aptos"/>
              </a:rPr>
              <a:t>以“统一底座 + 分层授权 + 端到端闭环”形成采购新机制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39" y="3017520"/>
            <a:ext cx="8138159" cy="685800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l"/>
            <a:r>
              <a:rPr sz="2100" b="0">
                <a:solidFill>
                  <a:srgbClr val="A8B4CC"/>
                </a:solidFill>
                <a:latin typeface="Aptos"/>
              </a:rPr>
              <a:t>下一步应完成数据取证、业务蓝图确认和一期范围立项。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5" y="4572000"/>
            <a:ext cx="3017519" cy="594360"/>
          </a:xfrm>
          <a:prstGeom prst="roundRect">
            <a:avLst/>
          </a:prstGeom>
          <a:solidFill>
            <a:srgbClr val="5B7CFF"/>
          </a:solidFill>
          <a:ln w="10160">
            <a:solidFill>
              <a:srgbClr val="5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19" y="4718304"/>
            <a:ext cx="2651759" cy="256032"/>
          </a:xfrm>
          <a:prstGeom prst="rect">
            <a:avLst/>
          </a:prstGeom>
          <a:noFill/>
        </p:spPr>
        <p:txBody>
          <a:bodyPr wrap="square" lIns="36575" rIns="36575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 Mono"/>
              </a:rPr>
              <a:t>DOWNLOAD / EDIT LOCALLY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