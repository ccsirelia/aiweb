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需求报告演示</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01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822960"/>
            <a:ext cx="5669279" cy="274320"/>
          </a:xfrm>
          <a:prstGeom prst="rect">
            <a:avLst/>
          </a:prstGeom>
          <a:noFill/>
        </p:spPr>
        <p:txBody>
          <a:bodyPr wrap="square" lIns="36575" rIns="36575" tIns="18288" bIns="18288" anchor="ctr">
            <a:spAutoFit/>
          </a:bodyPr>
          <a:lstStyle/>
          <a:p>
            <a:pPr algn="l"/>
            <a:r>
              <a:rPr sz="1200" b="1">
                <a:solidFill>
                  <a:srgbClr val="F5B94C"/>
                </a:solidFill>
                <a:latin typeface="Aptos Mono"/>
              </a:rPr>
              <a:t>XXXX集团供应链系统建设项目</a:t>
            </a:r>
          </a:p>
        </p:txBody>
      </p:sp>
      <p:sp>
        <p:nvSpPr>
          <p:cNvPr id="24" name="TextBox 23"/>
          <p:cNvSpPr txBox="1"/>
          <p:nvPr/>
        </p:nvSpPr>
        <p:spPr>
          <a:xfrm>
            <a:off x="731519" y="1353312"/>
            <a:ext cx="5897879" cy="1600200"/>
          </a:xfrm>
          <a:prstGeom prst="rect">
            <a:avLst/>
          </a:prstGeom>
          <a:noFill/>
        </p:spPr>
        <p:txBody>
          <a:bodyPr wrap="square" lIns="36575" rIns="36575" tIns="18288" bIns="18288" anchor="ctr">
            <a:spAutoFit/>
          </a:bodyPr>
          <a:lstStyle/>
          <a:p>
            <a:pPr algn="l"/>
            <a:r>
              <a:rPr sz="4000" b="1">
                <a:solidFill>
                  <a:srgbClr val="EAF5FF"/>
                </a:solidFill>
                <a:latin typeface="Aptos"/>
              </a:rPr>
              <a:t>需求报告演示</a:t>
            </a:r>
          </a:p>
        </p:txBody>
      </p:sp>
      <p:sp>
        <p:nvSpPr>
          <p:cNvPr id="25" name="TextBox 24"/>
          <p:cNvSpPr txBox="1"/>
          <p:nvPr/>
        </p:nvSpPr>
        <p:spPr>
          <a:xfrm>
            <a:off x="777239" y="3182112"/>
            <a:ext cx="5577839" cy="731520"/>
          </a:xfrm>
          <a:prstGeom prst="rect">
            <a:avLst/>
          </a:prstGeom>
          <a:noFill/>
        </p:spPr>
        <p:txBody>
          <a:bodyPr wrap="square" lIns="36575" rIns="36575" tIns="18288" bIns="18288" anchor="ctr">
            <a:spAutoFit/>
          </a:bodyPr>
          <a:lstStyle/>
          <a:p>
            <a:pPr algn="l"/>
            <a:r>
              <a:rPr sz="1900" b="0">
                <a:solidFill>
                  <a:srgbClr val="A6C0D6"/>
                </a:solidFill>
                <a:latin typeface="Aptos"/>
              </a:rPr>
              <a:t>从业务现状到供应链数字化方案的需求确认</a:t>
            </a:r>
          </a:p>
        </p:txBody>
      </p:sp>
      <p:sp>
        <p:nvSpPr>
          <p:cNvPr id="26" name="Rectangle 25"/>
          <p:cNvSpPr/>
          <p:nvPr/>
        </p:nvSpPr>
        <p:spPr>
          <a:xfrm>
            <a:off x="777239" y="5175504"/>
            <a:ext cx="1280159" cy="4572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39" y="5321808"/>
            <a:ext cx="4206239" cy="256032"/>
          </a:xfrm>
          <a:prstGeom prst="rect">
            <a:avLst/>
          </a:prstGeom>
          <a:noFill/>
        </p:spPr>
        <p:txBody>
          <a:bodyPr wrap="square" lIns="36575" rIns="36575" tIns="18288" bIns="18288" anchor="ctr">
            <a:spAutoFit/>
          </a:bodyPr>
          <a:lstStyle/>
          <a:p>
            <a:pPr algn="l"/>
            <a:r>
              <a:rPr sz="1100" b="1">
                <a:solidFill>
                  <a:srgbClr val="5CD6FF"/>
                </a:solidFill>
                <a:latin typeface="Aptos Mono"/>
              </a:rPr>
              <a:t>EDITABLE / DOWNLOAD 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02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02</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01｜管理层结论</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供应链问题的核心，不是单点效率，而是端到端协同失效</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当前业务已具备多系统支撑，但尚未形成统一、透明、可追溯的供应链运营体系。</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现有ERP、SRM、CRM、OA、WMS、二维码及财务系统分别承载局部业务，关键单据仍依赖邮件、纸质文件和人工对账流转，导致业务状态难以实时感知，管理动作难以前置。</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流程跨系统传递，重复录入与人工匹配普遍存在</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订单、到货、验收、入库、发票和付款缺少统一链路</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多组织业务规则不一致，集团管控与分子公司执行难以平衡</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管理层缺少面向供应商、库存和履约的实时经营视图</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01｜管理层结论 25%</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当前业务已具备多系统支撑，但尚未形成统一、透明、可追溯的供应链运营体系。</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03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03</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02｜项目背景</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企业要把供应链从“业务支撑”升级为“经营基础设施”</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项目建设需要同时回应效率提升、成本优化、合规追溯和集团协同四类目标。</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XXXX集团启动供应链系统建设，期望以供应链系统为核心，推动采购、库存、销售及内部交易全链条线上化、规范化和透明化，并以统一组织、人员、角色、权限、审批和基础数据支撑集团经营。</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提升采购执行、库存周转和销售交付效率</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统一业务规则、基础数据与审批机制</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打通业财税与产供销数据，减少信息孤岛</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建立全过程留痕和风险预警机制</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02｜项目背景 25%</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项目建设需要同时回应效率提升、成本优化、合规追溯和集团协同四类目标。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04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04</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03｜调研过程</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需求结论来自多源验证，而非单一访谈判断</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调研覆盖关键部门、主要系统和核心业务流程，为需求清单与方案设计提供依据。</a:t>
            </a:r>
          </a:p>
        </p:txBody>
      </p:sp>
      <p:sp>
        <p:nvSpPr>
          <p:cNvPr id="27" name="Rectangle 26"/>
          <p:cNvSpPr/>
          <p:nvPr/>
        </p:nvSpPr>
        <p:spPr>
          <a:xfrm>
            <a:off x="1005839" y="3172968"/>
            <a:ext cx="9829799" cy="54864"/>
          </a:xfrm>
          <a:prstGeom prst="rect">
            <a:avLst/>
          </a:prstGeom>
          <a:solidFill>
            <a:srgbClr val="A6C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1247" y="2916936"/>
            <a:ext cx="548639" cy="548640"/>
          </a:xfrm>
          <a:prstGeom prst="ellipse">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30" name="TextBox 29"/>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访谈</a:t>
            </a:r>
          </a:p>
        </p:txBody>
      </p:sp>
      <p:sp>
        <p:nvSpPr>
          <p:cNvPr id="31" name="TextBox 30"/>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与关键部门业务专家和管理人员深入访谈，识别流程、职责和操作痛点</a:t>
            </a:r>
          </a:p>
        </p:txBody>
      </p:sp>
      <p:sp>
        <p:nvSpPr>
          <p:cNvPr id="32" name="Oval 31"/>
          <p:cNvSpPr/>
          <p:nvPr/>
        </p:nvSpPr>
        <p:spPr>
          <a:xfrm>
            <a:off x="417880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7880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02</a:t>
            </a:r>
          </a:p>
        </p:txBody>
      </p:sp>
      <p:sp>
        <p:nvSpPr>
          <p:cNvPr id="34" name="TextBox 33"/>
          <p:cNvSpPr txBox="1"/>
          <p:nvPr/>
        </p:nvSpPr>
        <p:spPr>
          <a:xfrm>
            <a:off x="385876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问卷</a:t>
            </a:r>
          </a:p>
        </p:txBody>
      </p:sp>
      <p:sp>
        <p:nvSpPr>
          <p:cNvPr id="35" name="TextBox 34"/>
          <p:cNvSpPr txBox="1"/>
          <p:nvPr/>
        </p:nvSpPr>
        <p:spPr>
          <a:xfrm>
            <a:off x="349300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面向集团及下属单位收集业务场景、系统应用和需求信息</a:t>
            </a:r>
          </a:p>
        </p:txBody>
      </p:sp>
      <p:sp>
        <p:nvSpPr>
          <p:cNvPr id="36" name="Oval 35"/>
          <p:cNvSpPr/>
          <p:nvPr/>
        </p:nvSpPr>
        <p:spPr>
          <a:xfrm>
            <a:off x="751636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1636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03</a:t>
            </a:r>
          </a:p>
        </p:txBody>
      </p:sp>
      <p:sp>
        <p:nvSpPr>
          <p:cNvPr id="38" name="TextBox 37"/>
          <p:cNvSpPr txBox="1"/>
          <p:nvPr/>
        </p:nvSpPr>
        <p:spPr>
          <a:xfrm>
            <a:off x="719632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文档分析</a:t>
            </a:r>
          </a:p>
        </p:txBody>
      </p:sp>
      <p:sp>
        <p:nvSpPr>
          <p:cNvPr id="39" name="TextBox 38"/>
          <p:cNvSpPr txBox="1"/>
          <p:nvPr/>
        </p:nvSpPr>
        <p:spPr>
          <a:xfrm>
            <a:off x="683056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梳理现有流程、单据、数据报表及系统间数据流向</a:t>
            </a:r>
          </a:p>
        </p:txBody>
      </p:sp>
      <p:sp>
        <p:nvSpPr>
          <p:cNvPr id="40" name="Oval 39"/>
          <p:cNvSpPr/>
          <p:nvPr/>
        </p:nvSpPr>
        <p:spPr>
          <a:xfrm>
            <a:off x="1085392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04</a:t>
            </a:r>
          </a:p>
        </p:txBody>
      </p:sp>
      <p:sp>
        <p:nvSpPr>
          <p:cNvPr id="42" name="TextBox 41"/>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需求确认</a:t>
            </a:r>
          </a:p>
        </p:txBody>
      </p:sp>
      <p:sp>
        <p:nvSpPr>
          <p:cNvPr id="43" name="TextBox 42"/>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形成需求清单、流程图和调研报告，支撑方案阶段评审</a:t>
            </a:r>
          </a:p>
        </p:txBody>
      </p:sp>
      <p:sp>
        <p:nvSpPr>
          <p:cNvPr id="44" name="Rectangle 43"/>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调研覆盖关键部门、主要系统和核心业务流程，为需求清单与方案设计提供依据。</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05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05</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04｜现状判断</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系统数量增加了，但业务仍在多个“局部最优”之间往返</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现状的主要矛盾是系统分散与流程整合不足，而不是系统功能完全缺失。</a:t>
            </a:r>
          </a:p>
        </p:txBody>
      </p:sp>
      <p:sp>
        <p:nvSpPr>
          <p:cNvPr id="27" name="Rounded Rectangle 26"/>
          <p:cNvSpPr/>
          <p:nvPr/>
        </p:nvSpPr>
        <p:spPr>
          <a:xfrm>
            <a:off x="786383" y="2240280"/>
            <a:ext cx="4983479" cy="288036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当前模式</a:t>
            </a:r>
          </a:p>
        </p:txBody>
      </p:sp>
      <p:sp>
        <p:nvSpPr>
          <p:cNvPr id="29" name="Rectangle 28"/>
          <p:cNvSpPr/>
          <p:nvPr/>
        </p:nvSpPr>
        <p:spPr>
          <a:xfrm>
            <a:off x="1115567" y="3264408"/>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订单与审批跨系统传递</a:t>
            </a:r>
          </a:p>
        </p:txBody>
      </p:sp>
      <p:sp>
        <p:nvSpPr>
          <p:cNvPr id="31" name="Rectangle 30"/>
          <p:cNvSpPr/>
          <p:nvPr/>
        </p:nvSpPr>
        <p:spPr>
          <a:xfrm>
            <a:off x="1115567" y="3703320"/>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供应商交付依赖人工跟进</a:t>
            </a:r>
          </a:p>
        </p:txBody>
      </p:sp>
      <p:sp>
        <p:nvSpPr>
          <p:cNvPr id="33" name="Rectangle 32"/>
          <p:cNvSpPr/>
          <p:nvPr/>
        </p:nvSpPr>
        <p:spPr>
          <a:xfrm>
            <a:off x="1115567" y="4142232"/>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89887"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纸质单据和PDF仍大量存在</a:t>
            </a:r>
          </a:p>
        </p:txBody>
      </p:sp>
      <p:sp>
        <p:nvSpPr>
          <p:cNvPr id="35" name="Rectangle 34"/>
          <p:cNvSpPr/>
          <p:nvPr/>
        </p:nvSpPr>
        <p:spPr>
          <a:xfrm>
            <a:off x="1115567" y="4581144"/>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89887"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对账、暂估和退货需要人工匹配</a:t>
            </a:r>
          </a:p>
        </p:txBody>
      </p:sp>
      <p:sp>
        <p:nvSpPr>
          <p:cNvPr id="37" name="Rounded Rectangle 36"/>
          <p:cNvSpPr/>
          <p:nvPr/>
        </p:nvSpPr>
        <p:spPr>
          <a:xfrm>
            <a:off x="6236207" y="2240280"/>
            <a:ext cx="4983479" cy="2880360"/>
          </a:xfrm>
          <a:prstGeom prst="roundRect">
            <a:avLst/>
          </a:prstGeom>
          <a:solidFill>
            <a:srgbClr val="F5B94C"/>
          </a:solid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目标模式</a:t>
            </a:r>
          </a:p>
        </p:txBody>
      </p:sp>
      <p:sp>
        <p:nvSpPr>
          <p:cNvPr id="39" name="Rectangle 38"/>
          <p:cNvSpPr/>
          <p:nvPr/>
        </p:nvSpPr>
        <p:spPr>
          <a:xfrm>
            <a:off x="6565391" y="3264408"/>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统一平台承载业务全过程</a:t>
            </a:r>
          </a:p>
        </p:txBody>
      </p:sp>
      <p:sp>
        <p:nvSpPr>
          <p:cNvPr id="41" name="Rectangle 40"/>
          <p:cNvSpPr/>
          <p:nvPr/>
        </p:nvSpPr>
        <p:spPr>
          <a:xfrm>
            <a:off x="6565391" y="3703320"/>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订单状态和履约过程实时可视</a:t>
            </a:r>
          </a:p>
        </p:txBody>
      </p:sp>
      <p:sp>
        <p:nvSpPr>
          <p:cNvPr id="43" name="Rectangle 42"/>
          <p:cNvSpPr/>
          <p:nvPr/>
        </p:nvSpPr>
        <p:spPr>
          <a:xfrm>
            <a:off x="6565391" y="4142232"/>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电子单据自动触发后续任务</a:t>
            </a:r>
          </a:p>
        </p:txBody>
      </p:sp>
      <p:sp>
        <p:nvSpPr>
          <p:cNvPr id="45" name="Rectangle 44"/>
          <p:cNvSpPr/>
          <p:nvPr/>
        </p:nvSpPr>
        <p:spPr>
          <a:xfrm>
            <a:off x="6565391" y="4581144"/>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39711"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业务数据自动驱动财务与管理</a:t>
            </a:r>
          </a:p>
        </p:txBody>
      </p:sp>
      <p:sp>
        <p:nvSpPr>
          <p:cNvPr id="47" name="Rectangle 46"/>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现状的主要矛盾是系统分散与流程整合不足，而不是系统功能完全缺失。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06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06</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05｜现状压力</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重复录入和人工对账，正在吞噬供应链管理价值</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优先消除高频、跨部门、强匹配场景，能够最快释放数字化收益。</a:t>
            </a:r>
          </a:p>
        </p:txBody>
      </p:sp>
      <p:sp>
        <p:nvSpPr>
          <p:cNvPr id="27" name="Rounded Rectangle 26"/>
          <p:cNvSpPr/>
          <p:nvPr/>
        </p:nvSpPr>
        <p:spPr>
          <a:xfrm>
            <a:off x="777239" y="2212848"/>
            <a:ext cx="2971799" cy="242316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24小时内</a:t>
            </a:r>
          </a:p>
        </p:txBody>
      </p:sp>
      <p:sp>
        <p:nvSpPr>
          <p:cNvPr id="29" name="TextBox 28"/>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采购退货目标处理时效</a:t>
            </a:r>
          </a:p>
        </p:txBody>
      </p:sp>
      <p:sp>
        <p:nvSpPr>
          <p:cNvPr id="30" name="Oval 29"/>
          <p:cNvSpPr/>
          <p:nvPr/>
        </p:nvSpPr>
        <p:spPr>
          <a:xfrm>
            <a:off x="4315967" y="2423160"/>
            <a:ext cx="155447" cy="155448"/>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EAF5FF"/>
                </a:solidFill>
                <a:latin typeface="Aptos"/>
              </a:rPr>
              <a:t>采购订单、物流、签收和发票信息缺少实时联动</a:t>
            </a:r>
          </a:p>
        </p:txBody>
      </p:sp>
      <p:sp>
        <p:nvSpPr>
          <p:cNvPr id="32" name="Oval 31"/>
          <p:cNvSpPr/>
          <p:nvPr/>
        </p:nvSpPr>
        <p:spPr>
          <a:xfrm>
            <a:off x="4315967" y="3264408"/>
            <a:ext cx="155447" cy="155448"/>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EAF5FF"/>
                </a:solidFill>
                <a:latin typeface="Aptos"/>
              </a:rPr>
              <a:t>VMI消耗数据按月人工汇总，容易错漏</a:t>
            </a:r>
          </a:p>
        </p:txBody>
      </p:sp>
      <p:sp>
        <p:nvSpPr>
          <p:cNvPr id="34" name="Oval 33"/>
          <p:cNvSpPr/>
          <p:nvPr/>
        </p:nvSpPr>
        <p:spPr>
          <a:xfrm>
            <a:off x="4315967" y="4105655"/>
            <a:ext cx="155447" cy="155448"/>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EAF5FF"/>
                </a:solidFill>
                <a:latin typeface="Aptos"/>
              </a:rPr>
              <a:t>已报账退货需要人工匹配原单据并手工冲销</a:t>
            </a:r>
          </a:p>
        </p:txBody>
      </p:sp>
      <p:sp>
        <p:nvSpPr>
          <p:cNvPr id="36" name="Rectangle 35"/>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优先消除高频、跨部门、强匹配场景，能够最快释放数字化收益。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07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07</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06｜业务范围</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本次需求不是单一采购模块，而是一套供应链业务底座</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系统边界应围绕供应链全生命周期定义，避免再次形成新的业务孤岛。</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需求范围覆盖采购执行、库存作业、销售执行、集团内部交易、供应商协同、组织权限、审批、主数据、集成、财务协同和经营分析。</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采购：一般物资、VMI、工程、设备、服务、费用、固定资产、大宗物资等</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库存：收发存、调拨、借用归还、盘点、批次效期和寄售库存</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销售：客户、订单、出货、签收、退货及信用控制</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集团协同：集采分收集结、集采分收分结、统签分执和集中收货分散调拨</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06｜业务范围 25%</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系统边界应围绕供应链全生命周期定义，避免再次形成新的业务孤岛。</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08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08</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07｜采购场景</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不同采购场景差异明显，必须通过统一底座承载差异化规则</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建议采用“统一主链路+场景化分支”的产品设计，兼顾标准化与业务灵活性。</a:t>
            </a:r>
          </a:p>
        </p:txBody>
      </p:sp>
      <p:sp>
        <p:nvSpPr>
          <p:cNvPr id="27" name="Rounded Rectangle 26"/>
          <p:cNvSpPr/>
          <p:nvPr/>
        </p:nvSpPr>
        <p:spPr>
          <a:xfrm>
            <a:off x="786383" y="2240280"/>
            <a:ext cx="4983479" cy="288036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共性主链路</a:t>
            </a:r>
          </a:p>
        </p:txBody>
      </p:sp>
      <p:sp>
        <p:nvSpPr>
          <p:cNvPr id="29" name="Rectangle 28"/>
          <p:cNvSpPr/>
          <p:nvPr/>
        </p:nvSpPr>
        <p:spPr>
          <a:xfrm>
            <a:off x="1115567" y="3264408"/>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需求或订单发起</a:t>
            </a:r>
          </a:p>
        </p:txBody>
      </p:sp>
      <p:sp>
        <p:nvSpPr>
          <p:cNvPr id="31" name="Rectangle 30"/>
          <p:cNvSpPr/>
          <p:nvPr/>
        </p:nvSpPr>
        <p:spPr>
          <a:xfrm>
            <a:off x="1115567" y="3703320"/>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审批与供应商协同</a:t>
            </a:r>
          </a:p>
        </p:txBody>
      </p:sp>
      <p:sp>
        <p:nvSpPr>
          <p:cNvPr id="33" name="Rectangle 32"/>
          <p:cNvSpPr/>
          <p:nvPr/>
        </p:nvSpPr>
        <p:spPr>
          <a:xfrm>
            <a:off x="1115567" y="4142232"/>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89887"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交付或服务确认</a:t>
            </a:r>
          </a:p>
        </p:txBody>
      </p:sp>
      <p:sp>
        <p:nvSpPr>
          <p:cNvPr id="35" name="Rectangle 34"/>
          <p:cNvSpPr/>
          <p:nvPr/>
        </p:nvSpPr>
        <p:spPr>
          <a:xfrm>
            <a:off x="1115567" y="4581144"/>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89887"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入库、消耗或资产确认</a:t>
            </a:r>
          </a:p>
        </p:txBody>
      </p:sp>
      <p:sp>
        <p:nvSpPr>
          <p:cNvPr id="37" name="Rounded Rectangle 36"/>
          <p:cNvSpPr/>
          <p:nvPr/>
        </p:nvSpPr>
        <p:spPr>
          <a:xfrm>
            <a:off x="6236207" y="2240280"/>
            <a:ext cx="4983479" cy="2880360"/>
          </a:xfrm>
          <a:prstGeom prst="roundRect">
            <a:avLst/>
          </a:prstGeom>
          <a:solidFill>
            <a:srgbClr val="F5B94C"/>
          </a:solid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关键差异规则</a:t>
            </a:r>
          </a:p>
        </p:txBody>
      </p:sp>
      <p:sp>
        <p:nvSpPr>
          <p:cNvPr id="39" name="Rectangle 38"/>
          <p:cNvSpPr/>
          <p:nvPr/>
        </p:nvSpPr>
        <p:spPr>
          <a:xfrm>
            <a:off x="6565391" y="3264408"/>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直发场景采用虚拟入库或签收确认</a:t>
            </a:r>
          </a:p>
        </p:txBody>
      </p:sp>
      <p:sp>
        <p:nvSpPr>
          <p:cNvPr id="41" name="Rectangle 40"/>
          <p:cNvSpPr/>
          <p:nvPr/>
        </p:nvSpPr>
        <p:spPr>
          <a:xfrm>
            <a:off x="6565391" y="3703320"/>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VMI按实际消耗结算，物权延后转移</a:t>
            </a:r>
          </a:p>
        </p:txBody>
      </p:sp>
      <p:sp>
        <p:nvSpPr>
          <p:cNvPr id="43" name="Rectangle 42"/>
          <p:cNvSpPr/>
          <p:nvPr/>
        </p:nvSpPr>
        <p:spPr>
          <a:xfrm>
            <a:off x="6565391" y="4142232"/>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服务采购以成果确认替代实物入库</a:t>
            </a:r>
          </a:p>
        </p:txBody>
      </p:sp>
      <p:sp>
        <p:nvSpPr>
          <p:cNvPr id="45" name="Rectangle 44"/>
          <p:cNvSpPr/>
          <p:nvPr/>
        </p:nvSpPr>
        <p:spPr>
          <a:xfrm>
            <a:off x="6565391" y="4581144"/>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39711"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设备和固定资产需要卡片、折旧及生命周期管理</a:t>
            </a:r>
          </a:p>
        </p:txBody>
      </p:sp>
      <p:sp>
        <p:nvSpPr>
          <p:cNvPr id="47" name="Rectangle 46"/>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建议采用“统一主链路+场景化分支”的产品设计，兼顾标准化与业务灵活性。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09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09</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08｜核心流程一</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采购流程要从“订单驱动”走向“需求到付款闭环”</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系统应让每一笔采购都能追溯需求来源、执行状态、验收结果和结算依据。</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一般物资采购流程建议以请购单为源头，经过寻源报价、采购订单、供应商交付、到货确认、质量检验、入库、对账、开票和付款，形成可追溯的业务单据链。</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请购单自动带出组织、物料、数量、交期和预算信息</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订单审批通过后自动同步供应商协同平台</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供应商在线提交发货、交期和物流信息</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到货、质检、入库与发票自动关联原订单</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08｜核心流程一 20%</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系统应让每一笔采购都能追溯需求来源、执行状态、验收结果和结算依据。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10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10</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09｜采购流程二</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直发与无到货场景，关键是确认“货到了哪里、谁负责验收”</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直发场景应以电子配送、签收和验收替代传统入库动作，确保业务和财务均有依据。</a:t>
            </a:r>
          </a:p>
        </p:txBody>
      </p:sp>
      <p:sp>
        <p:nvSpPr>
          <p:cNvPr id="27" name="Rectangle 26"/>
          <p:cNvSpPr/>
          <p:nvPr/>
        </p:nvSpPr>
        <p:spPr>
          <a:xfrm>
            <a:off x="1005839" y="3172968"/>
            <a:ext cx="9829799" cy="54864"/>
          </a:xfrm>
          <a:prstGeom prst="rect">
            <a:avLst/>
          </a:prstGeom>
          <a:solidFill>
            <a:srgbClr val="A6C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1247" y="2916936"/>
            <a:ext cx="548639" cy="548640"/>
          </a:xfrm>
          <a:prstGeom prst="ellipse">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30" name="TextBox 29"/>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订单下达</a:t>
            </a:r>
          </a:p>
        </p:txBody>
      </p:sp>
      <p:sp>
        <p:nvSpPr>
          <p:cNvPr id="31" name="TextBox 30"/>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采购订单明确收料地点、交付责任、验收标准和付款条件</a:t>
            </a:r>
          </a:p>
        </p:txBody>
      </p:sp>
      <p:sp>
        <p:nvSpPr>
          <p:cNvPr id="32" name="Oval 31"/>
          <p:cNvSpPr/>
          <p:nvPr/>
        </p:nvSpPr>
        <p:spPr>
          <a:xfrm>
            <a:off x="334441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4441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02</a:t>
            </a:r>
          </a:p>
        </p:txBody>
      </p:sp>
      <p:sp>
        <p:nvSpPr>
          <p:cNvPr id="34" name="TextBox 33"/>
          <p:cNvSpPr txBox="1"/>
          <p:nvPr/>
        </p:nvSpPr>
        <p:spPr>
          <a:xfrm>
            <a:off x="302437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供应商发货</a:t>
            </a:r>
          </a:p>
        </p:txBody>
      </p:sp>
      <p:sp>
        <p:nvSpPr>
          <p:cNvPr id="35" name="TextBox 34"/>
          <p:cNvSpPr txBox="1"/>
          <p:nvPr/>
        </p:nvSpPr>
        <p:spPr>
          <a:xfrm>
            <a:off x="265861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供应商在线反馈交期、物流单号和配送明细</a:t>
            </a:r>
          </a:p>
        </p:txBody>
      </p:sp>
      <p:sp>
        <p:nvSpPr>
          <p:cNvPr id="36" name="Oval 35"/>
          <p:cNvSpPr/>
          <p:nvPr/>
        </p:nvSpPr>
        <p:spPr>
          <a:xfrm>
            <a:off x="584758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03</a:t>
            </a:r>
          </a:p>
        </p:txBody>
      </p:sp>
      <p:sp>
        <p:nvSpPr>
          <p:cNvPr id="38" name="TextBox 37"/>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现场签收</a:t>
            </a:r>
          </a:p>
        </p:txBody>
      </p:sp>
      <p:sp>
        <p:nvSpPr>
          <p:cNvPr id="39" name="TextBox 38"/>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收料单位通过移动端确认数量、包装和到货状态</a:t>
            </a:r>
          </a:p>
        </p:txBody>
      </p:sp>
      <p:sp>
        <p:nvSpPr>
          <p:cNvPr id="40" name="Oval 39"/>
          <p:cNvSpPr/>
          <p:nvPr/>
        </p:nvSpPr>
        <p:spPr>
          <a:xfrm>
            <a:off x="835075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5075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04</a:t>
            </a:r>
          </a:p>
        </p:txBody>
      </p:sp>
      <p:sp>
        <p:nvSpPr>
          <p:cNvPr id="42" name="TextBox 41"/>
          <p:cNvSpPr txBox="1"/>
          <p:nvPr/>
        </p:nvSpPr>
        <p:spPr>
          <a:xfrm>
            <a:off x="803071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质量确认</a:t>
            </a:r>
          </a:p>
        </p:txBody>
      </p:sp>
      <p:sp>
        <p:nvSpPr>
          <p:cNvPr id="43" name="TextBox 42"/>
          <p:cNvSpPr txBox="1"/>
          <p:nvPr/>
        </p:nvSpPr>
        <p:spPr>
          <a:xfrm>
            <a:off x="766495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按规则上传照片、检测报告或现场验收结果</a:t>
            </a:r>
          </a:p>
        </p:txBody>
      </p:sp>
      <p:sp>
        <p:nvSpPr>
          <p:cNvPr id="44" name="Oval 43"/>
          <p:cNvSpPr/>
          <p:nvPr/>
        </p:nvSpPr>
        <p:spPr>
          <a:xfrm>
            <a:off x="1085392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05</a:t>
            </a:r>
          </a:p>
        </p:txBody>
      </p:sp>
      <p:sp>
        <p:nvSpPr>
          <p:cNvPr id="46" name="TextBox 45"/>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结算入账</a:t>
            </a:r>
          </a:p>
        </p:txBody>
      </p:sp>
      <p:sp>
        <p:nvSpPr>
          <p:cNvPr id="47" name="TextBox 46"/>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系统依据签收、验收和发票生成后续应付数据</a:t>
            </a:r>
          </a:p>
        </p:txBody>
      </p:sp>
      <p:sp>
        <p:nvSpPr>
          <p:cNvPr id="48" name="Rectangle 47"/>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直发场景应以电子配送、签收和验收替代传统入库动作，确保业务和财务均有依据。</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11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11</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10｜VMI场景</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VMI的管理重点不是库存入库，而是物权与消耗结算的准确同步</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VMI建设应优先解决每月手工汇总消耗导致的错漏和对账低效问题。</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系统应支持VMI订单、供应商库存补货、寄售入库、生产领用或销售出库、消耗结算和采购报账的完整链路，并明确有到货与无到货两类业务规则。</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实时维护供应商寄售库存、批次和存放位置</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按出库类型自动识别企业实际消耗</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月度自动生成消耗汇总和供应商对账单</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结算结果联动发票、应付和付款流程</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10｜VMI场景 20%</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VMI建设应优先解决每月手工汇总消耗导致的错漏和对账低效问题。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12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12</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11｜特殊采购</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设备、资产、服务和借用业务，需要把“业务结果”纳入需求定义</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特殊业务应围绕技术参数、验收成果、资产责任和借用期限建立后续管理机制。</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设备及固定资产采购需要关联技术参数、验收标准、资产卡片、责任人和折旧政策；服务采购需要管理交付物、里程碑、服务评价和分段付款；借用转采购需要贯通借用期限、虚拟库存和转采购规则。</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建立设备和资产参数模板，采购申请前置校验</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验收通过后自动触发EAM卡片及财务处理</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服务订单绑定交付物清单、里程碑和验收标准</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借用到期前自动提醒，逾期按规则触发转采购审批</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11｜特殊采购 20%</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特殊业务应围绕技术参数、验收成果、资产责任和借用期限建立后续管理机制。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13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13</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12｜集团协同</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集团要集中规则与资源，分子公司要保留响应业务的自由度</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建议以多组织、权限分级和规则参数化支撑不同集团采购模式。</a:t>
            </a:r>
          </a:p>
        </p:txBody>
      </p:sp>
      <p:sp>
        <p:nvSpPr>
          <p:cNvPr id="27" name="Rounded Rectangle 26"/>
          <p:cNvSpPr/>
          <p:nvPr/>
        </p:nvSpPr>
        <p:spPr>
          <a:xfrm>
            <a:off x="786383" y="2240280"/>
            <a:ext cx="4983479" cy="288036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集团集中</a:t>
            </a:r>
          </a:p>
        </p:txBody>
      </p:sp>
      <p:sp>
        <p:nvSpPr>
          <p:cNvPr id="29" name="Rectangle 28"/>
          <p:cNvSpPr/>
          <p:nvPr/>
        </p:nvSpPr>
        <p:spPr>
          <a:xfrm>
            <a:off x="1115567" y="3264408"/>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统一寻源、协议、价格和供应商准入</a:t>
            </a:r>
          </a:p>
        </p:txBody>
      </p:sp>
      <p:sp>
        <p:nvSpPr>
          <p:cNvPr id="31" name="Rectangle 30"/>
          <p:cNvSpPr/>
          <p:nvPr/>
        </p:nvSpPr>
        <p:spPr>
          <a:xfrm>
            <a:off x="1115567" y="3703320"/>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集中收货、集中结算或统一监控</a:t>
            </a:r>
          </a:p>
        </p:txBody>
      </p:sp>
      <p:sp>
        <p:nvSpPr>
          <p:cNvPr id="33" name="Rectangle 32"/>
          <p:cNvSpPr/>
          <p:nvPr/>
        </p:nvSpPr>
        <p:spPr>
          <a:xfrm>
            <a:off x="1115567" y="4142232"/>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89887"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形成规模采购和库存共享优势</a:t>
            </a:r>
          </a:p>
        </p:txBody>
      </p:sp>
      <p:sp>
        <p:nvSpPr>
          <p:cNvPr id="35" name="Rectangle 34"/>
          <p:cNvSpPr/>
          <p:nvPr/>
        </p:nvSpPr>
        <p:spPr>
          <a:xfrm>
            <a:off x="1115567" y="4581144"/>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89887"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通过BI查看集团级执行与偏差</a:t>
            </a:r>
          </a:p>
        </p:txBody>
      </p:sp>
      <p:sp>
        <p:nvSpPr>
          <p:cNvPr id="37" name="Rounded Rectangle 36"/>
          <p:cNvSpPr/>
          <p:nvPr/>
        </p:nvSpPr>
        <p:spPr>
          <a:xfrm>
            <a:off x="6236207" y="2240280"/>
            <a:ext cx="4983479" cy="2880360"/>
          </a:xfrm>
          <a:prstGeom prst="roundRect">
            <a:avLst/>
          </a:prstGeom>
          <a:solidFill>
            <a:srgbClr val="F5B94C"/>
          </a:solid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组织分散</a:t>
            </a:r>
          </a:p>
        </p:txBody>
      </p:sp>
      <p:sp>
        <p:nvSpPr>
          <p:cNvPr id="39" name="Rectangle 38"/>
          <p:cNvSpPr/>
          <p:nvPr/>
        </p:nvSpPr>
        <p:spPr>
          <a:xfrm>
            <a:off x="6565391" y="3264408"/>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分子公司自主提报和执行需求</a:t>
            </a:r>
          </a:p>
        </p:txBody>
      </p:sp>
      <p:sp>
        <p:nvSpPr>
          <p:cNvPr id="41" name="Rectangle 40"/>
          <p:cNvSpPr/>
          <p:nvPr/>
        </p:nvSpPr>
        <p:spPr>
          <a:xfrm>
            <a:off x="6565391" y="3703320"/>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本地收货、验收及库存责任清晰</a:t>
            </a:r>
          </a:p>
        </p:txBody>
      </p:sp>
      <p:sp>
        <p:nvSpPr>
          <p:cNvPr id="43" name="Rectangle 42"/>
          <p:cNvSpPr/>
          <p:nvPr/>
        </p:nvSpPr>
        <p:spPr>
          <a:xfrm>
            <a:off x="6565391" y="4142232"/>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按实际业务量完成内部交易或费用分摊</a:t>
            </a:r>
          </a:p>
        </p:txBody>
      </p:sp>
      <p:sp>
        <p:nvSpPr>
          <p:cNvPr id="45" name="Rectangle 44"/>
          <p:cNvSpPr/>
          <p:nvPr/>
        </p:nvSpPr>
        <p:spPr>
          <a:xfrm>
            <a:off x="6565391" y="4581144"/>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39711"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紧急场景保留快速采购和调拨能力</a:t>
            </a:r>
          </a:p>
        </p:txBody>
      </p:sp>
      <p:sp>
        <p:nvSpPr>
          <p:cNvPr id="47" name="Rectangle 46"/>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建议以多组织、权限分级和规则参数化支撑不同集团采购模式。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14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14</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13｜管理目标</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目标不是“上线一个系统”，而是建立可量化的经营改善</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建议围绕效率、成本、质量、协同和合规建立管理层指标体系。</a:t>
            </a:r>
          </a:p>
        </p:txBody>
      </p:sp>
      <p:sp>
        <p:nvSpPr>
          <p:cNvPr id="27" name="Rounded Rectangle 26"/>
          <p:cNvSpPr/>
          <p:nvPr/>
        </p:nvSpPr>
        <p:spPr>
          <a:xfrm>
            <a:off x="777239" y="2212848"/>
            <a:ext cx="2971799" cy="242316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90%+</a:t>
            </a:r>
          </a:p>
        </p:txBody>
      </p:sp>
      <p:sp>
        <p:nvSpPr>
          <p:cNvPr id="29" name="TextBox 28"/>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对账自动化率建议目标</a:t>
            </a:r>
          </a:p>
        </p:txBody>
      </p:sp>
      <p:sp>
        <p:nvSpPr>
          <p:cNvPr id="30" name="Oval 29"/>
          <p:cNvSpPr/>
          <p:nvPr/>
        </p:nvSpPr>
        <p:spPr>
          <a:xfrm>
            <a:off x="4315967" y="2423160"/>
            <a:ext cx="155447" cy="155448"/>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EAF5FF"/>
                </a:solidFill>
                <a:latin typeface="Aptos"/>
              </a:rPr>
              <a:t>采购全流程线上执行率：建议纳入核心验收指标</a:t>
            </a:r>
          </a:p>
        </p:txBody>
      </p:sp>
      <p:sp>
        <p:nvSpPr>
          <p:cNvPr id="32" name="Oval 31"/>
          <p:cNvSpPr/>
          <p:nvPr/>
        </p:nvSpPr>
        <p:spPr>
          <a:xfrm>
            <a:off x="4315967" y="3264408"/>
            <a:ext cx="155447" cy="155448"/>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EAF5FF"/>
                </a:solidFill>
                <a:latin typeface="Aptos"/>
              </a:rPr>
              <a:t>对账自动化率：目标可参考90%以上</a:t>
            </a:r>
          </a:p>
        </p:txBody>
      </p:sp>
      <p:sp>
        <p:nvSpPr>
          <p:cNvPr id="34" name="Oval 33"/>
          <p:cNvSpPr/>
          <p:nvPr/>
        </p:nvSpPr>
        <p:spPr>
          <a:xfrm>
            <a:off x="4315967" y="4105655"/>
            <a:ext cx="155447" cy="155448"/>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EAF5FF"/>
                </a:solidFill>
                <a:latin typeface="Aptos"/>
              </a:rPr>
              <a:t>直发与退货处理：分别设定小时级响应和闭环目标</a:t>
            </a:r>
          </a:p>
        </p:txBody>
      </p:sp>
      <p:sp>
        <p:nvSpPr>
          <p:cNvPr id="36" name="Rectangle 35"/>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建议围绕效率、成本、质量、协同和合规建立管理层指标体系。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15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15</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14｜数据与集成</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真正的供应链透明，建立在一套可追溯的数据链之上</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系统集成的价值在于让一次业务动作能够自动触发多个后续管理动作。</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建议以BIP供应链平台作为统一业务入口和协同枢纽，通过标准API与ERP、SRM、WMS、CRM、出货平台、二维码系统、EAM、财务及BI平台连接。</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统一组织、人员、供应商、客户、物料、仓库和价格基础数据</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建立订单、到货、验收、入库、消耗、发票和付款关联链</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通过API实现状态、数量、金额和主数据同步</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对接口失败、数据差异和重复单据建立监控机制</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14｜数据与集成 20%</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系统集成的价值在于让一次业务动作能够自动触发多个后续管理动作。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16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16</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15｜方案转折</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当流程、数据和责任同时在线，管理才能从事后追问转向事前控制</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建议通过规则前置、自动协同和异常升级，形成供应链风险的主动管理机制。</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将审批、价格、质量、库存、交期、退货、暂估和资产等管理要求嵌入系统规则，在正常场景自动放行，在异常场景自动拦截、预警和升级。</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价格超协议或超权限时自动触发审批</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库存低于安全水位时自动生成补货或调拨建议</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供应商交期、质量和响应异常实时预警</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发票与订单、入库、验收无法匹配时进入异常队列</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15｜方案转折 20%</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建议通过规则前置、自动协同和异常升级，形成供应链风险的主动管理机制。</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17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17</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16｜平台架构</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平台架构应围绕“统一底座、业务协同、业财融合、经营分析”展开</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建议形成一体化供应链平台，并以开放接口承接现有系统与未来能力。</a:t>
            </a:r>
          </a:p>
        </p:txBody>
      </p:sp>
      <p:sp>
        <p:nvSpPr>
          <p:cNvPr id="27" name="TextBox 26"/>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A6C0D6"/>
                </a:solidFill>
                <a:latin typeface="Aptos"/>
              </a:rPr>
              <a:t>平台底层统一组织、权限、主数据、审批、消息和规则；业务层覆盖采购、库存、销售、内部交易及供应商协同；集成层连接ERP、SRM、WMS、CRM、EAM和财务；分析层提供经营驾驶舱和穿透查询。</a:t>
            </a:r>
          </a:p>
        </p:txBody>
      </p:sp>
      <p:sp>
        <p:nvSpPr>
          <p:cNvPr id="28" name="Oval 27"/>
          <p:cNvSpPr/>
          <p:nvPr/>
        </p:nvSpPr>
        <p:spPr>
          <a:xfrm>
            <a:off x="877823" y="3182112"/>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基础层：组织、用户、角色、权限、审批、主数据</a:t>
            </a:r>
          </a:p>
        </p:txBody>
      </p:sp>
      <p:sp>
        <p:nvSpPr>
          <p:cNvPr id="30" name="Oval 29"/>
          <p:cNvSpPr/>
          <p:nvPr/>
        </p:nvSpPr>
        <p:spPr>
          <a:xfrm>
            <a:off x="877823" y="3749039"/>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业务层：采购、库存、销售、内部交易、供应商协同</a:t>
            </a:r>
          </a:p>
        </p:txBody>
      </p:sp>
      <p:sp>
        <p:nvSpPr>
          <p:cNvPr id="32" name="Oval 31"/>
          <p:cNvSpPr/>
          <p:nvPr/>
        </p:nvSpPr>
        <p:spPr>
          <a:xfrm>
            <a:off x="877823" y="4315968"/>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集成层：API、消息、数据交换、接口监控和异常重试</a:t>
            </a:r>
          </a:p>
        </p:txBody>
      </p:sp>
      <p:sp>
        <p:nvSpPr>
          <p:cNvPr id="34" name="Oval 33"/>
          <p:cNvSpPr/>
          <p:nvPr/>
        </p:nvSpPr>
        <p:spPr>
          <a:xfrm>
            <a:off x="877823" y="4882896"/>
            <a:ext cx="128015" cy="128016"/>
          </a:xfrm>
          <a:prstGeom prst="ellipse">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EAF5FF"/>
                </a:solidFill>
                <a:latin typeface="Aptos"/>
              </a:rPr>
              <a:t>管理层：供应商绩效、库存健康、订单履约、财务协同和BI分析</a:t>
            </a:r>
          </a:p>
        </p:txBody>
      </p:sp>
      <p:sp>
        <p:nvSpPr>
          <p:cNvPr id="36" name="Rounded Rectangle 35"/>
          <p:cNvSpPr/>
          <p:nvPr/>
        </p:nvSpPr>
        <p:spPr>
          <a:xfrm>
            <a:off x="7909559" y="2103119"/>
            <a:ext cx="3246119" cy="324612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EAF5FF"/>
                </a:solidFill>
                <a:latin typeface="Aptos Mono"/>
              </a:rPr>
              <a:t>16｜平台架构 25%</a:t>
            </a:r>
          </a:p>
        </p:txBody>
      </p:sp>
      <p:sp>
        <p:nvSpPr>
          <p:cNvPr id="38" name="TextBox 3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A6C0D6"/>
                </a:solidFill>
                <a:latin typeface="Aptos"/>
              </a:rPr>
              <a:t>重点内容 可继续编辑</a:t>
            </a:r>
          </a:p>
        </p:txBody>
      </p:sp>
      <p:sp>
        <p:nvSpPr>
          <p:cNvPr id="39" name="Rectangle 38"/>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建议形成一体化供应链平台，并以开放接口承接现有系统与未来能力。</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18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18</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17｜建设路线</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建议分阶段建设，先打通高频主链路，再扩展复杂场景</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建设节奏应以业务价值和数据基础为牵引，逐步扩大覆盖范围。</a:t>
            </a:r>
          </a:p>
        </p:txBody>
      </p:sp>
      <p:sp>
        <p:nvSpPr>
          <p:cNvPr id="27" name="Rectangle 26"/>
          <p:cNvSpPr/>
          <p:nvPr/>
        </p:nvSpPr>
        <p:spPr>
          <a:xfrm>
            <a:off x="1005839" y="3172968"/>
            <a:ext cx="9829799" cy="54864"/>
          </a:xfrm>
          <a:prstGeom prst="rect">
            <a:avLst/>
          </a:prstGeom>
          <a:solidFill>
            <a:srgbClr val="A6C0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1247" y="2916936"/>
            <a:ext cx="548639" cy="548640"/>
          </a:xfrm>
          <a:prstGeom prst="ellipse">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30" name="TextBox 29"/>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阶段一｜基础与标准</a:t>
            </a:r>
          </a:p>
        </p:txBody>
      </p:sp>
      <p:sp>
        <p:nvSpPr>
          <p:cNvPr id="31" name="TextBox 30"/>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完成组织、权限、主数据、审批、供应商和接口标准设计</a:t>
            </a:r>
          </a:p>
        </p:txBody>
      </p:sp>
      <p:sp>
        <p:nvSpPr>
          <p:cNvPr id="32" name="Oval 31"/>
          <p:cNvSpPr/>
          <p:nvPr/>
        </p:nvSpPr>
        <p:spPr>
          <a:xfrm>
            <a:off x="334441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4441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02</a:t>
            </a:r>
          </a:p>
        </p:txBody>
      </p:sp>
      <p:sp>
        <p:nvSpPr>
          <p:cNvPr id="34" name="TextBox 33"/>
          <p:cNvSpPr txBox="1"/>
          <p:nvPr/>
        </p:nvSpPr>
        <p:spPr>
          <a:xfrm>
            <a:off x="302437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阶段二｜采购主链路</a:t>
            </a:r>
          </a:p>
        </p:txBody>
      </p:sp>
      <p:sp>
        <p:nvSpPr>
          <p:cNvPr id="35" name="TextBox 34"/>
          <p:cNvSpPr txBox="1"/>
          <p:nvPr/>
        </p:nvSpPr>
        <p:spPr>
          <a:xfrm>
            <a:off x="265861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上线请购、订单、供应商协同、到货、验收、入库、对账和付款闭环</a:t>
            </a:r>
          </a:p>
        </p:txBody>
      </p:sp>
      <p:sp>
        <p:nvSpPr>
          <p:cNvPr id="36" name="Oval 35"/>
          <p:cNvSpPr/>
          <p:nvPr/>
        </p:nvSpPr>
        <p:spPr>
          <a:xfrm>
            <a:off x="584758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03</a:t>
            </a:r>
          </a:p>
        </p:txBody>
      </p:sp>
      <p:sp>
        <p:nvSpPr>
          <p:cNvPr id="38" name="TextBox 37"/>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阶段三｜库存与特殊场景</a:t>
            </a:r>
          </a:p>
        </p:txBody>
      </p:sp>
      <p:sp>
        <p:nvSpPr>
          <p:cNvPr id="39" name="TextBox 38"/>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覆盖VMI、借用归还、调拨、退货、暂估、设备及固定资产业务</a:t>
            </a:r>
          </a:p>
        </p:txBody>
      </p:sp>
      <p:sp>
        <p:nvSpPr>
          <p:cNvPr id="40" name="Oval 39"/>
          <p:cNvSpPr/>
          <p:nvPr/>
        </p:nvSpPr>
        <p:spPr>
          <a:xfrm>
            <a:off x="835075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5075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04</a:t>
            </a:r>
          </a:p>
        </p:txBody>
      </p:sp>
      <p:sp>
        <p:nvSpPr>
          <p:cNvPr id="42" name="TextBox 41"/>
          <p:cNvSpPr txBox="1"/>
          <p:nvPr/>
        </p:nvSpPr>
        <p:spPr>
          <a:xfrm>
            <a:off x="803071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阶段四｜集团协同</a:t>
            </a:r>
          </a:p>
        </p:txBody>
      </p:sp>
      <p:sp>
        <p:nvSpPr>
          <p:cNvPr id="43" name="TextBox 42"/>
          <p:cNvSpPr txBox="1"/>
          <p:nvPr/>
        </p:nvSpPr>
        <p:spPr>
          <a:xfrm>
            <a:off x="766495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推进集采分收、统签分执、内部交易和跨组织库存共享</a:t>
            </a:r>
          </a:p>
        </p:txBody>
      </p:sp>
      <p:sp>
        <p:nvSpPr>
          <p:cNvPr id="44" name="Oval 43"/>
          <p:cNvSpPr/>
          <p:nvPr/>
        </p:nvSpPr>
        <p:spPr>
          <a:xfrm>
            <a:off x="10853927" y="2916936"/>
            <a:ext cx="548639" cy="548640"/>
          </a:xfrm>
          <a:prstGeom prst="ellipse">
            <a:avLst/>
          </a:prstGeom>
          <a:solidFill>
            <a:srgbClr val="102238"/>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EAF5FF"/>
                </a:solidFill>
                <a:latin typeface="Aptos Mono"/>
              </a:rPr>
              <a:t>05</a:t>
            </a:r>
          </a:p>
        </p:txBody>
      </p:sp>
      <p:sp>
        <p:nvSpPr>
          <p:cNvPr id="46" name="TextBox 45"/>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EAF5FF"/>
                </a:solidFill>
                <a:latin typeface="Aptos"/>
              </a:rPr>
              <a:t>阶段五｜运营优化</a:t>
            </a:r>
          </a:p>
        </p:txBody>
      </p:sp>
      <p:sp>
        <p:nvSpPr>
          <p:cNvPr id="47" name="TextBox 46"/>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A6C0D6"/>
                </a:solidFill>
                <a:latin typeface="Aptos"/>
              </a:rPr>
              <a:t>建设BI驾驶舱、预警规则、RPA和供应商绩效闭环</a:t>
            </a:r>
          </a:p>
        </p:txBody>
      </p:sp>
      <p:sp>
        <p:nvSpPr>
          <p:cNvPr id="48" name="Rectangle 47"/>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建设节奏应以业务价值和数据基础为牵引，逐步扩大覆盖范围。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19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19</a:t>
            </a:r>
          </a:p>
        </p:txBody>
      </p:sp>
      <p:sp>
        <p:nvSpPr>
          <p:cNvPr id="24" name="TextBox 23"/>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5CD6FF"/>
                </a:solidFill>
                <a:latin typeface="Aptos Mono"/>
              </a:rPr>
              <a:t>18｜决策事项</a:t>
            </a:r>
          </a:p>
        </p:txBody>
      </p:sp>
      <p:sp>
        <p:nvSpPr>
          <p:cNvPr id="25" name="TextBox 24"/>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EAF5FF"/>
                </a:solidFill>
                <a:latin typeface="Aptos"/>
              </a:rPr>
              <a:t>下一阶段需要管理层确认三类边界，方案才能进入可执行设计</a:t>
            </a:r>
          </a:p>
        </p:txBody>
      </p:sp>
      <p:sp>
        <p:nvSpPr>
          <p:cNvPr id="26" name="TextBox 25"/>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A6C0D6"/>
                </a:solidFill>
                <a:latin typeface="Aptos"/>
              </a:rPr>
              <a:t>建议管理层优先确认范围、规则和治理机制，避免后续反复调整系统设计。</a:t>
            </a:r>
          </a:p>
        </p:txBody>
      </p:sp>
      <p:sp>
        <p:nvSpPr>
          <p:cNvPr id="27" name="Rounded Rectangle 26"/>
          <p:cNvSpPr/>
          <p:nvPr/>
        </p:nvSpPr>
        <p:spPr>
          <a:xfrm>
            <a:off x="786383" y="2240280"/>
            <a:ext cx="4983479" cy="288036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需要确认</a:t>
            </a:r>
          </a:p>
        </p:txBody>
      </p:sp>
      <p:sp>
        <p:nvSpPr>
          <p:cNvPr id="29" name="Rectangle 28"/>
          <p:cNvSpPr/>
          <p:nvPr/>
        </p:nvSpPr>
        <p:spPr>
          <a:xfrm>
            <a:off x="1115567" y="3264408"/>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一期上线组织与业务范围</a:t>
            </a:r>
          </a:p>
        </p:txBody>
      </p:sp>
      <p:sp>
        <p:nvSpPr>
          <p:cNvPr id="31" name="Rectangle 30"/>
          <p:cNvSpPr/>
          <p:nvPr/>
        </p:nvSpPr>
        <p:spPr>
          <a:xfrm>
            <a:off x="1115567" y="3703320"/>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集团集中与分子公司自主的权责边界</a:t>
            </a:r>
          </a:p>
        </p:txBody>
      </p:sp>
      <p:sp>
        <p:nvSpPr>
          <p:cNvPr id="33" name="Rectangle 32"/>
          <p:cNvSpPr/>
          <p:nvPr/>
        </p:nvSpPr>
        <p:spPr>
          <a:xfrm>
            <a:off x="1115567" y="4142232"/>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89887"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关键采购、库存和结算规则</a:t>
            </a:r>
          </a:p>
        </p:txBody>
      </p:sp>
      <p:sp>
        <p:nvSpPr>
          <p:cNvPr id="35" name="Rectangle 34"/>
          <p:cNvSpPr/>
          <p:nvPr/>
        </p:nvSpPr>
        <p:spPr>
          <a:xfrm>
            <a:off x="1115567" y="4581144"/>
            <a:ext cx="109727" cy="109728"/>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89887"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现有系统保留、替换与集成关系</a:t>
            </a:r>
          </a:p>
        </p:txBody>
      </p:sp>
      <p:sp>
        <p:nvSpPr>
          <p:cNvPr id="37" name="Rounded Rectangle 36"/>
          <p:cNvSpPr/>
          <p:nvPr/>
        </p:nvSpPr>
        <p:spPr>
          <a:xfrm>
            <a:off x="6236207" y="2240280"/>
            <a:ext cx="4983479" cy="2880360"/>
          </a:xfrm>
          <a:prstGeom prst="roundRect">
            <a:avLst/>
          </a:prstGeom>
          <a:solidFill>
            <a:srgbClr val="F5B94C"/>
          </a:solid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EAF5FF"/>
                </a:solidFill>
                <a:latin typeface="Aptos"/>
              </a:rPr>
              <a:t>需要准备</a:t>
            </a:r>
          </a:p>
        </p:txBody>
      </p:sp>
      <p:sp>
        <p:nvSpPr>
          <p:cNvPr id="39" name="Rectangle 38"/>
          <p:cNvSpPr/>
          <p:nvPr/>
        </p:nvSpPr>
        <p:spPr>
          <a:xfrm>
            <a:off x="6565391" y="3264408"/>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关键用户与流程负责人名单</a:t>
            </a:r>
          </a:p>
        </p:txBody>
      </p:sp>
      <p:sp>
        <p:nvSpPr>
          <p:cNvPr id="41" name="Rectangle 40"/>
          <p:cNvSpPr/>
          <p:nvPr/>
        </p:nvSpPr>
        <p:spPr>
          <a:xfrm>
            <a:off x="6565391" y="3703320"/>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现行制度、合同和基础数据样本</a:t>
            </a:r>
          </a:p>
        </p:txBody>
      </p:sp>
      <p:sp>
        <p:nvSpPr>
          <p:cNvPr id="43" name="Rectangle 42"/>
          <p:cNvSpPr/>
          <p:nvPr/>
        </p:nvSpPr>
        <p:spPr>
          <a:xfrm>
            <a:off x="6565391" y="4142232"/>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系统接口文档与数据质量盘点</a:t>
            </a:r>
          </a:p>
        </p:txBody>
      </p:sp>
      <p:sp>
        <p:nvSpPr>
          <p:cNvPr id="45" name="Rectangle 44"/>
          <p:cNvSpPr/>
          <p:nvPr/>
        </p:nvSpPr>
        <p:spPr>
          <a:xfrm>
            <a:off x="6565391" y="4581144"/>
            <a:ext cx="109727" cy="109728"/>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39711" y="4443983"/>
            <a:ext cx="4023359" cy="347472"/>
          </a:xfrm>
          <a:prstGeom prst="rect">
            <a:avLst/>
          </a:prstGeom>
          <a:noFill/>
        </p:spPr>
        <p:txBody>
          <a:bodyPr wrap="square" lIns="36575" rIns="36575" tIns="18288" bIns="18288" anchor="ctr">
            <a:spAutoFit/>
          </a:bodyPr>
          <a:lstStyle/>
          <a:p>
            <a:pPr algn="l"/>
            <a:r>
              <a:rPr sz="1400" b="0">
                <a:solidFill>
                  <a:srgbClr val="EAF5FF"/>
                </a:solidFill>
                <a:latin typeface="Aptos"/>
              </a:rPr>
              <a:t>典型业务单据和异常案例</a:t>
            </a:r>
          </a:p>
        </p:txBody>
      </p:sp>
      <p:sp>
        <p:nvSpPr>
          <p:cNvPr id="47" name="Rectangle 46"/>
          <p:cNvSpPr/>
          <p:nvPr/>
        </p:nvSpPr>
        <p:spPr>
          <a:xfrm>
            <a:off x="749807" y="5596128"/>
            <a:ext cx="54863" cy="420624"/>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EAF5FF"/>
                </a:solidFill>
                <a:latin typeface="Aptos Mono"/>
              </a:rPr>
              <a:t>TAKEAWAY 建议管理层优先确认范围、规则和治理机制，避免后续反复调整系统设计。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238"/>
        </a:solidFill>
        <a:effectLst/>
      </p:bgPr>
    </p:bg>
    <p:spTree>
      <p:nvGrpSpPr>
        <p:cNvPr id="1" name=""/>
        <p:cNvGrpSpPr/>
        <p:nvPr/>
      </p:nvGrpSpPr>
      <p:grpSpPr/>
      <p:sp>
        <p:nvSpPr>
          <p:cNvPr id="2" name="Rectangle 1"/>
          <p:cNvSpPr/>
          <p:nvPr/>
        </p:nvSpPr>
        <p:spPr>
          <a:xfrm>
            <a:off x="914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1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1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5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9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3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799" y="502920"/>
            <a:ext cx="5486" cy="5715000"/>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19" y="914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19" y="18288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19" y="27432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19" y="36576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19" y="45720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19" y="5486400"/>
            <a:ext cx="11155679" cy="5486"/>
          </a:xfrm>
          <a:prstGeom prst="rect">
            <a:avLst/>
          </a:prstGeom>
          <a:solidFill>
            <a:srgbClr val="F5B9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012679" y="530351"/>
            <a:ext cx="1417319" cy="822960"/>
          </a:xfrm>
          <a:prstGeom prst="rect">
            <a:avLst/>
          </a:prstGeom>
          <a:noFill/>
          <a:ln w="10160">
            <a:solidFill>
              <a:srgbClr val="F5B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59" y="6336792"/>
            <a:ext cx="1691639" cy="182880"/>
          </a:xfrm>
          <a:prstGeom prst="rect">
            <a:avLst/>
          </a:prstGeom>
          <a:noFill/>
        </p:spPr>
        <p:txBody>
          <a:bodyPr wrap="square" lIns="36575" rIns="36575" tIns="18288" bIns="18288" anchor="ctr">
            <a:spAutoFit/>
          </a:bodyPr>
          <a:lstStyle/>
          <a:p>
            <a:pPr algn="r"/>
            <a:r>
              <a:rPr sz="800" b="0">
                <a:solidFill>
                  <a:srgbClr val="A6C0D6"/>
                </a:solidFill>
                <a:latin typeface="Aptos Mono"/>
              </a:rPr>
              <a:t>20 / AIWEB</a:t>
            </a:r>
          </a:p>
        </p:txBody>
      </p:sp>
      <p:sp>
        <p:nvSpPr>
          <p:cNvPr id="22" name="Rectangle 21"/>
          <p:cNvSpPr/>
          <p:nvPr/>
        </p:nvSpPr>
        <p:spPr>
          <a:xfrm>
            <a:off x="0" y="0"/>
            <a:ext cx="109727" cy="6858000"/>
          </a:xfrm>
          <a:prstGeom prst="rect">
            <a:avLst/>
          </a:prstGeom>
          <a:solidFill>
            <a:srgbClr val="5CD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A6C0D6"/>
                </a:solidFill>
                <a:latin typeface="Aptos Mono"/>
              </a:rPr>
              <a:t>AIWeb / 20</a:t>
            </a:r>
          </a:p>
        </p:txBody>
      </p:sp>
      <p:sp>
        <p:nvSpPr>
          <p:cNvPr id="24" name="TextBox 23"/>
          <p:cNvSpPr txBox="1"/>
          <p:nvPr/>
        </p:nvSpPr>
        <p:spPr>
          <a:xfrm>
            <a:off x="749807" y="914400"/>
            <a:ext cx="2743199" cy="310896"/>
          </a:xfrm>
          <a:prstGeom prst="rect">
            <a:avLst/>
          </a:prstGeom>
          <a:noFill/>
        </p:spPr>
        <p:txBody>
          <a:bodyPr wrap="square" lIns="36575" rIns="36575" tIns="18288" bIns="18288" anchor="ctr">
            <a:spAutoFit/>
          </a:bodyPr>
          <a:lstStyle/>
          <a:p>
            <a:pPr algn="l"/>
            <a:r>
              <a:rPr sz="1200" b="1">
                <a:solidFill>
                  <a:srgbClr val="F5B94C"/>
                </a:solidFill>
                <a:latin typeface="Aptos Mono"/>
              </a:rPr>
              <a:t>19｜需求确认原则</a:t>
            </a:r>
          </a:p>
        </p:txBody>
      </p:sp>
      <p:sp>
        <p:nvSpPr>
          <p:cNvPr id="25" name="TextBox 24"/>
          <p:cNvSpPr txBox="1"/>
          <p:nvPr/>
        </p:nvSpPr>
        <p:spPr>
          <a:xfrm>
            <a:off x="731519" y="1508760"/>
            <a:ext cx="9235439" cy="1143000"/>
          </a:xfrm>
          <a:prstGeom prst="rect">
            <a:avLst/>
          </a:prstGeom>
          <a:noFill/>
        </p:spPr>
        <p:txBody>
          <a:bodyPr wrap="square" lIns="36575" rIns="36575" tIns="18288" bIns="18288" anchor="ctr">
            <a:spAutoFit/>
          </a:bodyPr>
          <a:lstStyle/>
          <a:p>
            <a:pPr algn="l"/>
            <a:r>
              <a:rPr sz="3800" b="1">
                <a:solidFill>
                  <a:srgbClr val="EAF5FF"/>
                </a:solidFill>
                <a:latin typeface="Aptos"/>
              </a:rPr>
              <a:t>需求确认不是承诺所有需求，而是确认问题、边界与优先级</a:t>
            </a:r>
          </a:p>
        </p:txBody>
      </p:sp>
      <p:sp>
        <p:nvSpPr>
          <p:cNvPr id="26" name="TextBox 25"/>
          <p:cNvSpPr txBox="1"/>
          <p:nvPr/>
        </p:nvSpPr>
        <p:spPr>
          <a:xfrm>
            <a:off x="777239" y="3017520"/>
            <a:ext cx="8138159" cy="685800"/>
          </a:xfrm>
          <a:prstGeom prst="rect">
            <a:avLst/>
          </a:prstGeom>
          <a:noFill/>
        </p:spPr>
        <p:txBody>
          <a:bodyPr wrap="square" lIns="36575" rIns="36575" tIns="18288" bIns="18288" anchor="ctr">
            <a:spAutoFit/>
          </a:bodyPr>
          <a:lstStyle/>
          <a:p>
            <a:pPr algn="l"/>
            <a:r>
              <a:rPr sz="2100" b="0">
                <a:solidFill>
                  <a:srgbClr val="A6C0D6"/>
                </a:solidFill>
                <a:latin typeface="Aptos"/>
              </a:rPr>
              <a:t>清晰的需求边界，是可控实施和持续运营的前提</a:t>
            </a:r>
          </a:p>
        </p:txBody>
      </p:sp>
      <p:sp>
        <p:nvSpPr>
          <p:cNvPr id="27" name="Rounded Rectangle 26"/>
          <p:cNvSpPr/>
          <p:nvPr/>
        </p:nvSpPr>
        <p:spPr>
          <a:xfrm>
            <a:off x="768095" y="4572000"/>
            <a:ext cx="3017519" cy="594360"/>
          </a:xfrm>
          <a:prstGeom prst="roundRect">
            <a:avLst/>
          </a:prstGeom>
          <a:solidFill>
            <a:srgbClr val="5CD6FF"/>
          </a:solidFill>
          <a:ln w="10160">
            <a:solidFill>
              <a:srgbClr val="5CD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19" y="4718304"/>
            <a:ext cx="2651759" cy="256032"/>
          </a:xfrm>
          <a:prstGeom prst="rect">
            <a:avLst/>
          </a:prstGeom>
          <a:noFill/>
        </p:spPr>
        <p:txBody>
          <a:bodyPr wrap="square" lIns="36575" rIns="36575" tIns="18288" bIns="18288" anchor="ctr">
            <a:spAutoFit/>
          </a:bodyPr>
          <a:lstStyle/>
          <a:p>
            <a:pPr algn="ctr"/>
            <a:r>
              <a:rPr sz="1100" b="1">
                <a:solidFill>
                  <a:srgbClr val="FFFFFF"/>
                </a:solidFill>
                <a:latin typeface="Aptos Mono"/>
              </a:rPr>
              <a:t>DOWNLOAD / EDIT LOCALLY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