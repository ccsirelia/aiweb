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方案汇报</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822960"/>
            <a:ext cx="5669279" cy="274320"/>
          </a:xfrm>
          <a:prstGeom prst="rect">
            <a:avLst/>
          </a:prstGeom>
          <a:noFill/>
        </p:spPr>
        <p:txBody>
          <a:bodyPr wrap="square" lIns="36575" rIns="36575" tIns="18288" bIns="18288" anchor="ctr">
            <a:spAutoFit/>
          </a:bodyPr>
          <a:lstStyle/>
          <a:p>
            <a:pPr algn="l"/>
            <a:r>
              <a:rPr sz="1200" b="1">
                <a:solidFill>
                  <a:srgbClr val="D89A3D"/>
                </a:solidFill>
                <a:latin typeface="Aptos Mono"/>
              </a:rPr>
              <a:t>2026年度CAPSE民航质量提升实践大赛</a:t>
            </a:r>
          </a:p>
        </p:txBody>
      </p:sp>
      <p:sp>
        <p:nvSpPr>
          <p:cNvPr id="6" name="TextBox 5"/>
          <p:cNvSpPr txBox="1"/>
          <p:nvPr/>
        </p:nvSpPr>
        <p:spPr>
          <a:xfrm>
            <a:off x="731519" y="1353312"/>
            <a:ext cx="5897879" cy="1600200"/>
          </a:xfrm>
          <a:prstGeom prst="rect">
            <a:avLst/>
          </a:prstGeom>
          <a:noFill/>
        </p:spPr>
        <p:txBody>
          <a:bodyPr wrap="square" lIns="36575" rIns="36575" tIns="18288" bIns="18288" anchor="ctr">
            <a:spAutoFit/>
          </a:bodyPr>
          <a:lstStyle/>
          <a:p>
            <a:pPr algn="l"/>
            <a:r>
              <a:rPr sz="4000" b="1">
                <a:solidFill>
                  <a:srgbClr val="1E1E1E"/>
                </a:solidFill>
                <a:latin typeface="Aptos"/>
              </a:rPr>
              <a:t>缩短高峰时段道口单车进场保障平均时间</a:t>
            </a:r>
          </a:p>
        </p:txBody>
      </p:sp>
      <p:sp>
        <p:nvSpPr>
          <p:cNvPr id="7" name="TextBox 6"/>
          <p:cNvSpPr txBox="1"/>
          <p:nvPr/>
        </p:nvSpPr>
        <p:spPr>
          <a:xfrm>
            <a:off x="777239" y="3182112"/>
            <a:ext cx="5577839" cy="731520"/>
          </a:xfrm>
          <a:prstGeom prst="rect">
            <a:avLst/>
          </a:prstGeom>
          <a:noFill/>
        </p:spPr>
        <p:txBody>
          <a:bodyPr wrap="square" lIns="36575" rIns="36575" tIns="18288" bIns="18288" anchor="ctr">
            <a:spAutoFit/>
          </a:bodyPr>
          <a:lstStyle/>
          <a:p>
            <a:pPr algn="l"/>
            <a:r>
              <a:rPr sz="1900" b="0">
                <a:solidFill>
                  <a:srgbClr val="6B6259"/>
                </a:solidFill>
                <a:latin typeface="Aptos"/>
              </a:rPr>
              <a:t>福州机场流程类质量提升实践方案汇报</a:t>
            </a:r>
          </a:p>
        </p:txBody>
      </p:sp>
      <p:sp>
        <p:nvSpPr>
          <p:cNvPr id="8" name="Rectangle 7"/>
          <p:cNvSpPr/>
          <p:nvPr/>
        </p:nvSpPr>
        <p:spPr>
          <a:xfrm>
            <a:off x="777239" y="5175504"/>
            <a:ext cx="1280159" cy="4572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39" y="5321808"/>
            <a:ext cx="4206239" cy="256032"/>
          </a:xfrm>
          <a:prstGeom prst="rect">
            <a:avLst/>
          </a:prstGeom>
          <a:noFill/>
        </p:spPr>
        <p:txBody>
          <a:bodyPr wrap="square" lIns="36575" rIns="36575" tIns="18288" bIns="18288" anchor="ctr">
            <a:spAutoFit/>
          </a:bodyPr>
          <a:lstStyle/>
          <a:p>
            <a:pPr algn="l"/>
            <a:r>
              <a:rPr sz="1100" b="1">
                <a:solidFill>
                  <a:srgbClr val="B84A39"/>
                </a:solidFill>
                <a:latin typeface="Aptos Mono"/>
              </a:rPr>
              <a:t>EDITABLE / DOWNLOAD 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02</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核心结论</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项目已将单车平均检查时长降至3.82分钟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改进后指标低于3.87分钟目标值，项目目标达成。</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改进前单车平均检查时长为5.53分钟，改进后为3.82分钟。</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改进前：5.53分钟/车</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目标值：3.87分钟/车</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改进后：3.82分钟/车</a:t>
            </a:r>
          </a:p>
        </p:txBody>
      </p:sp>
      <p:sp>
        <p:nvSpPr>
          <p:cNvPr id="16" name="Rounded Rectangle 15"/>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核心结论 3.82分钟/车</a:t>
            </a:r>
          </a:p>
        </p:txBody>
      </p:sp>
      <p:sp>
        <p:nvSpPr>
          <p:cNvPr id="18" name="TextBox 1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19" name="Rectangle 18"/>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改进后指标低于3.87分钟目标值，项目目标达成。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03</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关键成果</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单车通行时间较改进前缩短1.71分钟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设备和流程两项改善共同压缩了车辆检查环节的浪费时间。</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1.71分钟</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单车平均检查时长缩短</a:t>
            </a:r>
          </a:p>
        </p:txBody>
      </p:sp>
      <p:sp>
        <p:nvSpPr>
          <p:cNvPr id="12" name="Rectangle 11"/>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设备和流程两项改善共同压缩了车辆检查环节的浪费时间。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04</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项目背景</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道口是连接陆侧与空侧的关键运行节点</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道口通行效率直接影响空防安全和机场运行效率。</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随着机场业务量持续增长及二期建设即将完成，道口高峰时段的车辆集中到达问题更加突出。</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承担各类保障车辆进入飞行控制区的安全检查职责</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服务对象包括大航食车、大摆渡车、消防特种车、微型车及其他中小型车</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高峰时段车辆集中到达，通行压力持续加大</a:t>
            </a:r>
          </a:p>
        </p:txBody>
      </p:sp>
      <p:sp>
        <p:nvSpPr>
          <p:cNvPr id="16" name="Rounded Rectangle 15"/>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项目背景 33%</a:t>
            </a:r>
          </a:p>
        </p:txBody>
      </p:sp>
      <p:sp>
        <p:nvSpPr>
          <p:cNvPr id="18" name="TextBox 1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19" name="Rectangle 18"/>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道口通行效率直接影响空防安全和机场运行效率。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05</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现状痛点</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串行排队与环节衔接不畅造成高峰积压</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现有模式难以承载瞬时车流，延误会在流程中逐级传导。</a:t>
            </a:r>
          </a:p>
        </p:txBody>
      </p:sp>
      <p:sp>
        <p:nvSpPr>
          <p:cNvPr id="9" name="Rounded Rectangle 8"/>
          <p:cNvSpPr/>
          <p:nvPr/>
        </p:nvSpPr>
        <p:spPr>
          <a:xfrm>
            <a:off x="786383" y="2240280"/>
            <a:ext cx="4983479" cy="2880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现场表现</a:t>
            </a:r>
          </a:p>
        </p:txBody>
      </p:sp>
      <p:sp>
        <p:nvSpPr>
          <p:cNvPr id="11" name="Rectangle 10"/>
          <p:cNvSpPr/>
          <p:nvPr/>
        </p:nvSpPr>
        <p:spPr>
          <a:xfrm>
            <a:off x="1115567" y="3264408"/>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车辆集中到达，排队积压严重</a:t>
            </a:r>
          </a:p>
        </p:txBody>
      </p:sp>
      <p:sp>
        <p:nvSpPr>
          <p:cNvPr id="13" name="Rectangle 12"/>
          <p:cNvSpPr/>
          <p:nvPr/>
        </p:nvSpPr>
        <p:spPr>
          <a:xfrm>
            <a:off x="1115567" y="3703320"/>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车辆到达、证件核验、车辆检查、信息登记、放行衔接不畅</a:t>
            </a:r>
          </a:p>
        </p:txBody>
      </p:sp>
      <p:sp>
        <p:nvSpPr>
          <p:cNvPr id="15" name="Rounded Rectangle 14"/>
          <p:cNvSpPr/>
          <p:nvPr/>
        </p:nvSpPr>
        <p:spPr>
          <a:xfrm>
            <a:off x="6236207" y="2240280"/>
            <a:ext cx="4983479" cy="2880360"/>
          </a:xfrm>
          <a:prstGeom prst="roundRect">
            <a:avLst/>
          </a:prstGeom>
          <a:solidFill>
            <a:srgbClr val="D89A3D"/>
          </a:solidFill>
          <a:ln w="10160">
            <a:solidFill>
              <a:srgbClr val="D89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管理短板</a:t>
            </a:r>
          </a:p>
        </p:txBody>
      </p:sp>
      <p:sp>
        <p:nvSpPr>
          <p:cNvPr id="17" name="Rectangle 16"/>
          <p:cNvSpPr/>
          <p:nvPr/>
        </p:nvSpPr>
        <p:spPr>
          <a:xfrm>
            <a:off x="6565391" y="3264408"/>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异常车辆占用通道资源，后方积压加剧</a:t>
            </a:r>
          </a:p>
        </p:txBody>
      </p:sp>
      <p:sp>
        <p:nvSpPr>
          <p:cNvPr id="19" name="Rectangle 18"/>
          <p:cNvSpPr/>
          <p:nvPr/>
        </p:nvSpPr>
        <p:spPr>
          <a:xfrm>
            <a:off x="6565391" y="3703320"/>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岗位职责边界和交接标准不清晰</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现有模式难以承载瞬时车流，延误会在流程中逐级传导。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06</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现状基线</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改进前单车平均检查时长为5.53分钟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基线数据表明，道口单车检查时长存在明显改善空间。</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5.53分钟/车</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改进前单车平均检查时长</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有效样本：1500组</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计时口径：从闸口开启至闸口关闭</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改进前核心指标：5.53分钟/车</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基线数据表明，道口单车检查时长存在明显改善空间。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07</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现状调查</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流程拆分确认了车辆检查是主要耗时环节</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流程数据为后续关键路径和主要症结判断提供了依据。</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采集运行数据</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选取2025年1月至3月高峰时段数据，共采集有效样本1500组。</a:t>
            </a:r>
          </a:p>
        </p:txBody>
      </p:sp>
      <p:sp>
        <p:nvSpPr>
          <p:cNvPr id="14" name="Oval 13"/>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拆分检查流程</a:t>
            </a:r>
          </a:p>
        </p:txBody>
      </p:sp>
      <p:sp>
        <p:nvSpPr>
          <p:cNvPr id="17" name="TextBox 16"/>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查看车辆过检各环节平均过检时间，识别串行与并行作业关系。</a:t>
            </a:r>
          </a:p>
        </p:txBody>
      </p:sp>
      <p:sp>
        <p:nvSpPr>
          <p:cNvPr id="18" name="Oval 17"/>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测算浪费时间</a:t>
            </a:r>
          </a:p>
        </p:txBody>
      </p:sp>
      <p:sp>
        <p:nvSpPr>
          <p:cNvPr id="21" name="TextBox 20"/>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以实际耗时减去标准必要耗时，形成可改善浪费时间分析。</a:t>
            </a:r>
          </a:p>
        </p:txBody>
      </p:sp>
      <p:sp>
        <p:nvSpPr>
          <p:cNvPr id="22" name="Rectangle 21"/>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流程数据为后续关键路径和主要症结判断提供了依据。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08</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关键路径</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单车总通行时长主要取决于并行作业中的较长环节</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正常运行条件下，车辆检查平均完成时间更长，是主要关键路径。</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车辆拦停与车辆放行为串行作业；关联检查和车辆检查为并行作业。关联检查仅在设备故障、工具核销时间过长或人员集中进场等异常情形下可能转化为关键路径。</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关联检查异常时平均浪费约0.1分钟</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正常运行条件下关联检查未形成额外制约</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车辆检查环节是主要改善对象</a:t>
            </a:r>
          </a:p>
        </p:txBody>
      </p:sp>
      <p:sp>
        <p:nvSpPr>
          <p:cNvPr id="16" name="Rounded Rectangle 15"/>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关键路径 33%</a:t>
            </a:r>
          </a:p>
        </p:txBody>
      </p:sp>
      <p:sp>
        <p:nvSpPr>
          <p:cNvPr id="18" name="TextBox 1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19" name="Rectangle 18"/>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正常运行条件下，车辆检查平均完成时间更长，是主要关键路径。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09</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浪费拆解</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车辆检查流程平均标准时间为3.46分钟，浪费时间为2.07分钟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单车平均检查时长与标准必要时间之间存在2.07分钟差距。</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2.07分钟/车</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总可改善浪费时长</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流程平均标准检查时间：3.46分钟</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总可改善浪费时长：2.07分钟/车</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改进前单车平均检查时长：5.53分钟/车</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单车平均检查时长与标准必要时间之间存在2.07分钟差距。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10</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帕累托分析</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车辆检查环节占可改善浪费时间的88.89%</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改善资源应优先投入车辆检查环节。</a:t>
            </a:r>
          </a:p>
        </p:txBody>
      </p:sp>
      <p:sp>
        <p:nvSpPr>
          <p:cNvPr id="9" name="Rectangle 8"/>
          <p:cNvSpPr/>
          <p:nvPr/>
        </p:nvSpPr>
        <p:spPr>
          <a:xfrm>
            <a:off x="914399" y="5513831"/>
            <a:ext cx="10012679" cy="10972"/>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399" y="551383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 y="440131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99" y="328879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399" y="217627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813047" y="2176272"/>
            <a:ext cx="658367" cy="3337559"/>
          </a:xfrm>
          <a:prstGeom prst="round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79" y="1856231"/>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88.89%</a:t>
            </a:r>
          </a:p>
        </p:txBody>
      </p:sp>
      <p:sp>
        <p:nvSpPr>
          <p:cNvPr id="16" name="TextBox 15"/>
          <p:cNvSpPr txBox="1"/>
          <p:nvPr/>
        </p:nvSpPr>
        <p:spPr>
          <a:xfrm>
            <a:off x="3428999"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车辆检查环节</a:t>
            </a:r>
          </a:p>
        </p:txBody>
      </p:sp>
      <p:sp>
        <p:nvSpPr>
          <p:cNvPr id="17" name="Rounded Rectangle 16"/>
          <p:cNvSpPr/>
          <p:nvPr/>
        </p:nvSpPr>
        <p:spPr>
          <a:xfrm>
            <a:off x="7370063" y="5096683"/>
            <a:ext cx="658367" cy="417148"/>
          </a:xfrm>
          <a:prstGeom prst="round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68895" y="4776643"/>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11.11%</a:t>
            </a:r>
          </a:p>
        </p:txBody>
      </p:sp>
      <p:sp>
        <p:nvSpPr>
          <p:cNvPr id="19" name="TextBox 18"/>
          <p:cNvSpPr txBox="1"/>
          <p:nvPr/>
        </p:nvSpPr>
        <p:spPr>
          <a:xfrm>
            <a:off x="6986015"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其他环节</a:t>
            </a:r>
          </a:p>
        </p:txBody>
      </p:sp>
      <p:sp>
        <p:nvSpPr>
          <p:cNvPr id="20" name="Rectangle 1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改善资源应优先投入车辆检查环节。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11</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目标设定</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项目将单车平均通行时间目标设定为3.87分钟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目标值对应缩减1.66分钟浪费时间，并保留0.41分钟目标浪费时间。</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目标值计算：目标值=x-x*y*0.9；x为改进前核心指标5.53分钟，y为主要症结占比88.89%。</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目标浪费时间：0.41分钟</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计划缩减浪费时间：1.66分钟</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目标值：3.46分钟标准流程时间+0.41分钟目标浪费时间</a:t>
            </a:r>
          </a:p>
        </p:txBody>
      </p:sp>
      <p:sp>
        <p:nvSpPr>
          <p:cNvPr id="16" name="Rounded Rectangle 15"/>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目标设定 3.87分钟/车</a:t>
            </a:r>
          </a:p>
        </p:txBody>
      </p:sp>
      <p:sp>
        <p:nvSpPr>
          <p:cNvPr id="18" name="TextBox 1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19" name="Rectangle 18"/>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目标值对应缩减1.66分钟浪费时间，并保留0.41分钟目标浪费时间。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12</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原因分析</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5M1E分析将问题收敛为五个可验证末端原因</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原因分析从人员、设备、信息、流程和环境等维度展开。</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项目组刨除不可控因素“人员检查意识待提高”，形成五个末端原因并开展要因确认。</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车辆检查设施设备工具落后</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信息提示与引导不足</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缺少车辆引流</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作业标准未量化固化</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原因分析 20%</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原因分析从人员、设备、信息、流程和环境等维度展开。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13</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要因确认</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设备工具落后与作业标准未固化是两项要因</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后续对策聚焦设备整合和检查流程标准化。</a:t>
            </a:r>
          </a:p>
        </p:txBody>
      </p:sp>
      <p:sp>
        <p:nvSpPr>
          <p:cNvPr id="9" name="Rounded Rectangle 8"/>
          <p:cNvSpPr/>
          <p:nvPr/>
        </p:nvSpPr>
        <p:spPr>
          <a:xfrm>
            <a:off x="786383" y="2240280"/>
            <a:ext cx="4983479" cy="2880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确认要因</a:t>
            </a:r>
          </a:p>
        </p:txBody>
      </p:sp>
      <p:sp>
        <p:nvSpPr>
          <p:cNvPr id="11" name="Rectangle 10"/>
          <p:cNvSpPr/>
          <p:nvPr/>
        </p:nvSpPr>
        <p:spPr>
          <a:xfrm>
            <a:off x="1115567" y="3264408"/>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车辆检查设施设备工具落后：41.30%</a:t>
            </a:r>
          </a:p>
        </p:txBody>
      </p:sp>
      <p:sp>
        <p:nvSpPr>
          <p:cNvPr id="13" name="Rectangle 12"/>
          <p:cNvSpPr/>
          <p:nvPr/>
        </p:nvSpPr>
        <p:spPr>
          <a:xfrm>
            <a:off x="1115567" y="3703320"/>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作业标准未量化固化：29.35%</a:t>
            </a:r>
          </a:p>
        </p:txBody>
      </p:sp>
      <p:sp>
        <p:nvSpPr>
          <p:cNvPr id="15" name="Rounded Rectangle 14"/>
          <p:cNvSpPr/>
          <p:nvPr/>
        </p:nvSpPr>
        <p:spPr>
          <a:xfrm>
            <a:off x="6236207" y="2240280"/>
            <a:ext cx="4983479" cy="2880360"/>
          </a:xfrm>
          <a:prstGeom prst="roundRect">
            <a:avLst/>
          </a:prstGeom>
          <a:solidFill>
            <a:srgbClr val="D89A3D"/>
          </a:solidFill>
          <a:ln w="10160">
            <a:solidFill>
              <a:srgbClr val="D89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非要因</a:t>
            </a:r>
          </a:p>
        </p:txBody>
      </p:sp>
      <p:sp>
        <p:nvSpPr>
          <p:cNvPr id="17" name="Rectangle 16"/>
          <p:cNvSpPr/>
          <p:nvPr/>
        </p:nvSpPr>
        <p:spPr>
          <a:xfrm>
            <a:off x="6565391" y="3264408"/>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信息提示与引导不足：8.15%</a:t>
            </a:r>
          </a:p>
        </p:txBody>
      </p:sp>
      <p:sp>
        <p:nvSpPr>
          <p:cNvPr id="19" name="Rectangle 18"/>
          <p:cNvSpPr/>
          <p:nvPr/>
        </p:nvSpPr>
        <p:spPr>
          <a:xfrm>
            <a:off x="6565391" y="3703320"/>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缺少车辆引流：2.17%</a:t>
            </a:r>
          </a:p>
        </p:txBody>
      </p:sp>
      <p:sp>
        <p:nvSpPr>
          <p:cNvPr id="21" name="Rectangle 20"/>
          <p:cNvSpPr/>
          <p:nvPr/>
        </p:nvSpPr>
        <p:spPr>
          <a:xfrm>
            <a:off x="6565391" y="4142232"/>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1" y="4005072"/>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作业场所防护等级不足：3.80%</a:t>
            </a:r>
          </a:p>
        </p:txBody>
      </p:sp>
      <p:sp>
        <p:nvSpPr>
          <p:cNvPr id="23" name="Rectangle 22"/>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后续对策聚焦设备整合和检查流程标准化。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14</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要因数据</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设备工具改善的影响程度高于流程标准化改善</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设备工具和作业标准是最具改善价值的两个方向。</a:t>
            </a:r>
          </a:p>
        </p:txBody>
      </p:sp>
      <p:sp>
        <p:nvSpPr>
          <p:cNvPr id="9" name="Rectangle 8"/>
          <p:cNvSpPr/>
          <p:nvPr/>
        </p:nvSpPr>
        <p:spPr>
          <a:xfrm>
            <a:off x="914399" y="5513831"/>
            <a:ext cx="10012679" cy="10972"/>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399" y="551383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 y="440131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99" y="328879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399" y="217627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034539" y="2176272"/>
            <a:ext cx="658367" cy="3337559"/>
          </a:xfrm>
          <a:prstGeom prst="round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33371" y="1856231"/>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41.3%</a:t>
            </a:r>
          </a:p>
        </p:txBody>
      </p:sp>
      <p:sp>
        <p:nvSpPr>
          <p:cNvPr id="16" name="TextBox 15"/>
          <p:cNvSpPr txBox="1"/>
          <p:nvPr/>
        </p:nvSpPr>
        <p:spPr>
          <a:xfrm>
            <a:off x="1650491"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设备工具落后</a:t>
            </a:r>
          </a:p>
        </p:txBody>
      </p:sp>
      <p:sp>
        <p:nvSpPr>
          <p:cNvPr id="17" name="Rounded Rectangle 16"/>
          <p:cNvSpPr/>
          <p:nvPr/>
        </p:nvSpPr>
        <p:spPr>
          <a:xfrm>
            <a:off x="3813047" y="3141982"/>
            <a:ext cx="658367" cy="2371849"/>
          </a:xfrm>
          <a:prstGeom prst="round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79" y="2821942"/>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29.35%</a:t>
            </a:r>
          </a:p>
        </p:txBody>
      </p:sp>
      <p:sp>
        <p:nvSpPr>
          <p:cNvPr id="19" name="TextBox 18"/>
          <p:cNvSpPr txBox="1"/>
          <p:nvPr/>
        </p:nvSpPr>
        <p:spPr>
          <a:xfrm>
            <a:off x="3428999"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作业标准未固化</a:t>
            </a:r>
          </a:p>
        </p:txBody>
      </p:sp>
      <p:sp>
        <p:nvSpPr>
          <p:cNvPr id="20" name="Rounded Rectangle 19"/>
          <p:cNvSpPr/>
          <p:nvPr/>
        </p:nvSpPr>
        <p:spPr>
          <a:xfrm>
            <a:off x="5591555" y="4855209"/>
            <a:ext cx="658367" cy="658622"/>
          </a:xfrm>
          <a:prstGeom prst="round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0387" y="4535169"/>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8.15%</a:t>
            </a:r>
          </a:p>
        </p:txBody>
      </p:sp>
      <p:sp>
        <p:nvSpPr>
          <p:cNvPr id="22" name="TextBox 21"/>
          <p:cNvSpPr txBox="1"/>
          <p:nvPr/>
        </p:nvSpPr>
        <p:spPr>
          <a:xfrm>
            <a:off x="5207507"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信息引导不足</a:t>
            </a:r>
          </a:p>
        </p:txBody>
      </p:sp>
      <p:sp>
        <p:nvSpPr>
          <p:cNvPr id="23" name="Rounded Rectangle 22"/>
          <p:cNvSpPr/>
          <p:nvPr/>
        </p:nvSpPr>
        <p:spPr>
          <a:xfrm>
            <a:off x="7370063" y="5338468"/>
            <a:ext cx="658367" cy="175363"/>
          </a:xfrm>
          <a:prstGeom prst="round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68895" y="5018428"/>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2.17%</a:t>
            </a:r>
          </a:p>
        </p:txBody>
      </p:sp>
      <p:sp>
        <p:nvSpPr>
          <p:cNvPr id="25" name="TextBox 24"/>
          <p:cNvSpPr txBox="1"/>
          <p:nvPr/>
        </p:nvSpPr>
        <p:spPr>
          <a:xfrm>
            <a:off x="6986015"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车辆引流</a:t>
            </a:r>
          </a:p>
        </p:txBody>
      </p:sp>
      <p:sp>
        <p:nvSpPr>
          <p:cNvPr id="26" name="Rounded Rectangle 25"/>
          <p:cNvSpPr/>
          <p:nvPr/>
        </p:nvSpPr>
        <p:spPr>
          <a:xfrm>
            <a:off x="9148571" y="5206744"/>
            <a:ext cx="658367" cy="307087"/>
          </a:xfrm>
          <a:prstGeom prst="round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47403" y="4886704"/>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3.8%</a:t>
            </a:r>
          </a:p>
        </p:txBody>
      </p:sp>
      <p:sp>
        <p:nvSpPr>
          <p:cNvPr id="28" name="TextBox 27"/>
          <p:cNvSpPr txBox="1"/>
          <p:nvPr/>
        </p:nvSpPr>
        <p:spPr>
          <a:xfrm>
            <a:off x="8764523"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场所防护</a:t>
            </a:r>
          </a:p>
        </p:txBody>
      </p:sp>
      <p:sp>
        <p:nvSpPr>
          <p:cNvPr id="29" name="Rectangle 28"/>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设备工具和作业标准是最具改善价值的两个方向。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15</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对策方向一</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统一监控设备将车顶与车底检查集中到一个信息界面</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通过设备接入统一信息系统，减少重复观察和现场操作切换。</a:t>
            </a:r>
          </a:p>
        </p:txBody>
      </p:sp>
      <p:sp>
        <p:nvSpPr>
          <p:cNvPr id="9" name="Rounded Rectangle 8"/>
          <p:cNvSpPr/>
          <p:nvPr/>
        </p:nvSpPr>
        <p:spPr>
          <a:xfrm>
            <a:off x="786383" y="2240280"/>
            <a:ext cx="4983479" cy="2880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现状</a:t>
            </a:r>
          </a:p>
        </p:txBody>
      </p:sp>
      <p:sp>
        <p:nvSpPr>
          <p:cNvPr id="11" name="Rectangle 10"/>
          <p:cNvSpPr/>
          <p:nvPr/>
        </p:nvSpPr>
        <p:spPr>
          <a:xfrm>
            <a:off x="1115567" y="3264408"/>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配置车顶检查镜</a:t>
            </a:r>
          </a:p>
        </p:txBody>
      </p:sp>
      <p:sp>
        <p:nvSpPr>
          <p:cNvPr id="13" name="Rectangle 12"/>
          <p:cNvSpPr/>
          <p:nvPr/>
        </p:nvSpPr>
        <p:spPr>
          <a:xfrm>
            <a:off x="1115567" y="3703320"/>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整合车底扫描仪与车顶球机监控设备</a:t>
            </a:r>
          </a:p>
        </p:txBody>
      </p:sp>
      <p:sp>
        <p:nvSpPr>
          <p:cNvPr id="15" name="Rectangle 14"/>
          <p:cNvSpPr/>
          <p:nvPr/>
        </p:nvSpPr>
        <p:spPr>
          <a:xfrm>
            <a:off x="1115567" y="4142232"/>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89887" y="4005072"/>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接入统一信息系统</a:t>
            </a:r>
          </a:p>
        </p:txBody>
      </p:sp>
      <p:sp>
        <p:nvSpPr>
          <p:cNvPr id="17" name="Rectangle 16"/>
          <p:cNvSpPr/>
          <p:nvPr/>
        </p:nvSpPr>
        <p:spPr>
          <a:xfrm>
            <a:off x="1115567" y="4581144"/>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89887" y="4443983"/>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组织人员操作技能培训</a:t>
            </a:r>
          </a:p>
        </p:txBody>
      </p:sp>
      <p:sp>
        <p:nvSpPr>
          <p:cNvPr id="19" name="Rounded Rectangle 18"/>
          <p:cNvSpPr/>
          <p:nvPr/>
        </p:nvSpPr>
        <p:spPr>
          <a:xfrm>
            <a:off x="6236207" y="2240280"/>
            <a:ext cx="4983479" cy="2880360"/>
          </a:xfrm>
          <a:prstGeom prst="roundRect">
            <a:avLst/>
          </a:prstGeom>
          <a:solidFill>
            <a:srgbClr val="D89A3D"/>
          </a:solidFill>
          <a:ln w="10160">
            <a:solidFill>
              <a:srgbClr val="D89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目标</a:t>
            </a:r>
          </a:p>
        </p:txBody>
      </p:sp>
      <p:sp>
        <p:nvSpPr>
          <p:cNvPr id="21" name="Rectangle 20"/>
          <p:cNvSpPr/>
          <p:nvPr/>
        </p:nvSpPr>
        <p:spPr>
          <a:xfrm>
            <a:off x="6565391" y="3264408"/>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形成统一判断</a:t>
            </a:r>
          </a:p>
        </p:txBody>
      </p:sp>
      <p:sp>
        <p:nvSpPr>
          <p:cNvPr id="23" name="Rectangle 22"/>
          <p:cNvSpPr/>
          <p:nvPr/>
        </p:nvSpPr>
        <p:spPr>
          <a:xfrm>
            <a:off x="6565391" y="3703320"/>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明确下一步动作</a:t>
            </a:r>
          </a:p>
        </p:txBody>
      </p:sp>
      <p:sp>
        <p:nvSpPr>
          <p:cNvPr id="25" name="Rectangle 24"/>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通过设备接入统一信息系统，减少重复观察和现场操作切换。</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16</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对策一成效</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设备监控整合使单车车辆检查时间缩短0.76分钟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设备升级已完成实施目标，并验证了单车检查时长改善效果。</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0.76分钟</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单车车辆检查时间缩短</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改善前车内外检查环节平均时间：4.48分钟/车次</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改善后车内外检查环节平均时间：3.72分钟/车次</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设备工具原因影响程度：41.30%</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设备升级已完成实施目标，并验证了单车检查时长改善效果。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17</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对策方向二</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标准化检查法通过固定动作顺序减少无效走动</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流程固化让不同人员按照同一套检查路径执行。</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车外检查优化</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车顶、车底检查结束后，车检员由副驾驶室直接检查，优化原来主驾驶检查方法。</a:t>
            </a:r>
          </a:p>
        </p:txBody>
      </p:sp>
      <p:sp>
        <p:nvSpPr>
          <p:cNvPr id="14" name="Oval 13"/>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车内检查固化</a:t>
            </a:r>
          </a:p>
        </p:txBody>
      </p:sp>
      <p:sp>
        <p:nvSpPr>
          <p:cNvPr id="17" name="TextBox 16"/>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以车内后视镜为起点，向扶手箱区域检查，再由上至下核查副驾驶区域，最后检查车门。</a:t>
            </a:r>
          </a:p>
        </p:txBody>
      </p:sp>
      <p:sp>
        <p:nvSpPr>
          <p:cNvPr id="18" name="Oval 17"/>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现场标准落地</a:t>
            </a:r>
          </a:p>
        </p:txBody>
      </p:sp>
      <p:sp>
        <p:nvSpPr>
          <p:cNvPr id="21" name="TextBox 20"/>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将操作图示上墙公示，并开展全员培训考核。</a:t>
            </a:r>
          </a:p>
        </p:txBody>
      </p:sp>
      <p:sp>
        <p:nvSpPr>
          <p:cNvPr id="22" name="Rectangle 21"/>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流程固化让不同人员按照同一套检查路径执行。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18</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对策二成效</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流程优化使车辆检查时间缩短0.95分钟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流程标准化已完成验证，成为第二项直接改善来源。</a:t>
            </a:r>
          </a:p>
        </p:txBody>
      </p:sp>
      <p:sp>
        <p:nvSpPr>
          <p:cNvPr id="9" name="Rounded Rectangle 8"/>
          <p:cNvSpPr/>
          <p:nvPr/>
        </p:nvSpPr>
        <p:spPr>
          <a:xfrm>
            <a:off x="786383" y="2240280"/>
            <a:ext cx="4983479" cy="2880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改善前</a:t>
            </a:r>
          </a:p>
        </p:txBody>
      </p:sp>
      <p:sp>
        <p:nvSpPr>
          <p:cNvPr id="11" name="Rectangle 10"/>
          <p:cNvSpPr/>
          <p:nvPr/>
        </p:nvSpPr>
        <p:spPr>
          <a:xfrm>
            <a:off x="1115567" y="3264408"/>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车内检查平均耗时2.95分钟</a:t>
            </a:r>
          </a:p>
        </p:txBody>
      </p:sp>
      <p:sp>
        <p:nvSpPr>
          <p:cNvPr id="13" name="Rectangle 12"/>
          <p:cNvSpPr/>
          <p:nvPr/>
        </p:nvSpPr>
        <p:spPr>
          <a:xfrm>
            <a:off x="1115567" y="3703320"/>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动作重复、顺序混乱导致无效耗时约0.8分钟</a:t>
            </a:r>
          </a:p>
        </p:txBody>
      </p:sp>
      <p:sp>
        <p:nvSpPr>
          <p:cNvPr id="15" name="Rectangle 14"/>
          <p:cNvSpPr/>
          <p:nvPr/>
        </p:nvSpPr>
        <p:spPr>
          <a:xfrm>
            <a:off x="1115567" y="4142232"/>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89887" y="4005072"/>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检查人员按个人习惯执行</a:t>
            </a:r>
          </a:p>
        </p:txBody>
      </p:sp>
      <p:sp>
        <p:nvSpPr>
          <p:cNvPr id="17" name="Rounded Rectangle 16"/>
          <p:cNvSpPr/>
          <p:nvPr/>
        </p:nvSpPr>
        <p:spPr>
          <a:xfrm>
            <a:off x="6236207" y="2240280"/>
            <a:ext cx="4983479" cy="2880360"/>
          </a:xfrm>
          <a:prstGeom prst="roundRect">
            <a:avLst/>
          </a:prstGeom>
          <a:solidFill>
            <a:srgbClr val="D89A3D"/>
          </a:solidFill>
          <a:ln w="10160">
            <a:solidFill>
              <a:srgbClr val="D89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改善后</a:t>
            </a:r>
          </a:p>
        </p:txBody>
      </p:sp>
      <p:sp>
        <p:nvSpPr>
          <p:cNvPr id="19" name="Rectangle 18"/>
          <p:cNvSpPr/>
          <p:nvPr/>
        </p:nvSpPr>
        <p:spPr>
          <a:xfrm>
            <a:off x="6565391" y="3264408"/>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车内检查平均耗时2.41分钟</a:t>
            </a:r>
          </a:p>
        </p:txBody>
      </p:sp>
      <p:sp>
        <p:nvSpPr>
          <p:cNvPr id="21" name="Rectangle 20"/>
          <p:cNvSpPr/>
          <p:nvPr/>
        </p:nvSpPr>
        <p:spPr>
          <a:xfrm>
            <a:off x="6565391" y="3703320"/>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无效耗时降至0.26分钟</a:t>
            </a:r>
          </a:p>
        </p:txBody>
      </p:sp>
      <p:sp>
        <p:nvSpPr>
          <p:cNvPr id="23" name="Rectangle 22"/>
          <p:cNvSpPr/>
          <p:nvPr/>
        </p:nvSpPr>
        <p:spPr>
          <a:xfrm>
            <a:off x="6565391" y="4142232"/>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9711" y="4005072"/>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推行标准化检查法并开展培训考核</a:t>
            </a:r>
          </a:p>
        </p:txBody>
      </p:sp>
      <p:sp>
        <p:nvSpPr>
          <p:cNvPr id="25" name="Rectangle 24"/>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流程标准化已完成验证，成为第二项直接改善来源。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19</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实施结果</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两项核心对策均已完成实施目标</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项目没有增加人力投入，而是通过设备和作业方式优化提升效率。</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设备侧完成五个道口统一监控设备整合；流程侧完成检查方法优化、操作图示公示和全员培训考核。</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设备整合对策完成</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车辆检查流程优化对策完成</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两项措施均通过现场验证</a:t>
            </a:r>
          </a:p>
        </p:txBody>
      </p:sp>
      <p:sp>
        <p:nvSpPr>
          <p:cNvPr id="16" name="Rounded Rectangle 15"/>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实施结果 33%</a:t>
            </a:r>
          </a:p>
        </p:txBody>
      </p:sp>
      <p:sp>
        <p:nvSpPr>
          <p:cNvPr id="18" name="TextBox 1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19" name="Rectangle 18"/>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项目没有增加人力投入，而是通过设备和作业方式优化提升效率。</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20</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目标验证</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改进后指标3.82分钟优于3.87分钟目标</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项目实际结果较目标值进一步降低0.05分钟/车。</a:t>
            </a:r>
          </a:p>
        </p:txBody>
      </p:sp>
      <p:sp>
        <p:nvSpPr>
          <p:cNvPr id="9" name="Rectangle 8"/>
          <p:cNvSpPr/>
          <p:nvPr/>
        </p:nvSpPr>
        <p:spPr>
          <a:xfrm>
            <a:off x="914399" y="5513831"/>
            <a:ext cx="10012679" cy="10972"/>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399" y="551383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 y="440131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99" y="328879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399" y="217627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23793" y="2176271"/>
            <a:ext cx="658367" cy="3337560"/>
          </a:xfrm>
          <a:prstGeom prst="round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22625" y="1856231"/>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5.53分钟/车</a:t>
            </a:r>
          </a:p>
        </p:txBody>
      </p:sp>
      <p:sp>
        <p:nvSpPr>
          <p:cNvPr id="16" name="TextBox 15"/>
          <p:cNvSpPr txBox="1"/>
          <p:nvPr/>
        </p:nvSpPr>
        <p:spPr>
          <a:xfrm>
            <a:off x="2539745"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改进前</a:t>
            </a:r>
          </a:p>
        </p:txBody>
      </p:sp>
      <p:sp>
        <p:nvSpPr>
          <p:cNvPr id="17" name="Rounded Rectangle 16"/>
          <p:cNvSpPr/>
          <p:nvPr/>
        </p:nvSpPr>
        <p:spPr>
          <a:xfrm>
            <a:off x="5591555" y="3178143"/>
            <a:ext cx="658367" cy="2335688"/>
          </a:xfrm>
          <a:prstGeom prst="round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0387" y="2858103"/>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3.87分钟/车</a:t>
            </a:r>
          </a:p>
        </p:txBody>
      </p:sp>
      <p:sp>
        <p:nvSpPr>
          <p:cNvPr id="19" name="TextBox 18"/>
          <p:cNvSpPr txBox="1"/>
          <p:nvPr/>
        </p:nvSpPr>
        <p:spPr>
          <a:xfrm>
            <a:off x="5207507"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目标值</a:t>
            </a:r>
          </a:p>
        </p:txBody>
      </p:sp>
      <p:sp>
        <p:nvSpPr>
          <p:cNvPr id="20" name="Rounded Rectangle 19"/>
          <p:cNvSpPr/>
          <p:nvPr/>
        </p:nvSpPr>
        <p:spPr>
          <a:xfrm>
            <a:off x="8259317" y="3208320"/>
            <a:ext cx="658367" cy="2305511"/>
          </a:xfrm>
          <a:prstGeom prst="round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58149" y="2888280"/>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3.82分钟/车</a:t>
            </a:r>
          </a:p>
        </p:txBody>
      </p:sp>
      <p:sp>
        <p:nvSpPr>
          <p:cNvPr id="22" name="TextBox 21"/>
          <p:cNvSpPr txBox="1"/>
          <p:nvPr/>
        </p:nvSpPr>
        <p:spPr>
          <a:xfrm>
            <a:off x="7875269"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改进后</a:t>
            </a:r>
          </a:p>
        </p:txBody>
      </p:sp>
      <p:sp>
        <p:nvSpPr>
          <p:cNvPr id="23" name="Rectangle 22"/>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项目实际结果较目标值进一步降低0.05分钟/车。</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21</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运行效益</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高峰期平均排队等待时间由15分钟降至11分钟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通行时间改善已传导到车辆排队等待体验。</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26.7%</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平均排队等待时间降幅</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改进前平均排队等待时间：15分钟</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改进后平均排队等待时间：11分钟</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等待时间降幅：26.7%</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通行时间改善已传导到车辆排队等待体验。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22</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通行能力</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单通道理论服务能力由10.85辆/小时提升至15.71辆/小时</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单位时间内可服务车辆数显著增加，高峰积压得到缓解。</a:t>
            </a:r>
          </a:p>
        </p:txBody>
      </p:sp>
      <p:sp>
        <p:nvSpPr>
          <p:cNvPr id="9" name="Rectangle 8"/>
          <p:cNvSpPr/>
          <p:nvPr/>
        </p:nvSpPr>
        <p:spPr>
          <a:xfrm>
            <a:off x="914399" y="5513831"/>
            <a:ext cx="10012679" cy="10972"/>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399" y="551383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 y="440131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99" y="328879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399" y="2176271"/>
            <a:ext cx="1001267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813047" y="3208769"/>
            <a:ext cx="658367" cy="2305062"/>
          </a:xfrm>
          <a:prstGeom prst="round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79" y="2888729"/>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10.85辆/小时</a:t>
            </a:r>
          </a:p>
        </p:txBody>
      </p:sp>
      <p:sp>
        <p:nvSpPr>
          <p:cNvPr id="16" name="TextBox 15"/>
          <p:cNvSpPr txBox="1"/>
          <p:nvPr/>
        </p:nvSpPr>
        <p:spPr>
          <a:xfrm>
            <a:off x="3428999"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改进前</a:t>
            </a:r>
          </a:p>
        </p:txBody>
      </p:sp>
      <p:sp>
        <p:nvSpPr>
          <p:cNvPr id="17" name="Rounded Rectangle 16"/>
          <p:cNvSpPr/>
          <p:nvPr/>
        </p:nvSpPr>
        <p:spPr>
          <a:xfrm>
            <a:off x="7370063" y="2176271"/>
            <a:ext cx="658367" cy="3337560"/>
          </a:xfrm>
          <a:prstGeom prst="round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68895" y="1856231"/>
            <a:ext cx="1060703" cy="228600"/>
          </a:xfrm>
          <a:prstGeom prst="rect">
            <a:avLst/>
          </a:prstGeom>
          <a:noFill/>
        </p:spPr>
        <p:txBody>
          <a:bodyPr wrap="square" lIns="36575" rIns="36575" tIns="18288" bIns="18288" anchor="ctr">
            <a:spAutoFit/>
          </a:bodyPr>
          <a:lstStyle/>
          <a:p>
            <a:pPr algn="ctr"/>
            <a:r>
              <a:rPr sz="1000" b="1">
                <a:solidFill>
                  <a:srgbClr val="1E1E1E"/>
                </a:solidFill>
                <a:latin typeface="Aptos Mono"/>
              </a:rPr>
              <a:t>15.71辆/小时</a:t>
            </a:r>
          </a:p>
        </p:txBody>
      </p:sp>
      <p:sp>
        <p:nvSpPr>
          <p:cNvPr id="19" name="TextBox 18"/>
          <p:cNvSpPr txBox="1"/>
          <p:nvPr/>
        </p:nvSpPr>
        <p:spPr>
          <a:xfrm>
            <a:off x="6986015" y="5623560"/>
            <a:ext cx="1426463" cy="310896"/>
          </a:xfrm>
          <a:prstGeom prst="rect">
            <a:avLst/>
          </a:prstGeom>
          <a:noFill/>
        </p:spPr>
        <p:txBody>
          <a:bodyPr wrap="square" lIns="36575" rIns="36575" tIns="18288" bIns="18288" anchor="ctr">
            <a:spAutoFit/>
          </a:bodyPr>
          <a:lstStyle/>
          <a:p>
            <a:pPr algn="ctr"/>
            <a:r>
              <a:rPr sz="1000" b="0">
                <a:solidFill>
                  <a:srgbClr val="6B6259"/>
                </a:solidFill>
                <a:latin typeface="Aptos"/>
              </a:rPr>
              <a:t>改进后</a:t>
            </a:r>
          </a:p>
        </p:txBody>
      </p:sp>
      <p:sp>
        <p:nvSpPr>
          <p:cNvPr id="20" name="Rectangle 1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单位时间内可服务车辆数显著增加，高峰积压得到缓解。</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23</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安全与体验</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效率改善同时提升了检查规范性与通行体验</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项目价值不仅体现在时间指标，也体现在安全检查一致性和岗位体验改善。</a:t>
            </a:r>
          </a:p>
        </p:txBody>
      </p:sp>
      <p:sp>
        <p:nvSpPr>
          <p:cNvPr id="9" name="Oval 8"/>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司乘人员通行体验显著改善</a:t>
            </a:r>
          </a:p>
        </p:txBody>
      </p:sp>
      <p:sp>
        <p:nvSpPr>
          <p:cNvPr id="11" name="Oval 10"/>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道口排队长度明显缩短，驻场单位及驾驶员满意度提升</a:t>
            </a:r>
          </a:p>
        </p:txBody>
      </p:sp>
      <p:sp>
        <p:nvSpPr>
          <p:cNvPr id="13" name="Oval 12"/>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岗位职责与交接标准更加清晰</a:t>
            </a:r>
          </a:p>
        </p:txBody>
      </p:sp>
      <p:sp>
        <p:nvSpPr>
          <p:cNvPr id="15" name="Oval 14"/>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员工操作疲劳度降低，工作环境得到改善</a:t>
            </a:r>
          </a:p>
        </p:txBody>
      </p:sp>
      <p:sp>
        <p:nvSpPr>
          <p:cNvPr id="17" name="Rounded Rectangle 16"/>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安全与体验 20%</a:t>
            </a:r>
          </a:p>
        </p:txBody>
      </p:sp>
      <p:sp>
        <p:nvSpPr>
          <p:cNvPr id="19" name="TextBox 18"/>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0" name="Rectangle 1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项目价值不仅体现在时间指标，也体现在安全检查一致性和岗位体验改善。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24</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投入产出</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在未增加人力投入的前提下实现通行能力提升</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项目将资源投入集中在高影响要因，形成可持续的效率收益。</a:t>
            </a:r>
          </a:p>
        </p:txBody>
      </p:sp>
      <p:sp>
        <p:nvSpPr>
          <p:cNvPr id="9" name="Rounded Rectangle 8"/>
          <p:cNvSpPr/>
          <p:nvPr/>
        </p:nvSpPr>
        <p:spPr>
          <a:xfrm>
            <a:off x="786383" y="2240280"/>
            <a:ext cx="4983479" cy="2880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主要投入</a:t>
            </a:r>
          </a:p>
        </p:txBody>
      </p:sp>
      <p:sp>
        <p:nvSpPr>
          <p:cNvPr id="11" name="Rectangle 10"/>
          <p:cNvSpPr/>
          <p:nvPr/>
        </p:nvSpPr>
        <p:spPr>
          <a:xfrm>
            <a:off x="1115567" y="3264408"/>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整合车底扫描仪与车顶球机监控设备</a:t>
            </a:r>
          </a:p>
        </p:txBody>
      </p:sp>
      <p:sp>
        <p:nvSpPr>
          <p:cNvPr id="13" name="Rectangle 12"/>
          <p:cNvSpPr/>
          <p:nvPr/>
        </p:nvSpPr>
        <p:spPr>
          <a:xfrm>
            <a:off x="1115567" y="3703320"/>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接入统一信息系统</a:t>
            </a:r>
          </a:p>
        </p:txBody>
      </p:sp>
      <p:sp>
        <p:nvSpPr>
          <p:cNvPr id="15" name="Rectangle 14"/>
          <p:cNvSpPr/>
          <p:nvPr/>
        </p:nvSpPr>
        <p:spPr>
          <a:xfrm>
            <a:off x="1115567" y="4142232"/>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89887" y="4005072"/>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优化车辆检查流程</a:t>
            </a:r>
          </a:p>
        </p:txBody>
      </p:sp>
      <p:sp>
        <p:nvSpPr>
          <p:cNvPr id="17" name="Rectangle 16"/>
          <p:cNvSpPr/>
          <p:nvPr/>
        </p:nvSpPr>
        <p:spPr>
          <a:xfrm>
            <a:off x="1115567" y="4581144"/>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89887" y="4443983"/>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开展操作技能培训和全员培训考核</a:t>
            </a:r>
          </a:p>
        </p:txBody>
      </p:sp>
      <p:sp>
        <p:nvSpPr>
          <p:cNvPr id="19" name="Rounded Rectangle 18"/>
          <p:cNvSpPr/>
          <p:nvPr/>
        </p:nvSpPr>
        <p:spPr>
          <a:xfrm>
            <a:off x="6236207" y="2240280"/>
            <a:ext cx="4983479" cy="2880360"/>
          </a:xfrm>
          <a:prstGeom prst="roundRect">
            <a:avLst/>
          </a:prstGeom>
          <a:solidFill>
            <a:srgbClr val="D89A3D"/>
          </a:solidFill>
          <a:ln w="10160">
            <a:solidFill>
              <a:srgbClr val="D89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主要产出</a:t>
            </a:r>
          </a:p>
        </p:txBody>
      </p:sp>
      <p:sp>
        <p:nvSpPr>
          <p:cNvPr id="21" name="Rectangle 20"/>
          <p:cNvSpPr/>
          <p:nvPr/>
        </p:nvSpPr>
        <p:spPr>
          <a:xfrm>
            <a:off x="6565391" y="3264408"/>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单车检查时间缩短</a:t>
            </a:r>
          </a:p>
        </p:txBody>
      </p:sp>
      <p:sp>
        <p:nvSpPr>
          <p:cNvPr id="23" name="Rectangle 22"/>
          <p:cNvSpPr/>
          <p:nvPr/>
        </p:nvSpPr>
        <p:spPr>
          <a:xfrm>
            <a:off x="6565391" y="3703320"/>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高峰排队等待时间下降</a:t>
            </a:r>
          </a:p>
        </p:txBody>
      </p:sp>
      <p:sp>
        <p:nvSpPr>
          <p:cNvPr id="25" name="Rectangle 24"/>
          <p:cNvSpPr/>
          <p:nvPr/>
        </p:nvSpPr>
        <p:spPr>
          <a:xfrm>
            <a:off x="6565391" y="4142232"/>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1" y="4005072"/>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单通道理论服务能力提升</a:t>
            </a:r>
          </a:p>
        </p:txBody>
      </p:sp>
      <p:sp>
        <p:nvSpPr>
          <p:cNvPr id="27" name="Rectangle 26"/>
          <p:cNvSpPr/>
          <p:nvPr/>
        </p:nvSpPr>
        <p:spPr>
          <a:xfrm>
            <a:off x="6565391" y="4581144"/>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39711" y="4443983"/>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人力资源配置效率得到优化</a:t>
            </a:r>
          </a:p>
        </p:txBody>
      </p:sp>
      <p:sp>
        <p:nvSpPr>
          <p:cNvPr id="29" name="Rectangle 28"/>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项目将资源投入集中在高影响要因，形成可持续的效率收益。</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25</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标准化成果</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改善措施已纳入《道口车辆检查手册》</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项目从一次性改善转向日常作业标准，保障成果持续有效。</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手册涵盖车辆分类分流方案、岗位职责与交接标准、设备操作规程、高峰弹性保障预案等内容。</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车辆分类分流方案</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岗位职责与交接标准</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设备操作规程</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高峰弹性保障预案</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标准化成果 25%</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项目从一次性改善转向日常作业标准，保障成果持续有效。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26</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长效机制</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三项机制保障改进成果持续运行</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通过制度化管理，确保新流程长期保持一致执行。</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指标监测机制</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持续跟踪单车检查时长、平均等待时长、单位时间通行量等关键指标。</a:t>
            </a:r>
          </a:p>
        </p:txBody>
      </p:sp>
      <p:sp>
        <p:nvSpPr>
          <p:cNvPr id="14" name="Oval 13"/>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定期复盘机制</a:t>
            </a:r>
          </a:p>
        </p:txBody>
      </p:sp>
      <p:sp>
        <p:nvSpPr>
          <p:cNvPr id="17" name="TextBox 16"/>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按月召开道口运行分析会，运用数据复盘持续优化作业标准。</a:t>
            </a:r>
          </a:p>
        </p:txBody>
      </p:sp>
      <p:sp>
        <p:nvSpPr>
          <p:cNvPr id="18" name="Oval 17"/>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培训固化机制</a:t>
            </a:r>
          </a:p>
        </p:txBody>
      </p:sp>
      <p:sp>
        <p:nvSpPr>
          <p:cNvPr id="21" name="TextBox 20"/>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将新流程、新标准纳入岗前培训和复训体系，确保执行一致性。</a:t>
            </a:r>
          </a:p>
        </p:txBody>
      </p:sp>
      <p:sp>
        <p:nvSpPr>
          <p:cNvPr id="22" name="Rectangle 21"/>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通过制度化管理，确保新流程长期保持一致执行。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27</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项目闭环</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持续跟踪不少于3个月，确认成果稳定性</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项目以持续数据跟踪验证改善成果的稳定性和可持续性。</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效果验证</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采集2026年3月至6月效果数据，与现状调查时间段进行前后对比。</a:t>
            </a:r>
          </a:p>
        </p:txBody>
      </p:sp>
      <p:sp>
        <p:nvSpPr>
          <p:cNvPr id="14" name="Oval 13"/>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标准固化</a:t>
            </a:r>
          </a:p>
        </p:txBody>
      </p:sp>
      <p:sp>
        <p:nvSpPr>
          <p:cNvPr id="17" name="TextBox 16"/>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将验证有效的措施纳入日常作业标准和《道口车辆检查手册》。</a:t>
            </a:r>
          </a:p>
        </p:txBody>
      </p:sp>
      <p:sp>
        <p:nvSpPr>
          <p:cNvPr id="18" name="Oval 17"/>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持续跟踪</a:t>
            </a:r>
          </a:p>
        </p:txBody>
      </p:sp>
      <p:sp>
        <p:nvSpPr>
          <p:cNvPr id="21" name="TextBox 20"/>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对改进效果进行不少于3个月的持续跟踪，形成改进闭环。</a:t>
            </a:r>
          </a:p>
        </p:txBody>
      </p:sp>
      <p:sp>
        <p:nvSpPr>
          <p:cNvPr id="22" name="Rectangle 21"/>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项目以持续数据跟踪验证改善成果的稳定性和可持续性。</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28</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复制推广</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道口精益管理模式具备同类场景复制基础</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项目经验可为机场其他道口及同类保障场景提供参考。</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项目形成的管理模式涵盖车辆分类分流、岗位职责与交接、设备操作规程和高峰弹性保障预案。</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可复制车辆分类分流方案</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可复制岗位职责与交接标准</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可复制设备操作规程</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可复制高峰弹性保障预案</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复制推广 25%</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项目经验可为机场其他道口及同类保障场景提供参考。</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29</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决策判断</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优先保持两项核心对策的稳定执行</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后续管理重点应从项目实施转向运行监测和标准保持。</a:t>
            </a:r>
          </a:p>
        </p:txBody>
      </p:sp>
      <p:sp>
        <p:nvSpPr>
          <p:cNvPr id="9" name="TextBox 8"/>
          <p:cNvSpPr txBox="1"/>
          <p:nvPr/>
        </p:nvSpPr>
        <p:spPr>
          <a:xfrm>
            <a:off x="777239" y="2011680"/>
            <a:ext cx="640079" cy="1188720"/>
          </a:xfrm>
          <a:prstGeom prst="rect">
            <a:avLst/>
          </a:prstGeom>
          <a:noFill/>
        </p:spPr>
        <p:txBody>
          <a:bodyPr wrap="square" lIns="36575" rIns="36575" tIns="18288" bIns="18288" anchor="ctr">
            <a:spAutoFit/>
          </a:bodyPr>
          <a:lstStyle/>
          <a:p>
            <a:pPr algn="l"/>
            <a:r>
              <a:rPr sz="7000" b="1">
                <a:solidFill>
                  <a:srgbClr val="B84A39"/>
                </a:solidFill>
                <a:latin typeface="Georgia"/>
              </a:rPr>
              <a:t>“</a:t>
            </a:r>
          </a:p>
        </p:txBody>
      </p:sp>
      <p:sp>
        <p:nvSpPr>
          <p:cNvPr id="10" name="TextBox 9"/>
          <p:cNvSpPr txBox="1"/>
          <p:nvPr/>
        </p:nvSpPr>
        <p:spPr>
          <a:xfrm>
            <a:off x="1417319" y="2331720"/>
            <a:ext cx="8961119" cy="1325880"/>
          </a:xfrm>
          <a:prstGeom prst="rect">
            <a:avLst/>
          </a:prstGeom>
          <a:noFill/>
        </p:spPr>
        <p:txBody>
          <a:bodyPr wrap="square" lIns="36575" rIns="36575" tIns="18288" bIns="18288" anchor="ctr">
            <a:spAutoFit/>
          </a:bodyPr>
          <a:lstStyle/>
          <a:p>
            <a:pPr algn="l"/>
            <a:r>
              <a:rPr sz="2800" b="1">
                <a:solidFill>
                  <a:srgbClr val="1E1E1E"/>
                </a:solidFill>
                <a:latin typeface="Georgia"/>
              </a:rPr>
              <a:t>车辆检查设施设备工具落后和作业标准未量化固化被定量确认为要因，相关措施已完成验证并取得改善效果。</a:t>
            </a:r>
          </a:p>
        </p:txBody>
      </p:sp>
      <p:sp>
        <p:nvSpPr>
          <p:cNvPr id="11" name="TextBox 10"/>
          <p:cNvSpPr txBox="1"/>
          <p:nvPr/>
        </p:nvSpPr>
        <p:spPr>
          <a:xfrm>
            <a:off x="1463039" y="4114800"/>
            <a:ext cx="6857999" cy="347472"/>
          </a:xfrm>
          <a:prstGeom prst="rect">
            <a:avLst/>
          </a:prstGeom>
          <a:noFill/>
        </p:spPr>
        <p:txBody>
          <a:bodyPr wrap="square" lIns="36575" rIns="36575" tIns="18288" bIns="18288" anchor="ctr">
            <a:spAutoFit/>
          </a:bodyPr>
          <a:lstStyle/>
          <a:p>
            <a:pPr algn="l"/>
            <a:r>
              <a:rPr sz="1300" b="0">
                <a:solidFill>
                  <a:srgbClr val="6B6259"/>
                </a:solidFill>
                <a:latin typeface="Aptos Mono"/>
              </a:rPr>
              <a:t>设备统一显示与标准化检查是当前效率成果的关键支撑</a:t>
            </a:r>
          </a:p>
        </p:txBody>
      </p:sp>
      <p:sp>
        <p:nvSpPr>
          <p:cNvPr id="12" name="Rectangle 11"/>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后续管理重点应从项目实施转向运行监测和标准保持。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30</a:t>
            </a:r>
          </a:p>
        </p:txBody>
      </p:sp>
      <p:sp>
        <p:nvSpPr>
          <p:cNvPr id="6" name="TextBox 5"/>
          <p:cNvSpPr txBox="1"/>
          <p:nvPr/>
        </p:nvSpPr>
        <p:spPr>
          <a:xfrm>
            <a:off x="749807" y="914400"/>
            <a:ext cx="2743199" cy="310896"/>
          </a:xfrm>
          <a:prstGeom prst="rect">
            <a:avLst/>
          </a:prstGeom>
          <a:noFill/>
        </p:spPr>
        <p:txBody>
          <a:bodyPr wrap="square" lIns="36575" rIns="36575" tIns="18288" bIns="18288" anchor="ctr">
            <a:spAutoFit/>
          </a:bodyPr>
          <a:lstStyle/>
          <a:p>
            <a:pPr algn="l"/>
            <a:r>
              <a:rPr sz="1200" b="1">
                <a:solidFill>
                  <a:srgbClr val="D89A3D"/>
                </a:solidFill>
                <a:latin typeface="Aptos Mono"/>
              </a:rPr>
              <a:t>申报信息</a:t>
            </a:r>
          </a:p>
        </p:txBody>
      </p:sp>
      <p:sp>
        <p:nvSpPr>
          <p:cNvPr id="7" name="TextBox 6"/>
          <p:cNvSpPr txBox="1"/>
          <p:nvPr/>
        </p:nvSpPr>
        <p:spPr>
          <a:xfrm>
            <a:off x="731519" y="1508760"/>
            <a:ext cx="9235439" cy="1143000"/>
          </a:xfrm>
          <a:prstGeom prst="rect">
            <a:avLst/>
          </a:prstGeom>
          <a:noFill/>
        </p:spPr>
        <p:txBody>
          <a:bodyPr wrap="square" lIns="36575" rIns="36575" tIns="18288" bIns="18288" anchor="ctr">
            <a:spAutoFit/>
          </a:bodyPr>
          <a:lstStyle/>
          <a:p>
            <a:pPr algn="l"/>
            <a:r>
              <a:rPr sz="3800" b="1">
                <a:solidFill>
                  <a:srgbClr val="1E1E1E"/>
                </a:solidFill>
                <a:latin typeface="Aptos"/>
              </a:rPr>
              <a:t>项目符合2025—2026年度真实案例申报要求</a:t>
            </a:r>
          </a:p>
        </p:txBody>
      </p:sp>
      <p:sp>
        <p:nvSpPr>
          <p:cNvPr id="8" name="TextBox 7"/>
          <p:cNvSpPr txBox="1"/>
          <p:nvPr/>
        </p:nvSpPr>
        <p:spPr>
          <a:xfrm>
            <a:off x="777239" y="3017520"/>
            <a:ext cx="8138159" cy="685800"/>
          </a:xfrm>
          <a:prstGeom prst="rect">
            <a:avLst/>
          </a:prstGeom>
          <a:noFill/>
        </p:spPr>
        <p:txBody>
          <a:bodyPr wrap="square" lIns="36575" rIns="36575" tIns="18288" bIns="18288" anchor="ctr">
            <a:spAutoFit/>
          </a:bodyPr>
          <a:lstStyle/>
          <a:p>
            <a:pPr algn="l"/>
            <a:r>
              <a:rPr sz="2100" b="0">
                <a:solidFill>
                  <a:srgbClr val="6B6259"/>
                </a:solidFill>
                <a:latin typeface="Aptos"/>
              </a:rPr>
              <a:t>案例实施完成时间已达到至少2个月的要求</a:t>
            </a:r>
          </a:p>
        </p:txBody>
      </p:sp>
      <p:sp>
        <p:nvSpPr>
          <p:cNvPr id="9" name="Rounded Rectangle 8"/>
          <p:cNvSpPr/>
          <p:nvPr/>
        </p:nvSpPr>
        <p:spPr>
          <a:xfrm>
            <a:off x="768095" y="4572000"/>
            <a:ext cx="3017519" cy="594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19" y="4718304"/>
            <a:ext cx="2651759" cy="256032"/>
          </a:xfrm>
          <a:prstGeom prst="rect">
            <a:avLst/>
          </a:prstGeom>
          <a:noFill/>
        </p:spPr>
        <p:txBody>
          <a:bodyPr wrap="square" lIns="36575" rIns="36575" tIns="18288" bIns="18288" anchor="ctr">
            <a:spAutoFit/>
          </a:bodyPr>
          <a:lstStyle/>
          <a:p>
            <a:pPr algn="ctr"/>
            <a:r>
              <a:rPr sz="1100" b="1">
                <a:solidFill>
                  <a:srgbClr val="FFFFFF"/>
                </a:solidFill>
                <a:latin typeface="Aptos Mono"/>
              </a:rPr>
              <a:t>DOWNLOAD / EDIT LOCALLY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